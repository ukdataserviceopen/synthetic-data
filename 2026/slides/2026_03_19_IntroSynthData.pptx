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60"/>
  </p:notesMasterIdLst>
  <p:handoutMasterIdLst>
    <p:handoutMasterId r:id="rId61"/>
  </p:handoutMasterIdLst>
  <p:sldIdLst>
    <p:sldId id="362" r:id="rId5"/>
    <p:sldId id="430" r:id="rId6"/>
    <p:sldId id="418" r:id="rId7"/>
    <p:sldId id="429" r:id="rId8"/>
    <p:sldId id="431" r:id="rId9"/>
    <p:sldId id="432" r:id="rId10"/>
    <p:sldId id="374" r:id="rId11"/>
    <p:sldId id="435" r:id="rId12"/>
    <p:sldId id="434" r:id="rId13"/>
    <p:sldId id="451" r:id="rId14"/>
    <p:sldId id="449" r:id="rId15"/>
    <p:sldId id="450" r:id="rId16"/>
    <p:sldId id="438" r:id="rId17"/>
    <p:sldId id="257" r:id="rId18"/>
    <p:sldId id="256" r:id="rId19"/>
    <p:sldId id="442" r:id="rId20"/>
    <p:sldId id="445" r:id="rId21"/>
    <p:sldId id="446" r:id="rId22"/>
    <p:sldId id="447" r:id="rId23"/>
    <p:sldId id="448" r:id="rId24"/>
    <p:sldId id="437" r:id="rId25"/>
    <p:sldId id="452" r:id="rId26"/>
    <p:sldId id="464" r:id="rId27"/>
    <p:sldId id="453" r:id="rId28"/>
    <p:sldId id="454" r:id="rId29"/>
    <p:sldId id="478" r:id="rId30"/>
    <p:sldId id="456" r:id="rId31"/>
    <p:sldId id="488" r:id="rId32"/>
    <p:sldId id="455" r:id="rId33"/>
    <p:sldId id="439" r:id="rId34"/>
    <p:sldId id="479" r:id="rId35"/>
    <p:sldId id="472" r:id="rId36"/>
    <p:sldId id="480" r:id="rId37"/>
    <p:sldId id="473" r:id="rId38"/>
    <p:sldId id="485" r:id="rId39"/>
    <p:sldId id="481" r:id="rId40"/>
    <p:sldId id="474" r:id="rId41"/>
    <p:sldId id="482" r:id="rId42"/>
    <p:sldId id="475" r:id="rId43"/>
    <p:sldId id="486" r:id="rId44"/>
    <p:sldId id="483" r:id="rId45"/>
    <p:sldId id="476" r:id="rId46"/>
    <p:sldId id="484" r:id="rId47"/>
    <p:sldId id="477" r:id="rId48"/>
    <p:sldId id="487" r:id="rId49"/>
    <p:sldId id="440" r:id="rId50"/>
    <p:sldId id="466" r:id="rId51"/>
    <p:sldId id="469" r:id="rId52"/>
    <p:sldId id="468" r:id="rId53"/>
    <p:sldId id="467" r:id="rId54"/>
    <p:sldId id="470" r:id="rId55"/>
    <p:sldId id="489" r:id="rId56"/>
    <p:sldId id="471" r:id="rId57"/>
    <p:sldId id="373" r:id="rId58"/>
    <p:sldId id="441" r:id="rId59"/>
  </p:sldIdLst>
  <p:sldSz cx="12192000" cy="6858000"/>
  <p:notesSz cx="6858000" cy="9144000"/>
  <p:embeddedFontLst>
    <p:embeddedFont>
      <p:font typeface="Helvetica" panose="020B0604020202020204" pitchFamily="34" charset="0"/>
      <p:regular r:id="rId62"/>
      <p:bold r:id="rId63"/>
      <p:italic r:id="rId64"/>
      <p:boldItalic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BE20"/>
    <a:srgbClr val="B5BD00"/>
    <a:srgbClr val="CE0058"/>
    <a:srgbClr val="385E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CA3711-37E0-4245-B04B-0F63DB5102B8}" v="16" dt="2026-02-25T14:25:20.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77058" autoAdjust="0"/>
  </p:normalViewPr>
  <p:slideViewPr>
    <p:cSldViewPr>
      <p:cViewPr varScale="1">
        <p:scale>
          <a:sx n="92" d="100"/>
          <a:sy n="92" d="100"/>
        </p:scale>
        <p:origin x="1086" y="306"/>
      </p:cViewPr>
      <p:guideLst>
        <p:guide orient="horz" pos="2160"/>
        <p:guide pos="3840"/>
      </p:guideLst>
    </p:cSldViewPr>
  </p:slideViewPr>
  <p:outlineViewPr>
    <p:cViewPr>
      <p:scale>
        <a:sx n="33" d="100"/>
        <a:sy n="33" d="100"/>
      </p:scale>
      <p:origin x="0" y="-3306"/>
    </p:cViewPr>
  </p:outlineViewPr>
  <p:notesTextViewPr>
    <p:cViewPr>
      <p:scale>
        <a:sx n="1" d="1"/>
        <a:sy n="1" d="1"/>
      </p:scale>
      <p:origin x="0" y="0"/>
    </p:cViewPr>
  </p:notesTextViewPr>
  <p:notesViewPr>
    <p:cSldViewPr>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2.fntdata"/><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3.fntdata"/><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1.fntdata"/><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F52136-306C-4703-BF06-D8529150C506}" type="datetimeFigureOut">
              <a:rPr lang="en-GB" smtClean="0"/>
              <a:t>10/03/2026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EEAF5F-AC25-4B97-9244-7425B9ED1240}" type="slidenum">
              <a:rPr lang="en-GB" smtClean="0"/>
              <a:t>‹#›</a:t>
            </a:fld>
            <a:endParaRPr lang="en-GB"/>
          </a:p>
        </p:txBody>
      </p:sp>
    </p:spTree>
    <p:extLst>
      <p:ext uri="{BB962C8B-B14F-4D97-AF65-F5344CB8AC3E}">
        <p14:creationId xmlns:p14="http://schemas.microsoft.com/office/powerpoint/2010/main" val="36735637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856B58-3E93-4719-B657-49D544B01852}" type="datetimeFigureOut">
              <a:rPr lang="en-GB" smtClean="0"/>
              <a:t>10/03/2026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AD8A2-07E5-465C-9C44-9F9F9187BFD0}" type="slidenum">
              <a:rPr lang="en-GB" smtClean="0"/>
              <a:t>‹#›</a:t>
            </a:fld>
            <a:endParaRPr lang="en-GB"/>
          </a:p>
        </p:txBody>
      </p:sp>
    </p:spTree>
    <p:extLst>
      <p:ext uri="{BB962C8B-B14F-4D97-AF65-F5344CB8AC3E}">
        <p14:creationId xmlns:p14="http://schemas.microsoft.com/office/powerpoint/2010/main" val="1296629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5D74495-12D2-6A47-A762-3590D56449EA}" type="slidenum">
              <a:rPr lang="en-US" smtClean="0"/>
              <a:t>5</a:t>
            </a:fld>
            <a:endParaRPr lang="en-US"/>
          </a:p>
        </p:txBody>
      </p:sp>
    </p:spTree>
    <p:extLst>
      <p:ext uri="{BB962C8B-B14F-4D97-AF65-F5344CB8AC3E}">
        <p14:creationId xmlns:p14="http://schemas.microsoft.com/office/powerpoint/2010/main" val="128656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5D74495-12D2-6A47-A762-3590D56449EA}" type="slidenum">
              <a:rPr lang="en-US" smtClean="0"/>
              <a:t>8</a:t>
            </a:fld>
            <a:endParaRPr lang="en-US"/>
          </a:p>
        </p:txBody>
      </p:sp>
    </p:spTree>
    <p:extLst>
      <p:ext uri="{BB962C8B-B14F-4D97-AF65-F5344CB8AC3E}">
        <p14:creationId xmlns:p14="http://schemas.microsoft.com/office/powerpoint/2010/main" val="4181001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Usually, when we say that data is “generated” we mean generated by a computer but this is not strictly necessary. </a:t>
            </a:r>
          </a:p>
          <a:p>
            <a:r>
              <a:rPr lang="en-GB" dirty="0"/>
              <a:t>For example, a string of numbers made up on the spot is still generated. </a:t>
            </a:r>
          </a:p>
          <a:p>
            <a:r>
              <a:rPr lang="en-GB" dirty="0"/>
              <a:t>A “commute” made by starting at a point identified by throwing a dart at a map followed by left turns when you pass a red car or right turns when you pass a green one and that ends at the nearest business after a chicken shop is a non-computer generated commute. </a:t>
            </a:r>
            <a:endParaRPr lang="en-GB" dirty="0">
              <a:ea typeface="Calibri"/>
              <a:cs typeface="Calibri"/>
            </a:endParaRPr>
          </a:p>
          <a:p>
            <a:endParaRPr lang="en-GB" dirty="0"/>
          </a:p>
          <a:p>
            <a:r>
              <a:rPr lang="en-GB" dirty="0"/>
              <a:t>Even within computers, there are MANY ways to generate, from creating lists of “random” numbers to creating elaborate simulations and recording the actions or states of simulated actors, to machine learning models that predict new data to fit the classes they have learnt.  </a:t>
            </a:r>
          </a:p>
          <a:p>
            <a:endParaRPr lang="en-GB" dirty="0"/>
          </a:p>
          <a:p>
            <a:r>
              <a:rPr lang="en-GB" dirty="0"/>
              <a:t>But importantly, this all contrasts with OBSERVED data, which includes responses to surveys, temperature sensors, essays written by students, ticket sales, people making hash marks every time they see a target action happen, etc. </a:t>
            </a:r>
          </a:p>
          <a:p>
            <a:endParaRPr lang="en-GB" dirty="0"/>
          </a:p>
          <a:p>
            <a:r>
              <a:rPr lang="en-GB" dirty="0">
                <a:ea typeface="Calibri"/>
                <a:cs typeface="Calibri"/>
              </a:rPr>
              <a:t>If created from real-world data, the synthetic data should include checks to ensure that it does not contain any lines that match any lines of real data. </a:t>
            </a:r>
            <a:endParaRPr lang="en-GB" dirty="0"/>
          </a:p>
          <a:p>
            <a:endParaRPr lang="en-GB" dirty="0"/>
          </a:p>
          <a:p>
            <a:r>
              <a:rPr lang="en-GB" dirty="0"/>
              <a:t>Let’s look at some examples of synthetic data that you may be familiar with. </a:t>
            </a:r>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9</a:t>
            </a:fld>
            <a:endParaRPr lang="en-GB"/>
          </a:p>
        </p:txBody>
      </p:sp>
    </p:spTree>
    <p:extLst>
      <p:ext uri="{BB962C8B-B14F-4D97-AF65-F5344CB8AC3E}">
        <p14:creationId xmlns:p14="http://schemas.microsoft.com/office/powerpoint/2010/main" val="354751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of you will have used or at least seen Lorem Ipsum placeholder text. This is useful for looking very much like English text even though it is generated rather than “real” text that anyone actually wrote down.</a:t>
            </a:r>
          </a:p>
        </p:txBody>
      </p:sp>
      <p:sp>
        <p:nvSpPr>
          <p:cNvPr id="4" name="Slide Number Placeholder 3"/>
          <p:cNvSpPr>
            <a:spLocks noGrp="1"/>
          </p:cNvSpPr>
          <p:nvPr>
            <p:ph type="sldNum" sz="quarter" idx="5"/>
          </p:nvPr>
        </p:nvSpPr>
        <p:spPr/>
        <p:txBody>
          <a:bodyPr/>
          <a:lstStyle/>
          <a:p>
            <a:fld id="{490AD8A2-07E5-465C-9C44-9F9F9187BFD0}" type="slidenum">
              <a:rPr lang="en-GB" smtClean="0"/>
              <a:t>10</a:t>
            </a:fld>
            <a:endParaRPr lang="en-GB"/>
          </a:p>
        </p:txBody>
      </p:sp>
    </p:spTree>
    <p:extLst>
      <p:ext uri="{BB962C8B-B14F-4D97-AF65-F5344CB8AC3E}">
        <p14:creationId xmlns:p14="http://schemas.microsoft.com/office/powerpoint/2010/main" val="3121338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example is “fake” celebrities created by an AI that was trained on photos of real celebrities. </a:t>
            </a:r>
          </a:p>
        </p:txBody>
      </p:sp>
      <p:sp>
        <p:nvSpPr>
          <p:cNvPr id="4" name="Slide Number Placeholder 3"/>
          <p:cNvSpPr>
            <a:spLocks noGrp="1"/>
          </p:cNvSpPr>
          <p:nvPr>
            <p:ph type="sldNum" sz="quarter" idx="5"/>
          </p:nvPr>
        </p:nvSpPr>
        <p:spPr/>
        <p:txBody>
          <a:bodyPr/>
          <a:lstStyle/>
          <a:p>
            <a:fld id="{490AD8A2-07E5-465C-9C44-9F9F9187BFD0}" type="slidenum">
              <a:rPr lang="en-GB" smtClean="0"/>
              <a:t>11</a:t>
            </a:fld>
            <a:endParaRPr lang="en-GB"/>
          </a:p>
        </p:txBody>
      </p:sp>
    </p:spTree>
    <p:extLst>
      <p:ext uri="{BB962C8B-B14F-4D97-AF65-F5344CB8AC3E}">
        <p14:creationId xmlns:p14="http://schemas.microsoft.com/office/powerpoint/2010/main" val="3642139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of you have probably also used a random number generator, this one from google, if you want to do a low-cost raffle or prize award sort of thing. </a:t>
            </a:r>
          </a:p>
        </p:txBody>
      </p:sp>
      <p:sp>
        <p:nvSpPr>
          <p:cNvPr id="4" name="Slide Number Placeholder 3"/>
          <p:cNvSpPr>
            <a:spLocks noGrp="1"/>
          </p:cNvSpPr>
          <p:nvPr>
            <p:ph type="sldNum" sz="quarter" idx="5"/>
          </p:nvPr>
        </p:nvSpPr>
        <p:spPr/>
        <p:txBody>
          <a:bodyPr/>
          <a:lstStyle/>
          <a:p>
            <a:fld id="{490AD8A2-07E5-465C-9C44-9F9F9187BFD0}" type="slidenum">
              <a:rPr lang="en-GB" smtClean="0"/>
              <a:t>12</a:t>
            </a:fld>
            <a:endParaRPr lang="en-GB"/>
          </a:p>
        </p:txBody>
      </p:sp>
    </p:spTree>
    <p:extLst>
      <p:ext uri="{BB962C8B-B14F-4D97-AF65-F5344CB8AC3E}">
        <p14:creationId xmlns:p14="http://schemas.microsoft.com/office/powerpoint/2010/main" val="1829778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Or, slightly more sophisticated random number generators, would be synthetic dice where you can specify how many dice (and how many sides each die has) when rolling a “fake” handful of dice. This is useful for online games for example, where you are not relying on your friends to be completely honest about how they roll in a virtual role playing game. </a:t>
            </a:r>
          </a:p>
        </p:txBody>
      </p:sp>
      <p:sp>
        <p:nvSpPr>
          <p:cNvPr id="4" name="Slide Number Placeholder 3"/>
          <p:cNvSpPr>
            <a:spLocks noGrp="1"/>
          </p:cNvSpPr>
          <p:nvPr>
            <p:ph type="sldNum" sz="quarter" idx="5"/>
          </p:nvPr>
        </p:nvSpPr>
        <p:spPr/>
        <p:txBody>
          <a:bodyPr/>
          <a:lstStyle/>
          <a:p>
            <a:fld id="{490AD8A2-07E5-465C-9C44-9F9F9187BFD0}" type="slidenum">
              <a:rPr lang="en-GB" smtClean="0"/>
              <a:t>13</a:t>
            </a:fld>
            <a:endParaRPr lang="en-GB"/>
          </a:p>
        </p:txBody>
      </p:sp>
    </p:spTree>
    <p:extLst>
      <p:ext uri="{BB962C8B-B14F-4D97-AF65-F5344CB8AC3E}">
        <p14:creationId xmlns:p14="http://schemas.microsoft.com/office/powerpoint/2010/main" val="2949430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t>Synthetic data is NOT the same as real, observationally-sourced data that has been anonymised, de-personalised, noise-</a:t>
            </a:r>
            <a:r>
              <a:rPr lang="en-GB" sz="1200" dirty="0" err="1"/>
              <a:t>ified</a:t>
            </a:r>
            <a:r>
              <a:rPr lang="en-GB" sz="1200" dirty="0"/>
              <a:t> or otherwise treated to avoid identification. </a:t>
            </a:r>
          </a:p>
          <a:p>
            <a:pPr marL="0" indent="0">
              <a:buNone/>
            </a:pPr>
            <a:endParaRPr lang="en-GB" sz="1200" dirty="0"/>
          </a:p>
          <a:p>
            <a:pPr marL="0" indent="0">
              <a:buNone/>
            </a:pPr>
            <a:r>
              <a:rPr lang="en-GB" sz="1200" dirty="0"/>
              <a:t>This sort of data is important, but should be accurately described in other terms (like anonymised or de-personalised, etc.). </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14</a:t>
            </a:fld>
            <a:endParaRPr lang="en-GB"/>
          </a:p>
        </p:txBody>
      </p:sp>
    </p:spTree>
    <p:extLst>
      <p:ext uri="{BB962C8B-B14F-4D97-AF65-F5344CB8AC3E}">
        <p14:creationId xmlns:p14="http://schemas.microsoft.com/office/powerpoint/2010/main" val="3012139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They are wrong and they make it harder for people to work with synthetic data. </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15</a:t>
            </a:fld>
            <a:endParaRPr lang="en-GB"/>
          </a:p>
        </p:txBody>
      </p:sp>
    </p:spTree>
    <p:extLst>
      <p:ext uri="{BB962C8B-B14F-4D97-AF65-F5344CB8AC3E}">
        <p14:creationId xmlns:p14="http://schemas.microsoft.com/office/powerpoint/2010/main" val="2140188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t>Counts of how many users of a cycle lane pass a given point according to a sensor?</a:t>
            </a:r>
          </a:p>
          <a:p>
            <a:pPr marL="0" indent="0">
              <a:buNone/>
            </a:pPr>
            <a:endParaRPr lang="en-GB" sz="1200" dirty="0"/>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16</a:t>
            </a:fld>
            <a:endParaRPr lang="en-GB"/>
          </a:p>
        </p:txBody>
      </p:sp>
    </p:spTree>
    <p:extLst>
      <p:ext uri="{BB962C8B-B14F-4D97-AF65-F5344CB8AC3E}">
        <p14:creationId xmlns:p14="http://schemas.microsoft.com/office/powerpoint/2010/main" val="1110205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Average high temperatures for next week according to Met Office forecasts?</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17</a:t>
            </a:fld>
            <a:endParaRPr lang="en-GB"/>
          </a:p>
        </p:txBody>
      </p:sp>
    </p:spTree>
    <p:extLst>
      <p:ext uri="{BB962C8B-B14F-4D97-AF65-F5344CB8AC3E}">
        <p14:creationId xmlns:p14="http://schemas.microsoft.com/office/powerpoint/2010/main" val="2881707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 small samples of data that include actual responses but that are treated to prevent identification of the household or individual?</a:t>
            </a:r>
          </a:p>
        </p:txBody>
      </p:sp>
      <p:sp>
        <p:nvSpPr>
          <p:cNvPr id="4" name="Slide Number Placeholder 3"/>
          <p:cNvSpPr>
            <a:spLocks noGrp="1"/>
          </p:cNvSpPr>
          <p:nvPr>
            <p:ph type="sldNum" sz="quarter" idx="5"/>
          </p:nvPr>
        </p:nvSpPr>
        <p:spPr/>
        <p:txBody>
          <a:bodyPr/>
          <a:lstStyle/>
          <a:p>
            <a:fld id="{490AD8A2-07E5-465C-9C44-9F9F9187BFD0}" type="slidenum">
              <a:rPr lang="en-GB" smtClean="0"/>
              <a:t>18</a:t>
            </a:fld>
            <a:endParaRPr lang="en-GB"/>
          </a:p>
        </p:txBody>
      </p:sp>
    </p:spTree>
    <p:extLst>
      <p:ext uri="{BB962C8B-B14F-4D97-AF65-F5344CB8AC3E}">
        <p14:creationId xmlns:p14="http://schemas.microsoft.com/office/powerpoint/2010/main" val="281506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 answers to question put to the AI chatbot which learned via supervised and unsupervised training. </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19</a:t>
            </a:fld>
            <a:endParaRPr lang="en-GB"/>
          </a:p>
        </p:txBody>
      </p:sp>
    </p:spTree>
    <p:extLst>
      <p:ext uri="{BB962C8B-B14F-4D97-AF65-F5344CB8AC3E}">
        <p14:creationId xmlns:p14="http://schemas.microsoft.com/office/powerpoint/2010/main" val="3387159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 completely fabricated anecdote about when “a co-worker stole your lunch but then almost choked because you inexplicably put peanut butter on a coronation chicken sandwich”. </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20</a:t>
            </a:fld>
            <a:endParaRPr lang="en-GB"/>
          </a:p>
        </p:txBody>
      </p:sp>
    </p:spTree>
    <p:extLst>
      <p:ext uri="{BB962C8B-B14F-4D97-AF65-F5344CB8AC3E}">
        <p14:creationId xmlns:p14="http://schemas.microsoft.com/office/powerpoint/2010/main" val="212263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5D74495-12D2-6A47-A762-3590D56449EA}" type="slidenum">
              <a:rPr lang="en-US" smtClean="0"/>
              <a:t>21</a:t>
            </a:fld>
            <a:endParaRPr lang="en-US"/>
          </a:p>
        </p:txBody>
      </p:sp>
    </p:spTree>
    <p:extLst>
      <p:ext uri="{BB962C8B-B14F-4D97-AF65-F5344CB8AC3E}">
        <p14:creationId xmlns:p14="http://schemas.microsoft.com/office/powerpoint/2010/main" val="2554165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synthetic data is created from real-world data, so there may be nothing for the synthetic data to be "faithful to". </a:t>
            </a:r>
          </a:p>
          <a:p>
            <a:endParaRPr lang="en-US" dirty="0">
              <a:ea typeface="Calibri" panose="020F0502020204030204"/>
              <a:cs typeface="Calibri" panose="020F0502020204030204"/>
            </a:endParaRPr>
          </a:p>
          <a:p>
            <a:r>
              <a:rPr lang="en-US" dirty="0">
                <a:ea typeface="Calibri" panose="020F0502020204030204"/>
                <a:cs typeface="Calibri" panose="020F0502020204030204"/>
              </a:rPr>
              <a:t>But when there is a </a:t>
            </a:r>
            <a:r>
              <a:rPr lang="en-US" dirty="0"/>
              <a:t>real-world data set or very good understanding of what a real-world data set might look like, then a synthetic data set can be more or less faithful to it. </a:t>
            </a:r>
          </a:p>
          <a:p>
            <a:endParaRPr lang="en-US" dirty="0">
              <a:ea typeface="Calibri"/>
              <a:cs typeface="Calibri"/>
            </a:endParaRPr>
          </a:p>
          <a:p>
            <a:r>
              <a:rPr lang="en-US" dirty="0">
                <a:ea typeface="Calibri"/>
                <a:cs typeface="Calibri"/>
              </a:rPr>
              <a:t>But remember, no line of synthetic data can match any line of real-world data. </a:t>
            </a:r>
          </a:p>
          <a:p>
            <a:endParaRPr lang="en-US" dirty="0">
              <a:ea typeface="Calibri"/>
              <a:cs typeface="Calibri"/>
            </a:endParaRPr>
          </a:p>
          <a:p>
            <a:r>
              <a:rPr lang="en-US" dirty="0">
                <a:ea typeface="Calibri"/>
                <a:cs typeface="Calibri"/>
              </a:rPr>
              <a:t>So fidelity comes down to deciding how faithful you can be without any matches. Another way to put this is "what counts as a match?" </a:t>
            </a:r>
          </a:p>
        </p:txBody>
      </p:sp>
      <p:sp>
        <p:nvSpPr>
          <p:cNvPr id="4" name="Slide Number Placeholder 3"/>
          <p:cNvSpPr>
            <a:spLocks noGrp="1"/>
          </p:cNvSpPr>
          <p:nvPr>
            <p:ph type="sldNum" sz="quarter" idx="5"/>
          </p:nvPr>
        </p:nvSpPr>
        <p:spPr/>
        <p:txBody>
          <a:bodyPr/>
          <a:lstStyle/>
          <a:p>
            <a:fld id="{490AD8A2-07E5-465C-9C44-9F9F9187BFD0}" type="slidenum">
              <a:rPr lang="en-GB" smtClean="0"/>
              <a:t>22</a:t>
            </a:fld>
            <a:endParaRPr lang="en-GB"/>
          </a:p>
        </p:txBody>
      </p:sp>
    </p:spTree>
    <p:extLst>
      <p:ext uri="{BB962C8B-B14F-4D97-AF65-F5344CB8AC3E}">
        <p14:creationId xmlns:p14="http://schemas.microsoft.com/office/powerpoint/2010/main" val="313266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 the real-world and synthetic sets both have the same number of variables?</a:t>
            </a:r>
            <a:endParaRPr lang="en-US" dirty="0"/>
          </a:p>
          <a:p>
            <a:r>
              <a:rPr lang="en-GB" dirty="0"/>
              <a:t>Are those variables matched in terms of being categorical, numerical, etc. ? </a:t>
            </a:r>
            <a:endParaRPr lang="en-GB" dirty="0">
              <a:ea typeface="Calibri"/>
              <a:cs typeface="Calibri"/>
            </a:endParaRPr>
          </a:p>
          <a:p>
            <a:r>
              <a:rPr lang="en-GB" dirty="0"/>
              <a:t>Are there the same categories or the same number of categories for the categorical variables?</a:t>
            </a:r>
            <a:endParaRPr lang="en-GB" dirty="0">
              <a:ea typeface="Calibri" panose="020F0502020204030204"/>
              <a:cs typeface="Calibri" panose="020F0502020204030204"/>
            </a:endParaRPr>
          </a:p>
          <a:p>
            <a:r>
              <a:rPr lang="en-GB" dirty="0"/>
              <a:t>Do the real and synthetic data sets have the same descriptives? </a:t>
            </a:r>
            <a:endParaRPr lang="en-GB" dirty="0">
              <a:ea typeface="Calibri"/>
              <a:cs typeface="Calibri"/>
            </a:endParaRPr>
          </a:p>
          <a:p>
            <a:r>
              <a:rPr lang="en-GB" dirty="0"/>
              <a:t>The same means, medians or modes? </a:t>
            </a:r>
            <a:endParaRPr lang="en-GB" dirty="0">
              <a:ea typeface="Calibri"/>
              <a:cs typeface="Calibri"/>
            </a:endParaRPr>
          </a:p>
          <a:p>
            <a:r>
              <a:rPr lang="en-GB" dirty="0"/>
              <a:t>Minima, maxima and range?</a:t>
            </a:r>
            <a:endParaRPr lang="en-GB" dirty="0">
              <a:ea typeface="Calibri"/>
              <a:cs typeface="Calibri"/>
            </a:endParaRPr>
          </a:p>
          <a:p>
            <a:r>
              <a:rPr lang="en-GB" dirty="0"/>
              <a:t>Central tendencies, distributions, etc.? </a:t>
            </a:r>
            <a:endParaRPr lang="en-GB" dirty="0">
              <a:ea typeface="Calibri" panose="020F0502020204030204"/>
              <a:cs typeface="Calibri" panose="020F0502020204030204"/>
            </a:endParaRPr>
          </a:p>
          <a:p>
            <a:r>
              <a:rPr lang="en-GB" dirty="0"/>
              <a:t>Do the synthetic data match the style/documentation of the original?  For example, if the original has male coded as zero and female coded as 1, is that the same for the synthetic version or have they been switched?</a:t>
            </a:r>
          </a:p>
          <a:p>
            <a:r>
              <a:rPr lang="en-GB" dirty="0"/>
              <a:t>Does the volume of data match or does it deliberately not match (this is relevant to the purpose of the synthetic data, covered later)</a:t>
            </a:r>
          </a:p>
          <a:p>
            <a:r>
              <a:rPr lang="en-GB" dirty="0"/>
              <a:t>Does the original have relationships between data and should  these be preserved, ignored or deliberately reversed? (again, this comes down to purpose which we cover later). </a:t>
            </a:r>
          </a:p>
          <a:p>
            <a:r>
              <a:rPr lang="en-GB" dirty="0"/>
              <a:t>Are there other features that we need to consider? </a:t>
            </a:r>
          </a:p>
          <a:p>
            <a:endParaRPr lang="en-GB" dirty="0">
              <a:ea typeface="Calibri" panose="020F0502020204030204"/>
              <a:cs typeface="Calibri" panose="020F0502020204030204"/>
            </a:endParaRPr>
          </a:p>
          <a:p>
            <a:r>
              <a:rPr lang="en-GB" dirty="0">
                <a:ea typeface="Calibri" panose="020F0502020204030204"/>
                <a:cs typeface="Calibri" panose="020F0502020204030204"/>
              </a:rPr>
              <a:t>And  remember, the question to answer is not whether or not it is faithful but whether it is faithful ENOUGH. </a:t>
            </a:r>
          </a:p>
          <a:p>
            <a:endParaRPr lang="en-GB"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23</a:t>
            </a:fld>
            <a:endParaRPr lang="en-GB"/>
          </a:p>
        </p:txBody>
      </p:sp>
    </p:spTree>
    <p:extLst>
      <p:ext uri="{BB962C8B-B14F-4D97-AF65-F5344CB8AC3E}">
        <p14:creationId xmlns:p14="http://schemas.microsoft.com/office/powerpoint/2010/main" val="3378428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In this case, we can see that the two trivial examples are similar in some ways, but not others. </a:t>
            </a:r>
          </a:p>
          <a:p>
            <a:endParaRPr lang="en-US" dirty="0">
              <a:ea typeface="Calibri"/>
              <a:cs typeface="Calibri"/>
            </a:endParaRPr>
          </a:p>
          <a:p>
            <a:r>
              <a:rPr lang="en-US" dirty="0">
                <a:ea typeface="Calibri"/>
                <a:cs typeface="Calibri"/>
              </a:rPr>
              <a:t>Same number of variables and same variable names. </a:t>
            </a:r>
          </a:p>
          <a:p>
            <a:r>
              <a:rPr lang="en-US" dirty="0">
                <a:ea typeface="Calibri"/>
                <a:cs typeface="Calibri"/>
              </a:rPr>
              <a:t>Same or at least similar means for X, Y and Z and same basic distribution for Q. </a:t>
            </a:r>
          </a:p>
          <a:p>
            <a:endParaRPr lang="en-US" dirty="0">
              <a:ea typeface="Calibri"/>
              <a:cs typeface="Calibri"/>
            </a:endParaRPr>
          </a:p>
          <a:p>
            <a:r>
              <a:rPr lang="en-US" dirty="0">
                <a:ea typeface="Calibri"/>
                <a:cs typeface="Calibri"/>
              </a:rPr>
              <a:t>But the ranges,  precision (digits after decimal) and category codes in Q are different. </a:t>
            </a:r>
          </a:p>
          <a:p>
            <a:endParaRPr lang="en-US" dirty="0">
              <a:ea typeface="Calibri"/>
              <a:cs typeface="Calibri"/>
            </a:endParaRPr>
          </a:p>
          <a:p>
            <a:r>
              <a:rPr lang="en-US" dirty="0">
                <a:ea typeface="Calibri"/>
                <a:cs typeface="Calibri"/>
              </a:rPr>
              <a:t>So it is faithful in some ways, but not others. </a:t>
            </a:r>
          </a:p>
          <a:p>
            <a:endParaRPr lang="en-US" dirty="0">
              <a:ea typeface="Calibri"/>
              <a:cs typeface="Calibri"/>
            </a:endParaRPr>
          </a:p>
          <a:p>
            <a:r>
              <a:rPr lang="en-US" dirty="0">
                <a:ea typeface="Calibri"/>
                <a:cs typeface="Calibri"/>
              </a:rPr>
              <a:t>The first line in both is a very close, but not exact match.</a:t>
            </a:r>
          </a:p>
          <a:p>
            <a:endParaRPr lang="en-US" dirty="0">
              <a:ea typeface="Calibri"/>
              <a:cs typeface="Calibri"/>
            </a:endParaRPr>
          </a:p>
          <a:p>
            <a:r>
              <a:rPr lang="en-US" dirty="0">
                <a:ea typeface="Calibri"/>
                <a:cs typeface="Calibri"/>
              </a:rPr>
              <a:t>So we have to ask, is it faithful enough? Are they too closely matched? </a:t>
            </a:r>
          </a:p>
          <a:p>
            <a:endParaRPr lang="en-US" dirty="0">
              <a:ea typeface="Calibri"/>
              <a:cs typeface="Calibri"/>
            </a:endParaRPr>
          </a:p>
          <a:p>
            <a:r>
              <a:rPr lang="en-US" dirty="0">
                <a:ea typeface="Calibri"/>
                <a:cs typeface="Calibri"/>
              </a:rPr>
              <a:t>We'll come on to how to answer these later. </a:t>
            </a:r>
            <a:endParaRPr lang="en-US" dirty="0"/>
          </a:p>
        </p:txBody>
      </p:sp>
      <p:sp>
        <p:nvSpPr>
          <p:cNvPr id="4" name="Slide Number Placeholder 3"/>
          <p:cNvSpPr>
            <a:spLocks noGrp="1"/>
          </p:cNvSpPr>
          <p:nvPr>
            <p:ph type="sldNum" sz="quarter" idx="5"/>
          </p:nvPr>
        </p:nvSpPr>
        <p:spPr/>
        <p:txBody>
          <a:bodyPr/>
          <a:lstStyle/>
          <a:p>
            <a:fld id="{490AD8A2-07E5-465C-9C44-9F9F9187BFD0}" type="slidenum">
              <a:rPr lang="en-GB" smtClean="0"/>
              <a:t>24</a:t>
            </a:fld>
            <a:endParaRPr lang="en-GB"/>
          </a:p>
        </p:txBody>
      </p:sp>
    </p:spTree>
    <p:extLst>
      <p:ext uri="{BB962C8B-B14F-4D97-AF65-F5344CB8AC3E}">
        <p14:creationId xmlns:p14="http://schemas.microsoft.com/office/powerpoint/2010/main" val="883612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Many of the ways we use data, and therefore many of the ways that we might want to use synthetic data, is about relationships between variables in the data. </a:t>
            </a:r>
            <a:endParaRPr lang="en-US" dirty="0"/>
          </a:p>
          <a:p>
            <a:endParaRPr lang="en-GB" dirty="0">
              <a:ea typeface="Calibri"/>
              <a:cs typeface="Calibri"/>
            </a:endParaRPr>
          </a:p>
          <a:p>
            <a:r>
              <a:rPr lang="en-GB" dirty="0">
                <a:ea typeface="Calibri"/>
                <a:cs typeface="Calibri"/>
              </a:rPr>
              <a:t>In this example, we can see that height and weight have a strong, although not simple, relationship. </a:t>
            </a:r>
          </a:p>
          <a:p>
            <a:endParaRPr lang="en-GB" dirty="0"/>
          </a:p>
          <a:p>
            <a:r>
              <a:rPr lang="en-GB" dirty="0"/>
              <a:t>We could create synthetic height and weight data that recreates this relationship pretty well. But what if we wanted to add in more interacting variables, like age, </a:t>
            </a:r>
            <a:r>
              <a:rPr lang="en-GB" dirty="0" err="1"/>
              <a:t>ethinicity</a:t>
            </a:r>
            <a:r>
              <a:rPr lang="en-GB" dirty="0"/>
              <a:t>, occupation, location, various health conditions, or any other number of potentially interesting but complicating factors. Think too that if we were looking at height and weigh longitudinally, we would have a relationship between height and weight but also a height weight combo and a later height weight combo for the same individual. </a:t>
            </a:r>
          </a:p>
          <a:p>
            <a:endParaRPr lang="en-GB" dirty="0">
              <a:ea typeface="Calibri"/>
              <a:cs typeface="Calibri"/>
            </a:endParaRPr>
          </a:p>
          <a:p>
            <a:r>
              <a:rPr lang="en-GB" dirty="0">
                <a:ea typeface="Calibri"/>
                <a:cs typeface="Calibri"/>
              </a:rPr>
              <a:t>Why does this matter? Why not preserve all the relationships to the fullest extent possible in the synthetic data? </a:t>
            </a:r>
            <a:r>
              <a:rPr lang="en-GB" dirty="0"/>
              <a:t>Because being completely faithful on all features of all related variables creates exact or nearly exact matches.</a:t>
            </a:r>
          </a:p>
          <a:p>
            <a:endParaRPr lang="en-GB" dirty="0"/>
          </a:p>
          <a:p>
            <a:r>
              <a:rPr lang="en-GB" dirty="0"/>
              <a:t>This doesn't matter too much for the points right in the big, dense clusters because there is not really a way for a malicious actor to go looking for a real-world person based on this synthetic near match. </a:t>
            </a:r>
          </a:p>
          <a:p>
            <a:endParaRPr lang="en-GB" dirty="0"/>
          </a:p>
          <a:p>
            <a:r>
              <a:rPr lang="en-GB" dirty="0"/>
              <a:t>BUT...</a:t>
            </a:r>
          </a:p>
          <a:p>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25</a:t>
            </a:fld>
            <a:endParaRPr lang="en-GB"/>
          </a:p>
        </p:txBody>
      </p:sp>
    </p:spTree>
    <p:extLst>
      <p:ext uri="{BB962C8B-B14F-4D97-AF65-F5344CB8AC3E}">
        <p14:creationId xmlns:p14="http://schemas.microsoft.com/office/powerpoint/2010/main" val="3387393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It becomes an issue for outliers. </a:t>
            </a:r>
            <a:endParaRPr lang="en-GB" dirty="0">
              <a:ea typeface="Calibri"/>
              <a:cs typeface="Calibri"/>
            </a:endParaRPr>
          </a:p>
          <a:p>
            <a:endParaRPr lang="en-GB" dirty="0"/>
          </a:p>
          <a:p>
            <a:r>
              <a:rPr lang="en-GB" dirty="0"/>
              <a:t>By accurately preserving the maximum for both height and weight while ALSO preserving the relationship between height and </a:t>
            </a:r>
            <a:r>
              <a:rPr lang="en-GB" dirty="0" err="1"/>
              <a:t>weigt</a:t>
            </a:r>
            <a:r>
              <a:rPr lang="en-GB" dirty="0"/>
              <a:t> AND the distribution of the real data, you create a fake person that is match or near match to a real-world person and a malicious actor could, in theory, go looking for a real world person that matches this synthetic person. </a:t>
            </a:r>
          </a:p>
          <a:p>
            <a:endParaRPr lang="en-GB" dirty="0">
              <a:ea typeface="Calibri"/>
              <a:cs typeface="Calibri"/>
            </a:endParaRPr>
          </a:p>
          <a:p>
            <a:endParaRPr lang="en-GB" dirty="0">
              <a:ea typeface="Calibri"/>
              <a:cs typeface="Calibri"/>
            </a:endParaRPr>
          </a:p>
          <a:p>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26</a:t>
            </a:fld>
            <a:endParaRPr lang="en-GB"/>
          </a:p>
        </p:txBody>
      </p:sp>
    </p:spTree>
    <p:extLst>
      <p:ext uri="{BB962C8B-B14F-4D97-AF65-F5344CB8AC3E}">
        <p14:creationId xmlns:p14="http://schemas.microsoft.com/office/powerpoint/2010/main" val="36116817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Importantly, disclosure risk is not the same as indication risk. But you have to be careful not to match or nearly match a real person in ways that could be problematic. </a:t>
            </a:r>
            <a:endParaRPr lang="en-US">
              <a:ea typeface="Calibri"/>
              <a:cs typeface="Calibri"/>
            </a:endParaRPr>
          </a:p>
          <a:p>
            <a:endParaRPr lang="en-GB" dirty="0"/>
          </a:p>
          <a:p>
            <a:r>
              <a:rPr lang="en-GB"/>
              <a:t> As the complexity of the data and/or the relationships between variables grows, the number of potentially problematic outliers grows much faster relative to the data. </a:t>
            </a:r>
            <a:endParaRPr lang="en-US">
              <a:ea typeface="Calibri"/>
              <a:cs typeface="Calibri"/>
            </a:endParaRPr>
          </a:p>
          <a:p>
            <a:endParaRPr lang="en-GB" dirty="0"/>
          </a:p>
          <a:p>
            <a:r>
              <a:rPr lang="en-GB"/>
              <a:t>When sufficiently complex, it is hard to find a point that is not an outlier in some way or other, meaning it is hard to find a point that you can match or nearly match without being problematic. </a:t>
            </a:r>
            <a:endParaRPr lang="en-US">
              <a:ea typeface="Calibri"/>
              <a:cs typeface="Calibri"/>
            </a:endParaRPr>
          </a:p>
          <a:p>
            <a:endParaRPr lang="en-GB" dirty="0"/>
          </a:p>
          <a:p>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27</a:t>
            </a:fld>
            <a:endParaRPr lang="en-GB"/>
          </a:p>
        </p:txBody>
      </p:sp>
    </p:spTree>
    <p:extLst>
      <p:ext uri="{BB962C8B-B14F-4D97-AF65-F5344CB8AC3E}">
        <p14:creationId xmlns:p14="http://schemas.microsoft.com/office/powerpoint/2010/main" val="2127132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solution is to sacrifice some faithfulness in a carefully created, single use synthetic data set.  </a:t>
            </a:r>
            <a:endParaRPr lang="en-US" dirty="0"/>
          </a:p>
          <a:p>
            <a:endParaRPr lang="en-GB" dirty="0"/>
          </a:p>
          <a:p>
            <a:r>
              <a:rPr lang="en-GB" dirty="0"/>
              <a:t>Maybe the range are only faithful to within 10%? Maybe the distribution is flattened to make more outliers than you would really expect to find. Maybe the entire volume is false because you have 40000 times more rows of </a:t>
            </a:r>
            <a:r>
              <a:rPr lang="en-GB" dirty="0" err="1"/>
              <a:t>sythentic</a:t>
            </a:r>
            <a:r>
              <a:rPr lang="en-GB" dirty="0"/>
              <a:t> data than you have of real-world data. Maybe a combination of all of these or other ways to be less faithful. </a:t>
            </a:r>
            <a:endParaRPr lang="en-US" dirty="0">
              <a:ea typeface="Calibri"/>
              <a:cs typeface="Calibri"/>
            </a:endParaRPr>
          </a:p>
          <a:p>
            <a:endParaRPr lang="en-GB" dirty="0">
              <a:ea typeface="Calibri"/>
              <a:cs typeface="Calibri"/>
            </a:endParaRPr>
          </a:p>
          <a:p>
            <a:r>
              <a:rPr lang="en-GB" dirty="0"/>
              <a:t>This cannot be made for general use because you can't decide which things need to be faithful or not, and exactly how faithful they need to be, without knowing the details of the real-world data, the research question or use case the synthetic data will address, and the generation method. </a:t>
            </a:r>
          </a:p>
          <a:p>
            <a:endParaRPr lang="en-GB" dirty="0">
              <a:ea typeface="Calibri"/>
              <a:cs typeface="Calibri"/>
            </a:endParaRPr>
          </a:p>
          <a:p>
            <a:r>
              <a:rPr lang="en-GB" dirty="0">
                <a:ea typeface="Calibri"/>
                <a:cs typeface="Calibri"/>
              </a:rPr>
              <a:t>All of these decisions should be made clear in the documentation that accompanies the synthetic dataset as they are very important for users to understand clearly. </a:t>
            </a:r>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28</a:t>
            </a:fld>
            <a:endParaRPr lang="en-GB"/>
          </a:p>
        </p:txBody>
      </p:sp>
    </p:spTree>
    <p:extLst>
      <p:ext uri="{BB962C8B-B14F-4D97-AF65-F5344CB8AC3E}">
        <p14:creationId xmlns:p14="http://schemas.microsoft.com/office/powerpoint/2010/main" val="206741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Fortunately for us, high-fidelity data is not required for most purposes. Low and medium are very useful and often good enough for most purposes. There are also many ways that we want to have the synthetic version be deliberately not faithful. </a:t>
            </a:r>
            <a:endParaRPr lang="en-US" dirty="0"/>
          </a:p>
          <a:p>
            <a:endParaRPr lang="en-GB" dirty="0"/>
          </a:p>
          <a:p>
            <a:r>
              <a:rPr lang="en-GB" dirty="0"/>
              <a:t>Let’s look at an example. We want to build an AI tool that looks at pictures of skin lesions and returns a risk category to help identify potential cancers. </a:t>
            </a:r>
          </a:p>
          <a:p>
            <a:r>
              <a:rPr lang="en-GB" dirty="0"/>
              <a:t>The problem is, most of the data comes from Northern European countries that have relatively few photos of skin lesions on people of colour. </a:t>
            </a:r>
            <a:endParaRPr lang="en-US" dirty="0">
              <a:ea typeface="Calibri"/>
              <a:cs typeface="Calibri"/>
            </a:endParaRPr>
          </a:p>
          <a:p>
            <a:endParaRPr lang="en-GB" dirty="0"/>
          </a:p>
          <a:p>
            <a:r>
              <a:rPr lang="en-GB" dirty="0"/>
              <a:t>We want the tool to work on all kinds of people, but our data is not ideal for this purpose.</a:t>
            </a:r>
          </a:p>
          <a:p>
            <a:endParaRPr lang="en-GB" dirty="0">
              <a:ea typeface="Calibri"/>
              <a:cs typeface="Calibri"/>
            </a:endParaRPr>
          </a:p>
          <a:p>
            <a:r>
              <a:rPr lang="en-GB" dirty="0"/>
              <a:t>One solution would be to go out and get more representative photos – a valid project, but tricky. There are reasons why the data we have is not ideal and those reasons are not easily or quickly resolved. </a:t>
            </a:r>
          </a:p>
          <a:p>
            <a:endParaRPr lang="en-GB" dirty="0"/>
          </a:p>
          <a:p>
            <a:r>
              <a:rPr lang="en-GB" dirty="0">
                <a:ea typeface="Calibri"/>
                <a:cs typeface="Calibri"/>
              </a:rPr>
              <a:t>Another possible solution is to </a:t>
            </a:r>
            <a:r>
              <a:rPr lang="en-GB" dirty="0"/>
              <a:t>create synthetic datasets that are DELIBERATELY NOT FAITHFUL to the real data but that are more balanced in specific ways and start training the AI on synthetic data. </a:t>
            </a:r>
            <a:endParaRPr lang="en-GB" dirty="0">
              <a:ea typeface="Calibri"/>
              <a:cs typeface="Calibri"/>
            </a:endParaRPr>
          </a:p>
          <a:p>
            <a:endParaRPr lang="en-GB" dirty="0"/>
          </a:p>
          <a:p>
            <a:r>
              <a:rPr lang="en-GB" dirty="0"/>
              <a:t>So, this brings us nicely to the next topic, which is …</a:t>
            </a:r>
          </a:p>
        </p:txBody>
      </p:sp>
      <p:sp>
        <p:nvSpPr>
          <p:cNvPr id="4" name="Slide Number Placeholder 3"/>
          <p:cNvSpPr>
            <a:spLocks noGrp="1"/>
          </p:cNvSpPr>
          <p:nvPr>
            <p:ph type="sldNum" sz="quarter" idx="5"/>
          </p:nvPr>
        </p:nvSpPr>
        <p:spPr/>
        <p:txBody>
          <a:bodyPr/>
          <a:lstStyle/>
          <a:p>
            <a:fld id="{490AD8A2-07E5-465C-9C44-9F9F9187BFD0}" type="slidenum">
              <a:rPr lang="en-GB" smtClean="0"/>
              <a:t>29</a:t>
            </a:fld>
            <a:endParaRPr lang="en-GB"/>
          </a:p>
        </p:txBody>
      </p:sp>
    </p:spTree>
    <p:extLst>
      <p:ext uri="{BB962C8B-B14F-4D97-AF65-F5344CB8AC3E}">
        <p14:creationId xmlns:p14="http://schemas.microsoft.com/office/powerpoint/2010/main" val="1606088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Calibri"/>
                <a:cs typeface="Calibri"/>
              </a:rPr>
              <a:t>Pre</a:t>
            </a:r>
            <a:endParaRPr lang="en-GB" dirty="0"/>
          </a:p>
        </p:txBody>
      </p:sp>
      <p:sp>
        <p:nvSpPr>
          <p:cNvPr id="4" name="Slide Number Placeholder 3"/>
          <p:cNvSpPr>
            <a:spLocks noGrp="1"/>
          </p:cNvSpPr>
          <p:nvPr>
            <p:ph type="sldNum" sz="quarter" idx="10"/>
          </p:nvPr>
        </p:nvSpPr>
        <p:spPr/>
        <p:txBody>
          <a:bodyPr/>
          <a:lstStyle/>
          <a:p>
            <a:fld id="{95D74495-12D2-6A47-A762-3590D56449EA}" type="slidenum">
              <a:rPr lang="en-US" smtClean="0"/>
              <a:t>30</a:t>
            </a:fld>
            <a:endParaRPr lang="en-US"/>
          </a:p>
        </p:txBody>
      </p:sp>
    </p:spTree>
    <p:extLst>
      <p:ext uri="{BB962C8B-B14F-4D97-AF65-F5344CB8AC3E}">
        <p14:creationId xmlns:p14="http://schemas.microsoft.com/office/powerpoint/2010/main" val="4009021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purpose that you will probably be aware of, if not used yourself, is to preview your data. Another name for this might be a 'sample'</a:t>
            </a:r>
          </a:p>
        </p:txBody>
      </p:sp>
      <p:sp>
        <p:nvSpPr>
          <p:cNvPr id="4" name="Slide Number Placeholder 3"/>
          <p:cNvSpPr>
            <a:spLocks noGrp="1"/>
          </p:cNvSpPr>
          <p:nvPr>
            <p:ph type="sldNum" sz="quarter" idx="5"/>
          </p:nvPr>
        </p:nvSpPr>
        <p:spPr/>
        <p:txBody>
          <a:bodyPr/>
          <a:lstStyle/>
          <a:p>
            <a:fld id="{490AD8A2-07E5-465C-9C44-9F9F9187BFD0}" type="slidenum">
              <a:rPr lang="en-GB" smtClean="0"/>
              <a:t>31</a:t>
            </a:fld>
            <a:endParaRPr lang="en-GB"/>
          </a:p>
        </p:txBody>
      </p:sp>
    </p:spTree>
    <p:extLst>
      <p:ext uri="{BB962C8B-B14F-4D97-AF65-F5344CB8AC3E}">
        <p14:creationId xmlns:p14="http://schemas.microsoft.com/office/powerpoint/2010/main" val="158557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 real data cannot be used as a preview (for example if it is sensitive), then a synthetic preview is a useful option to show people what the data looks like in general. </a:t>
            </a:r>
          </a:p>
          <a:p>
            <a:endParaRPr lang="en-GB" dirty="0"/>
          </a:p>
          <a:p>
            <a:r>
              <a:rPr lang="en-GB" dirty="0"/>
              <a:t>Fidelity here only needs to be faithful to the shape of the data here, rather than size or believability. You might even have just a couple of rows of obviously fake data as long as it is useful to show how the real data will be structured when you get it. </a:t>
            </a:r>
          </a:p>
        </p:txBody>
      </p:sp>
      <p:sp>
        <p:nvSpPr>
          <p:cNvPr id="4" name="Slide Number Placeholder 3"/>
          <p:cNvSpPr>
            <a:spLocks noGrp="1"/>
          </p:cNvSpPr>
          <p:nvPr>
            <p:ph type="sldNum" sz="quarter" idx="5"/>
          </p:nvPr>
        </p:nvSpPr>
        <p:spPr/>
        <p:txBody>
          <a:bodyPr/>
          <a:lstStyle/>
          <a:p>
            <a:fld id="{490AD8A2-07E5-465C-9C44-9F9F9187BFD0}" type="slidenum">
              <a:rPr lang="en-GB" smtClean="0"/>
              <a:t>32</a:t>
            </a:fld>
            <a:endParaRPr lang="en-GB"/>
          </a:p>
        </p:txBody>
      </p:sp>
    </p:spTree>
    <p:extLst>
      <p:ext uri="{BB962C8B-B14F-4D97-AF65-F5344CB8AC3E}">
        <p14:creationId xmlns:p14="http://schemas.microsoft.com/office/powerpoint/2010/main" val="3121654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purpose that some of you will know about is 'proof of concept'. Some disciplines call this a 'toy dataset' so you may see it referred to that way if you go looking for code or tutorials on how to make or use it. </a:t>
            </a:r>
          </a:p>
        </p:txBody>
      </p:sp>
      <p:sp>
        <p:nvSpPr>
          <p:cNvPr id="4" name="Slide Number Placeholder 3"/>
          <p:cNvSpPr>
            <a:spLocks noGrp="1"/>
          </p:cNvSpPr>
          <p:nvPr>
            <p:ph type="sldNum" sz="quarter" idx="5"/>
          </p:nvPr>
        </p:nvSpPr>
        <p:spPr/>
        <p:txBody>
          <a:bodyPr/>
          <a:lstStyle/>
          <a:p>
            <a:fld id="{490AD8A2-07E5-465C-9C44-9F9F9187BFD0}" type="slidenum">
              <a:rPr lang="en-GB" smtClean="0"/>
              <a:t>33</a:t>
            </a:fld>
            <a:endParaRPr lang="en-GB"/>
          </a:p>
        </p:txBody>
      </p:sp>
    </p:spTree>
    <p:extLst>
      <p:ext uri="{BB962C8B-B14F-4D97-AF65-F5344CB8AC3E}">
        <p14:creationId xmlns:p14="http://schemas.microsoft.com/office/powerpoint/2010/main" val="2407090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baseline="0" dirty="0">
                <a:latin typeface="+mn-lt"/>
              </a:rPr>
              <a:t>If real data is not available for some reason, maybe it does not yet exist or maybe it is only available to people with approved projects, then you may need to create a synthetic data set to show that your idea works in principle. </a:t>
            </a:r>
          </a:p>
          <a:p>
            <a:endParaRPr lang="en-GB" sz="1200" b="0" i="0" u="none" strike="noStrike" baseline="0" dirty="0">
              <a:latin typeface="+mn-lt"/>
            </a:endParaRPr>
          </a:p>
          <a:p>
            <a:r>
              <a:rPr lang="en-GB" sz="1200" b="0" i="0" u="none" strike="noStrike" baseline="0" dirty="0">
                <a:latin typeface="+mn-lt"/>
              </a:rPr>
              <a:t>For example, remember the skin lesion detecting AI I mentioned earlier. There may not yet be any good photo datasets, but you might still want to show that you can </a:t>
            </a:r>
            <a:r>
              <a:rPr lang="en-GB" dirty="0"/>
              <a:t>train</a:t>
            </a:r>
            <a:r>
              <a:rPr lang="en-GB" sz="1200" b="0" i="0" u="none" strike="noStrike" baseline="0" dirty="0">
                <a:latin typeface="+mn-lt"/>
              </a:rPr>
              <a:t> your AI to </a:t>
            </a:r>
            <a:r>
              <a:rPr lang="en-GB" dirty="0"/>
              <a:t>categorise </a:t>
            </a:r>
            <a:r>
              <a:rPr lang="en-GB" sz="1200" b="0" i="0" u="none" strike="noStrike" baseline="0" dirty="0">
                <a:latin typeface="+mn-lt"/>
              </a:rPr>
              <a:t>simulated images according to</a:t>
            </a:r>
            <a:r>
              <a:rPr lang="en-GB" dirty="0"/>
              <a:t> shape, size, colour,</a:t>
            </a:r>
            <a:r>
              <a:rPr lang="en-GB" sz="1200" b="0" i="0" u="none" strike="noStrike" baseline="0" dirty="0">
                <a:latin typeface="+mn-lt"/>
              </a:rPr>
              <a:t> </a:t>
            </a:r>
            <a:r>
              <a:rPr lang="en-GB" dirty="0"/>
              <a:t>colour distribution or anything else that is relevant. </a:t>
            </a:r>
          </a:p>
          <a:p>
            <a:endParaRPr lang="en-GB" dirty="0"/>
          </a:p>
          <a:p>
            <a:r>
              <a:rPr lang="en-GB" dirty="0"/>
              <a:t>You might start with a synthetic data set that has high contrast "lesions" with primary</a:t>
            </a:r>
            <a:r>
              <a:rPr lang="en-GB" sz="1200" b="0" i="0" u="none" strike="noStrike" baseline="0" dirty="0">
                <a:latin typeface="+mn-lt"/>
              </a:rPr>
              <a:t> colours</a:t>
            </a:r>
            <a:r>
              <a:rPr lang="en-GB" dirty="0"/>
              <a:t> or</a:t>
            </a:r>
            <a:r>
              <a:rPr lang="en-GB" sz="1200" b="0" i="0" u="none" strike="noStrike" baseline="0" dirty="0">
                <a:latin typeface="+mn-lt"/>
              </a:rPr>
              <a:t> black and white</a:t>
            </a:r>
            <a:r>
              <a:rPr lang="en-GB" dirty="0"/>
              <a:t> to help you decide which AI algorithms are most promising,</a:t>
            </a:r>
            <a:r>
              <a:rPr lang="en-GB" sz="1200" b="0" i="0" u="none" strike="noStrike" baseline="0" dirty="0">
                <a:latin typeface="+mn-lt"/>
              </a:rPr>
              <a:t> </a:t>
            </a:r>
            <a:r>
              <a:rPr lang="en-GB" dirty="0"/>
              <a:t>how much computer power you need, or other basic questions. </a:t>
            </a:r>
          </a:p>
          <a:p>
            <a:endParaRPr lang="en-GB" dirty="0"/>
          </a:p>
          <a:p>
            <a:r>
              <a:rPr lang="en-GB" dirty="0"/>
              <a:t>You might then progress to more sophisticated versions of the synthetic data set that has more realistic or lower contrast </a:t>
            </a:r>
            <a:r>
              <a:rPr lang="en-GB" sz="1200" b="0" i="0" u="none" strike="noStrike" baseline="0" dirty="0">
                <a:latin typeface="+mn-lt"/>
              </a:rPr>
              <a:t>grey scales</a:t>
            </a:r>
            <a:r>
              <a:rPr lang="en-GB" dirty="0"/>
              <a:t> or diverse </a:t>
            </a:r>
            <a:r>
              <a:rPr lang="en-GB" sz="1200" b="0" i="0" u="none" strike="noStrike" baseline="0" dirty="0">
                <a:latin typeface="+mn-lt"/>
              </a:rPr>
              <a:t>“skin tone” colours</a:t>
            </a:r>
            <a:r>
              <a:rPr lang="en-GB" dirty="0"/>
              <a:t> to help you fine tune the AI in preparation for testing on real world data or in real world experiments.</a:t>
            </a:r>
            <a:r>
              <a:rPr lang="en-GB" sz="1200" b="0" i="0" u="none" strike="noStrike" baseline="0" dirty="0">
                <a:latin typeface="+mn-lt"/>
              </a:rPr>
              <a:t> </a:t>
            </a:r>
            <a:endParaRPr lang="en-GB" sz="1200" b="0" i="0" u="none" strike="noStrike" baseline="0" dirty="0">
              <a:latin typeface="+mn-lt"/>
              <a:ea typeface="Calibri"/>
              <a:cs typeface="Calibri"/>
            </a:endParaRPr>
          </a:p>
          <a:p>
            <a:endParaRPr lang="en-GB" sz="1200" b="0" i="0" u="none" strike="noStrike" baseline="0" dirty="0">
              <a:latin typeface="+mn-lt"/>
            </a:endParaRPr>
          </a:p>
          <a:p>
            <a:r>
              <a:rPr lang="en-GB" sz="1200" b="0" i="0" u="none" strike="noStrike" baseline="0" dirty="0">
                <a:latin typeface="+mn-lt"/>
              </a:rPr>
              <a:t>These kind of </a:t>
            </a:r>
            <a:r>
              <a:rPr lang="en-GB" dirty="0"/>
              <a:t>synthetic datasets</a:t>
            </a:r>
            <a:r>
              <a:rPr lang="en-GB" sz="1200" b="0" i="0" u="none" strike="noStrike" baseline="0" dirty="0">
                <a:latin typeface="+mn-lt"/>
              </a:rPr>
              <a:t> may be called “toy datasets” in some disciplines. They tend to be low fidelity, quickly made, maybe initially small </a:t>
            </a:r>
            <a:r>
              <a:rPr lang="en-GB" dirty="0"/>
              <a:t>to</a:t>
            </a:r>
            <a:r>
              <a:rPr lang="en-GB" sz="1200" b="0" i="0" u="none" strike="noStrike" baseline="0" dirty="0">
                <a:latin typeface="+mn-lt"/>
              </a:rPr>
              <a:t> </a:t>
            </a:r>
            <a:r>
              <a:rPr lang="en-GB" dirty="0"/>
              <a:t>answer basic questions then remade in larger or more complex versions. </a:t>
            </a:r>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34</a:t>
            </a:fld>
            <a:endParaRPr lang="en-GB"/>
          </a:p>
        </p:txBody>
      </p:sp>
    </p:spTree>
    <p:extLst>
      <p:ext uri="{BB962C8B-B14F-4D97-AF65-F5344CB8AC3E}">
        <p14:creationId xmlns:p14="http://schemas.microsoft.com/office/powerpoint/2010/main" val="28456390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also use synthetic data when the real stuff is not available for various reasons or even when the real stuff is impossible. </a:t>
            </a:r>
          </a:p>
        </p:txBody>
      </p:sp>
      <p:sp>
        <p:nvSpPr>
          <p:cNvPr id="4" name="Slide Number Placeholder 3"/>
          <p:cNvSpPr>
            <a:spLocks noGrp="1"/>
          </p:cNvSpPr>
          <p:nvPr>
            <p:ph type="sldNum" sz="quarter" idx="5"/>
          </p:nvPr>
        </p:nvSpPr>
        <p:spPr/>
        <p:txBody>
          <a:bodyPr/>
          <a:lstStyle/>
          <a:p>
            <a:fld id="{490AD8A2-07E5-465C-9C44-9F9F9187BFD0}" type="slidenum">
              <a:rPr lang="en-GB" smtClean="0"/>
              <a:t>36</a:t>
            </a:fld>
            <a:endParaRPr lang="en-GB"/>
          </a:p>
        </p:txBody>
      </p:sp>
    </p:spTree>
    <p:extLst>
      <p:ext uri="{BB962C8B-B14F-4D97-AF65-F5344CB8AC3E}">
        <p14:creationId xmlns:p14="http://schemas.microsoft.com/office/powerpoint/2010/main" val="33302947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Sometimes the real data is simply not possible to get when or how you need it, or it is impossible. </a:t>
            </a:r>
          </a:p>
          <a:p>
            <a:endParaRPr lang="en-GB" dirty="0"/>
          </a:p>
          <a:p>
            <a:r>
              <a:rPr lang="en-GB" dirty="0"/>
              <a:t>This overlaps a bit with the Proof of Concept slide we just saw, but it extends beyond things that are currently unavailable and goes into things that may NEVER be available. </a:t>
            </a:r>
          </a:p>
          <a:p>
            <a:endParaRPr lang="en-GB" dirty="0"/>
          </a:p>
          <a:p>
            <a:r>
              <a:rPr lang="en-GB" dirty="0"/>
              <a:t>One example of this kind of never-available data is rare or catastrophic events, like nuclear disasters. There have not been so many of them and we want to keep it that way. </a:t>
            </a:r>
            <a:endParaRPr lang="en-GB" dirty="0">
              <a:ea typeface="Calibri"/>
              <a:cs typeface="Calibri"/>
            </a:endParaRPr>
          </a:p>
          <a:p>
            <a:endParaRPr lang="en-GB" dirty="0">
              <a:ea typeface="Calibri"/>
              <a:cs typeface="Calibri"/>
            </a:endParaRPr>
          </a:p>
          <a:p>
            <a:r>
              <a:rPr lang="en-GB" dirty="0">
                <a:ea typeface="Calibri"/>
                <a:cs typeface="Calibri"/>
              </a:rPr>
              <a:t>Another example is </a:t>
            </a:r>
            <a:endParaRPr lang="en-GB" dirty="0"/>
          </a:p>
          <a:p>
            <a:r>
              <a:rPr lang="en-GB" dirty="0"/>
              <a:t>Similarly, we don't have and certainly don’t want to create unethical situations in real life to study how people might react, but we can simulate those situations and see if the outcomes surprise us. </a:t>
            </a:r>
          </a:p>
          <a:p>
            <a:r>
              <a:rPr lang="en-GB" dirty="0"/>
              <a:t>I used a lot of this in my master's degree on language development because we realised that it is, of course, unethical to raise a bunch of children without language just to see what happens when you put them together. However, it is not unethical to raise a bunch of synthetic children without language. </a:t>
            </a:r>
            <a:endParaRPr lang="en-GB" dirty="0">
              <a:ea typeface="Calibri"/>
              <a:cs typeface="Calibri"/>
            </a:endParaRPr>
          </a:p>
          <a:p>
            <a:endParaRPr lang="en-GB" dirty="0"/>
          </a:p>
          <a:p>
            <a:r>
              <a:rPr lang="en-GB" dirty="0"/>
              <a:t>Also in this group, there are times we want detailed records of things as they develop but which is impossible or burdensome to obtain in real time. Imagine you wanted to study the changes in chess strategy as a person went from total beginner to advanced player. No total beginner is going to agree to have every single game they play recorded in total detail, especially if they are not even sure they want to be serious about chess. </a:t>
            </a:r>
          </a:p>
          <a:p>
            <a:endParaRPr lang="en-GB" dirty="0"/>
          </a:p>
          <a:p>
            <a:r>
              <a:rPr lang="en-GB" dirty="0"/>
              <a:t>Likewise, there are some longitudinal study participants that participate in all editions of a study, but there are many more that drop out, miss some parts of the study, return incomplete surveys, etc. </a:t>
            </a:r>
          </a:p>
          <a:p>
            <a:r>
              <a:rPr lang="en-GB" dirty="0"/>
              <a:t>This is a case in which we have some data available, but not as much as we might want so we can use synthetic instead of or in addition to the real data. </a:t>
            </a:r>
          </a:p>
          <a:p>
            <a:endParaRPr lang="en-GB" dirty="0"/>
          </a:p>
          <a:p>
            <a:r>
              <a:rPr lang="en-GB" dirty="0"/>
              <a:t>Faithfulness in hard to judge here because we don’t always have much real data to compare to.  Instead of thinking about this sort of synthetic data as faithful or not, we need to ask if it is useful or not. </a:t>
            </a:r>
          </a:p>
        </p:txBody>
      </p:sp>
      <p:sp>
        <p:nvSpPr>
          <p:cNvPr id="4" name="Slide Number Placeholder 3"/>
          <p:cNvSpPr>
            <a:spLocks noGrp="1"/>
          </p:cNvSpPr>
          <p:nvPr>
            <p:ph type="sldNum" sz="quarter" idx="5"/>
          </p:nvPr>
        </p:nvSpPr>
        <p:spPr/>
        <p:txBody>
          <a:bodyPr/>
          <a:lstStyle/>
          <a:p>
            <a:fld id="{490AD8A2-07E5-465C-9C44-9F9F9187BFD0}" type="slidenum">
              <a:rPr lang="en-GB" smtClean="0"/>
              <a:t>37</a:t>
            </a:fld>
            <a:endParaRPr lang="en-GB"/>
          </a:p>
        </p:txBody>
      </p:sp>
    </p:spTree>
    <p:extLst>
      <p:ext uri="{BB962C8B-B14F-4D97-AF65-F5344CB8AC3E}">
        <p14:creationId xmlns:p14="http://schemas.microsoft.com/office/powerpoint/2010/main" val="17935381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another purpose you are probably familiar with – presentation! This means any data intended to be made freely or publicly available, such as when you put it in presentations, share it in a tweet, put it into a github repo with your code, etc. </a:t>
            </a:r>
          </a:p>
          <a:p>
            <a:endParaRPr lang="en-GB" dirty="0"/>
          </a:p>
          <a:p>
            <a:r>
              <a:rPr lang="en-GB" dirty="0"/>
              <a:t>This includes teaching data, by the way, although lots of things that are called “teaching datasets” may be carefully anonymised data rather than synthetic. </a:t>
            </a:r>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38</a:t>
            </a:fld>
            <a:endParaRPr lang="en-GB"/>
          </a:p>
        </p:txBody>
      </p:sp>
    </p:spTree>
    <p:extLst>
      <p:ext uri="{BB962C8B-B14F-4D97-AF65-F5344CB8AC3E}">
        <p14:creationId xmlns:p14="http://schemas.microsoft.com/office/powerpoint/2010/main" val="25315585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Sometimes it is fine to show real data in public situations, but this is not always appropriate. If it is not, then you might want to create synthetic data that is safe to show publicly so that people understand and can reproduce your process. That way, they could understand your methods very well and even reproduce your exact results (if they have access to the real data). </a:t>
            </a:r>
          </a:p>
          <a:p>
            <a:endParaRPr lang="en-GB" dirty="0"/>
          </a:p>
          <a:p>
            <a:r>
              <a:rPr lang="en-GB" dirty="0"/>
              <a:t>You might use this sort of synthetic data in slides at conferences, in github repositories to showcase your code or methods, or to teach students or collaborators who do not have permission, or who do not yet have permission, to access the real data. </a:t>
            </a:r>
          </a:p>
          <a:p>
            <a:endParaRPr lang="en-GB" dirty="0"/>
          </a:p>
          <a:p>
            <a:r>
              <a:rPr lang="en-GB" dirty="0"/>
              <a:t>This is an especially important collaboration for those who work with secure or controlled data. Many such researchers might assume their work cannot be made reproducible or cannot be made MORE reproducible because their data cannot be shared at all. But synthetic data, along with very good documentation, might be a good option.</a:t>
            </a:r>
            <a:endParaRPr lang="en-GB" dirty="0">
              <a:ea typeface="Calibri"/>
              <a:cs typeface="Calibri"/>
            </a:endParaRPr>
          </a:p>
        </p:txBody>
      </p:sp>
      <p:sp>
        <p:nvSpPr>
          <p:cNvPr id="4" name="Slide Number Placeholder 3"/>
          <p:cNvSpPr>
            <a:spLocks noGrp="1"/>
          </p:cNvSpPr>
          <p:nvPr>
            <p:ph type="sldNum" sz="quarter" idx="5"/>
          </p:nvPr>
        </p:nvSpPr>
        <p:spPr/>
        <p:txBody>
          <a:bodyPr/>
          <a:lstStyle/>
          <a:p>
            <a:fld id="{490AD8A2-07E5-465C-9C44-9F9F9187BFD0}" type="slidenum">
              <a:rPr lang="en-GB" smtClean="0"/>
              <a:t>39</a:t>
            </a:fld>
            <a:endParaRPr lang="en-GB"/>
          </a:p>
        </p:txBody>
      </p:sp>
    </p:spTree>
    <p:extLst>
      <p:ext uri="{BB962C8B-B14F-4D97-AF65-F5344CB8AC3E}">
        <p14:creationId xmlns:p14="http://schemas.microsoft.com/office/powerpoint/2010/main" val="4037318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very useful purpose for synthetic data that many of you may not have considered – efficient and thorough code development!</a:t>
            </a:r>
          </a:p>
        </p:txBody>
      </p:sp>
      <p:sp>
        <p:nvSpPr>
          <p:cNvPr id="4" name="Slide Number Placeholder 3"/>
          <p:cNvSpPr>
            <a:spLocks noGrp="1"/>
          </p:cNvSpPr>
          <p:nvPr>
            <p:ph type="sldNum" sz="quarter" idx="5"/>
          </p:nvPr>
        </p:nvSpPr>
        <p:spPr/>
        <p:txBody>
          <a:bodyPr/>
          <a:lstStyle/>
          <a:p>
            <a:fld id="{490AD8A2-07E5-465C-9C44-9F9F9187BFD0}" type="slidenum">
              <a:rPr lang="en-GB" smtClean="0"/>
              <a:t>41</a:t>
            </a:fld>
            <a:endParaRPr lang="en-GB"/>
          </a:p>
        </p:txBody>
      </p:sp>
    </p:spTree>
    <p:extLst>
      <p:ext uri="{BB962C8B-B14F-4D97-AF65-F5344CB8AC3E}">
        <p14:creationId xmlns:p14="http://schemas.microsoft.com/office/powerpoint/2010/main" val="40194529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useful for making code that will be run by others, for making code that is ready to go at short notice, or for ensuring that the code works well and/or gives useful error messages under all possible circumstances. </a:t>
            </a:r>
          </a:p>
          <a:p>
            <a:endParaRPr lang="en-GB" dirty="0"/>
          </a:p>
          <a:p>
            <a:r>
              <a:rPr lang="en-GB" dirty="0"/>
              <a:t>For example, you know a new data set is about to be launched but you want to start working on it early so that you can publish quickly as soon as the real data drops. You could start working on a synthetic version so that your code can already be through some of the preliminary and testing phases. Then, when the real thing drops, you have a head start. </a:t>
            </a:r>
            <a:endParaRPr lang="en-GB" dirty="0">
              <a:ea typeface="Calibri"/>
              <a:cs typeface="Calibri"/>
            </a:endParaRPr>
          </a:p>
          <a:p>
            <a:endParaRPr lang="en-GB" dirty="0"/>
          </a:p>
          <a:p>
            <a:r>
              <a:rPr lang="en-GB" dirty="0"/>
              <a:t>Another example would be if you are helping a colleague develop an R script to create a visualisation on highly secure data. You will never actually see that secure data, but your colleague will and needs to be able to work with it quickly because they only have a limited amount of time in the secure pod. You could start by creating a synthetic version, develop and test your code, then give your code to your colleague to use in the secure pod. </a:t>
            </a:r>
            <a:endParaRPr lang="en-GB" dirty="0">
              <a:ea typeface="Calibri"/>
              <a:cs typeface="Calibri"/>
            </a:endParaRPr>
          </a:p>
          <a:p>
            <a:endParaRPr lang="en-GB" dirty="0"/>
          </a:p>
          <a:p>
            <a:r>
              <a:rPr lang="en-GB" dirty="0"/>
              <a:t>In many ways, this kind of data should NOT be very faithful to the real thing. You want to make sure your code deals well with all sort of conceivable errors or unlikely scenarios, etc. For example, what will your code do if it gets a null value where you have never had one before or has a negative value where it makes no sense for a value to be negative. If you make sure that your synthetic version has null and negative values, or any other kind of conceivable error, then you can make sure your code gives you useful error messages or otherwise acts appropriately. </a:t>
            </a:r>
            <a:endParaRPr lang="en-GB" dirty="0">
              <a:ea typeface="Calibri"/>
              <a:cs typeface="Calibri"/>
            </a:endParaRPr>
          </a:p>
          <a:p>
            <a:endParaRPr lang="en-GB" dirty="0"/>
          </a:p>
          <a:p>
            <a:endParaRPr lang="en-GB" dirty="0"/>
          </a:p>
        </p:txBody>
      </p:sp>
      <p:sp>
        <p:nvSpPr>
          <p:cNvPr id="4" name="Slide Number Placeholder 3"/>
          <p:cNvSpPr>
            <a:spLocks noGrp="1"/>
          </p:cNvSpPr>
          <p:nvPr>
            <p:ph type="sldNum" sz="quarter" idx="5"/>
          </p:nvPr>
        </p:nvSpPr>
        <p:spPr/>
        <p:txBody>
          <a:bodyPr/>
          <a:lstStyle/>
          <a:p>
            <a:fld id="{490AD8A2-07E5-465C-9C44-9F9F9187BFD0}" type="slidenum">
              <a:rPr lang="en-GB" smtClean="0"/>
              <a:t>42</a:t>
            </a:fld>
            <a:endParaRPr lang="en-GB"/>
          </a:p>
        </p:txBody>
      </p:sp>
    </p:spTree>
    <p:extLst>
      <p:ext uri="{BB962C8B-B14F-4D97-AF65-F5344CB8AC3E}">
        <p14:creationId xmlns:p14="http://schemas.microsoft.com/office/powerpoint/2010/main" val="1380935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modern purpose for synthetic data is remote work. Lots of us may not be located where the data we want to use is stored, for example if we are working at home, collaborating with people at other institutions or in other countries, working on a remote HPC. Importantly, sometimes the real data cannot be shared across these kinds of remote access, which is a barrier to using the real data. Synthetic data, however, does not face the same barriers! </a:t>
            </a:r>
          </a:p>
        </p:txBody>
      </p:sp>
      <p:sp>
        <p:nvSpPr>
          <p:cNvPr id="4" name="Slide Number Placeholder 3"/>
          <p:cNvSpPr>
            <a:spLocks noGrp="1"/>
          </p:cNvSpPr>
          <p:nvPr>
            <p:ph type="sldNum" sz="quarter" idx="5"/>
          </p:nvPr>
        </p:nvSpPr>
        <p:spPr/>
        <p:txBody>
          <a:bodyPr/>
          <a:lstStyle/>
          <a:p>
            <a:fld id="{490AD8A2-07E5-465C-9C44-9F9F9187BFD0}" type="slidenum">
              <a:rPr lang="en-GB" smtClean="0"/>
              <a:t>43</a:t>
            </a:fld>
            <a:endParaRPr lang="en-GB"/>
          </a:p>
        </p:txBody>
      </p:sp>
    </p:spTree>
    <p:extLst>
      <p:ext uri="{BB962C8B-B14F-4D97-AF65-F5344CB8AC3E}">
        <p14:creationId xmlns:p14="http://schemas.microsoft.com/office/powerpoint/2010/main" val="28267943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bit like the code development when you expect someone else to be running the code. But it also applies to teams that work at different institutions or in different countries. Collaborators are often restricted and unable to access some data. This might be because it is secure data that can only be stored on specific servers. Or it might be too large to send through normal channels. </a:t>
            </a:r>
          </a:p>
          <a:p>
            <a:endParaRPr lang="en-GB" dirty="0"/>
          </a:p>
          <a:p>
            <a:r>
              <a:rPr lang="en-GB" dirty="0"/>
              <a:t>Likewise, if you want time on a high powered computer or remote server you can't expect to put secure or restricted data on there. May need a synthetic version that can be put there, even if working with the synthetic version is only an intermediary step. </a:t>
            </a:r>
            <a:endParaRPr lang="en-GB" dirty="0">
              <a:ea typeface="Calibri"/>
              <a:cs typeface="Calibri"/>
            </a:endParaRPr>
          </a:p>
          <a:p>
            <a:endParaRPr lang="en-GB" dirty="0"/>
          </a:p>
          <a:p>
            <a:r>
              <a:rPr lang="en-GB" dirty="0"/>
              <a:t>This kind of synthetic dataset is probably going to take a lot of work to make. It needs to be relatively high-fidelity, needs to be well documented and needs to be clearly communicated. It will probably need to be created in a bespoke, highly skilled, careful creation phase. </a:t>
            </a:r>
          </a:p>
          <a:p>
            <a:endParaRPr lang="en-GB" dirty="0"/>
          </a:p>
          <a:p>
            <a:r>
              <a:rPr lang="en-GB" dirty="0"/>
              <a:t>There may be other, specific or unique reasons for making synthetic data but these are some of the major categories of how synthetic data is used. One final multiple choice quiz!</a:t>
            </a:r>
          </a:p>
        </p:txBody>
      </p:sp>
      <p:sp>
        <p:nvSpPr>
          <p:cNvPr id="4" name="Slide Number Placeholder 3"/>
          <p:cNvSpPr>
            <a:spLocks noGrp="1"/>
          </p:cNvSpPr>
          <p:nvPr>
            <p:ph type="sldNum" sz="quarter" idx="5"/>
          </p:nvPr>
        </p:nvSpPr>
        <p:spPr/>
        <p:txBody>
          <a:bodyPr/>
          <a:lstStyle/>
          <a:p>
            <a:fld id="{490AD8A2-07E5-465C-9C44-9F9F9187BFD0}" type="slidenum">
              <a:rPr lang="en-GB" smtClean="0"/>
              <a:t>44</a:t>
            </a:fld>
            <a:endParaRPr lang="en-GB"/>
          </a:p>
        </p:txBody>
      </p:sp>
    </p:spTree>
    <p:extLst>
      <p:ext uri="{BB962C8B-B14F-4D97-AF65-F5344CB8AC3E}">
        <p14:creationId xmlns:p14="http://schemas.microsoft.com/office/powerpoint/2010/main" val="190376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Calibri"/>
                <a:cs typeface="Calibri"/>
              </a:rPr>
              <a:t>Again, I want to make it clear that I will present a selection of ways to make synthetic data but this is absolutely not an exhaustive list. </a:t>
            </a:r>
            <a:endParaRPr lang="en-GB" dirty="0"/>
          </a:p>
        </p:txBody>
      </p:sp>
      <p:sp>
        <p:nvSpPr>
          <p:cNvPr id="4" name="Slide Number Placeholder 3"/>
          <p:cNvSpPr>
            <a:spLocks noGrp="1"/>
          </p:cNvSpPr>
          <p:nvPr>
            <p:ph type="sldNum" sz="quarter" idx="10"/>
          </p:nvPr>
        </p:nvSpPr>
        <p:spPr/>
        <p:txBody>
          <a:bodyPr/>
          <a:lstStyle/>
          <a:p>
            <a:fld id="{95D74495-12D2-6A47-A762-3590D56449EA}" type="slidenum">
              <a:rPr lang="en-US" smtClean="0"/>
              <a:t>46</a:t>
            </a:fld>
            <a:endParaRPr lang="en-US"/>
          </a:p>
        </p:txBody>
      </p:sp>
    </p:spTree>
    <p:extLst>
      <p:ext uri="{BB962C8B-B14F-4D97-AF65-F5344CB8AC3E}">
        <p14:creationId xmlns:p14="http://schemas.microsoft.com/office/powerpoint/2010/main" val="8707720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you only need a few examples, maybe as a preview or to test your code with extreme cases, then you might just “make up” some synthetic data. </a:t>
            </a:r>
          </a:p>
          <a:p>
            <a:endParaRPr lang="en-GB" dirty="0"/>
          </a:p>
          <a:p>
            <a:r>
              <a:rPr lang="en-GB" dirty="0"/>
              <a:t>Depending on what you need these examples for, they might be obviously synthetic or not. For example, one row might describe Joe Bloggs from Nowheresville or Phony </a:t>
            </a:r>
            <a:r>
              <a:rPr lang="en-GB" dirty="0" err="1"/>
              <a:t>McFakes</a:t>
            </a:r>
            <a:r>
              <a:rPr lang="en-GB" dirty="0"/>
              <a:t> from The Marianas Trench. </a:t>
            </a:r>
          </a:p>
          <a:p>
            <a:endParaRPr lang="en-GB" dirty="0"/>
          </a:p>
          <a:p>
            <a:r>
              <a:rPr lang="en-GB" dirty="0"/>
              <a:t>Likewise, they might be representative or not. For example, if you are trying to test your code for edge cases, make up some synthetic data with missing values or nonsense values like a height of 1000 centimetres or a weight of negative 20. </a:t>
            </a:r>
          </a:p>
          <a:p>
            <a:endParaRPr lang="en-GB" dirty="0"/>
          </a:p>
          <a:p>
            <a:r>
              <a:rPr lang="en-GB" dirty="0"/>
              <a:t>For small scale, handmade synthetic data, you can have exactly the data that you want to demonstrate or test what you want. </a:t>
            </a:r>
          </a:p>
        </p:txBody>
      </p:sp>
      <p:sp>
        <p:nvSpPr>
          <p:cNvPr id="4" name="Slide Number Placeholder 3"/>
          <p:cNvSpPr>
            <a:spLocks noGrp="1"/>
          </p:cNvSpPr>
          <p:nvPr>
            <p:ph type="sldNum" sz="quarter" idx="5"/>
          </p:nvPr>
        </p:nvSpPr>
        <p:spPr/>
        <p:txBody>
          <a:bodyPr/>
          <a:lstStyle/>
          <a:p>
            <a:fld id="{490AD8A2-07E5-465C-9C44-9F9F9187BFD0}" type="slidenum">
              <a:rPr lang="en-GB" smtClean="0"/>
              <a:t>47</a:t>
            </a:fld>
            <a:endParaRPr lang="en-GB"/>
          </a:p>
        </p:txBody>
      </p:sp>
    </p:spTree>
    <p:extLst>
      <p:ext uri="{BB962C8B-B14F-4D97-AF65-F5344CB8AC3E}">
        <p14:creationId xmlns:p14="http://schemas.microsoft.com/office/powerpoint/2010/main" val="24289389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Random or nonsense values are more useful if you need a lot of data but it does not have to be high fidelity. So, this might be another phase of code testing, or it might be simply a way to </a:t>
            </a:r>
            <a:r>
              <a:rPr lang="en-GB" dirty="0" err="1"/>
              <a:t>demonstrateor</a:t>
            </a:r>
            <a:r>
              <a:rPr lang="en-GB" dirty="0"/>
              <a:t> test how your code works on large volumes of data when it does not matter much that the data be realistic. </a:t>
            </a:r>
          </a:p>
          <a:p>
            <a:endParaRPr lang="en-GB" dirty="0"/>
          </a:p>
          <a:p>
            <a:r>
              <a:rPr lang="en-GB" dirty="0"/>
              <a:t>This sort of thing may be quite basic (random numbers are easy to generate in most programming languages) and examples of how to do this will follow in the code demo section of today’s workshop. </a:t>
            </a:r>
          </a:p>
          <a:p>
            <a:endParaRPr lang="en-GB" dirty="0"/>
          </a:p>
          <a:p>
            <a:r>
              <a:rPr lang="en-GB" dirty="0"/>
              <a:t>If you want it to generate something that looks like an email address it is not hard to generate a sequence of mostly letters and maybe some numbers followed by an @ and then some more letters then a dot and then one of a select few suffixes. This is even easier if you want to generate a "university style" email address that draws on the name first and always has the same ending after the @</a:t>
            </a:r>
            <a:endParaRPr lang="en-GB" dirty="0">
              <a:ea typeface="Calibri"/>
              <a:cs typeface="Calibri"/>
            </a:endParaRPr>
          </a:p>
          <a:p>
            <a:endParaRPr lang="en-GB" dirty="0"/>
          </a:p>
          <a:p>
            <a:r>
              <a:rPr lang="en-GB" dirty="0"/>
              <a:t>There are some ready-made packages or libraries to generate synthetic versions of common things (names, email addresses, postcodes, etc.) These include synthpop for R , Faker for python or </a:t>
            </a:r>
            <a:r>
              <a:rPr lang="en-GB" dirty="0" err="1"/>
              <a:t>Mockaroo</a:t>
            </a:r>
            <a:r>
              <a:rPr lang="en-GB" dirty="0"/>
              <a:t> via the web or API. </a:t>
            </a:r>
          </a:p>
        </p:txBody>
      </p:sp>
      <p:sp>
        <p:nvSpPr>
          <p:cNvPr id="4" name="Slide Number Placeholder 3"/>
          <p:cNvSpPr>
            <a:spLocks noGrp="1"/>
          </p:cNvSpPr>
          <p:nvPr>
            <p:ph type="sldNum" sz="quarter" idx="5"/>
          </p:nvPr>
        </p:nvSpPr>
        <p:spPr/>
        <p:txBody>
          <a:bodyPr/>
          <a:lstStyle/>
          <a:p>
            <a:fld id="{490AD8A2-07E5-465C-9C44-9F9F9187BFD0}" type="slidenum">
              <a:rPr lang="en-GB" smtClean="0"/>
              <a:t>48</a:t>
            </a:fld>
            <a:endParaRPr lang="en-GB"/>
          </a:p>
        </p:txBody>
      </p:sp>
    </p:spTree>
    <p:extLst>
      <p:ext uri="{BB962C8B-B14F-4D97-AF65-F5344CB8AC3E}">
        <p14:creationId xmlns:p14="http://schemas.microsoft.com/office/powerpoint/2010/main" val="4211882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Medium fidelity synthetic versions of data that contains relationships between two or more variables is probably best generated via more computational methods, such as machine learning algorithms, that can capture the pattern and then generate new data points that maintain the pattern. </a:t>
            </a:r>
          </a:p>
          <a:p>
            <a:endParaRPr lang="en-GB" dirty="0"/>
          </a:p>
          <a:p>
            <a:r>
              <a:rPr lang="en-GB" dirty="0"/>
              <a:t>There are more and less manual methods of applying machine learning algorithms. I demonstrate a fairly manual approach in the code demo to follow. This is probably the best option to follow if you want to make a high quality synthetic data set that matches a data set that you actually have access to, a data set that you know is structured in a particular way, or that is unique in some way. </a:t>
            </a:r>
          </a:p>
          <a:p>
            <a:endParaRPr lang="en-GB" dirty="0"/>
          </a:p>
          <a:p>
            <a:r>
              <a:rPr lang="en-GB" dirty="0"/>
              <a:t>The software packages I mentioned before, the synthpop, Faker, </a:t>
            </a:r>
            <a:r>
              <a:rPr lang="en-GB" dirty="0" err="1"/>
              <a:t>mockeroo</a:t>
            </a:r>
            <a:r>
              <a:rPr lang="en-GB" dirty="0"/>
              <a:t> type tools, these are made by applying machine learning algorithms to very standard data sets. So these too are ways to generate synthetic data via machine learning, but they are not based on applying machine learning to YOUR specific dataset. </a:t>
            </a:r>
          </a:p>
        </p:txBody>
      </p:sp>
      <p:sp>
        <p:nvSpPr>
          <p:cNvPr id="4" name="Slide Number Placeholder 3"/>
          <p:cNvSpPr>
            <a:spLocks noGrp="1"/>
          </p:cNvSpPr>
          <p:nvPr>
            <p:ph type="sldNum" sz="quarter" idx="5"/>
          </p:nvPr>
        </p:nvSpPr>
        <p:spPr/>
        <p:txBody>
          <a:bodyPr/>
          <a:lstStyle/>
          <a:p>
            <a:fld id="{490AD8A2-07E5-465C-9C44-9F9F9187BFD0}" type="slidenum">
              <a:rPr lang="en-GB" smtClean="0"/>
              <a:t>49</a:t>
            </a:fld>
            <a:endParaRPr lang="en-GB"/>
          </a:p>
        </p:txBody>
      </p:sp>
    </p:spTree>
    <p:extLst>
      <p:ext uri="{BB962C8B-B14F-4D97-AF65-F5344CB8AC3E}">
        <p14:creationId xmlns:p14="http://schemas.microsoft.com/office/powerpoint/2010/main" val="1769264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Simulations are any efforts to create a real-world situation in an artificial environment. The “real-world” thing there is doing a lot of heavy lifting because many of these simulations can be very abstract even if others really strive for realism. </a:t>
            </a:r>
          </a:p>
          <a:p>
            <a:r>
              <a:rPr lang="en-GB" dirty="0"/>
              <a:t>Simulations are useful for generating data about rare, unpredictable, hard-to-identify-in-real-time, or unethical events like earthquakes, plane crashes, early stroke symptoms, catastrophic deprivation, etc. </a:t>
            </a:r>
          </a:p>
          <a:p>
            <a:endParaRPr lang="en-GB" dirty="0"/>
          </a:p>
          <a:p>
            <a:r>
              <a:rPr lang="en-GB" dirty="0"/>
              <a:t>But they are also common for predicting commonplace outcomes of complex interactions. For example, weather forecasts are produced by very large scale simulations that recreate the real-world as much as possible under the laws of physics (as we understand them now). </a:t>
            </a:r>
          </a:p>
          <a:p>
            <a:endParaRPr lang="en-GB" dirty="0"/>
          </a:p>
          <a:p>
            <a:r>
              <a:rPr lang="en-GB" dirty="0"/>
              <a:t>I have used computer simulations, mostly a type called agent-based models, to recreate how I think actors might behave in various situations according to the rules I think matter. Epidemiology studies is a popular example of this. It is unethical to go around infecting people with something to observe how it spreads, but we can simulate a population (who live and work in specific places, have specific hobbies, etc.) and an infection ( with an R rate, incubation period, etc. ) and see how many people become infected within a given time frame. Importantly, with simulations you can then re-run it thousands or millions of times, with the same or different circumstances. What happens if people live closer together? What if people ride bikes instead of take the bus? What if vaccines drop infection rates by half? So on and so forth. </a:t>
            </a:r>
          </a:p>
        </p:txBody>
      </p:sp>
      <p:sp>
        <p:nvSpPr>
          <p:cNvPr id="4" name="Slide Number Placeholder 3"/>
          <p:cNvSpPr>
            <a:spLocks noGrp="1"/>
          </p:cNvSpPr>
          <p:nvPr>
            <p:ph type="sldNum" sz="quarter" idx="5"/>
          </p:nvPr>
        </p:nvSpPr>
        <p:spPr/>
        <p:txBody>
          <a:bodyPr/>
          <a:lstStyle/>
          <a:p>
            <a:fld id="{490AD8A2-07E5-465C-9C44-9F9F9187BFD0}" type="slidenum">
              <a:rPr lang="en-GB" smtClean="0"/>
              <a:t>50</a:t>
            </a:fld>
            <a:endParaRPr lang="en-GB"/>
          </a:p>
        </p:txBody>
      </p:sp>
    </p:spTree>
    <p:extLst>
      <p:ext uri="{BB962C8B-B14F-4D97-AF65-F5344CB8AC3E}">
        <p14:creationId xmlns:p14="http://schemas.microsoft.com/office/powerpoint/2010/main" val="36479478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slides are available on the UKDS Synthetic data github repo if you want to review the information or follow these links. One of my team members will share the link to that GitHub repo now, just to make sure it is easy for everyone to access. </a:t>
            </a:r>
          </a:p>
          <a:p>
            <a:endParaRPr lang="en-GB" dirty="0"/>
          </a:p>
          <a:p>
            <a:r>
              <a:rPr lang="en-GB" dirty="0"/>
              <a:t>Also, because I will now be moving to that repo to show you how to access the code demo! If we all try to go there to access it live via Binder, it will fail. There are too many of us. But if you have jupyter notebook installed on your computer you can download it and run the notebooks on your own machine and code along live with me. </a:t>
            </a:r>
          </a:p>
          <a:p>
            <a:br>
              <a:rPr lang="en-GB" dirty="0"/>
            </a:br>
            <a:r>
              <a:rPr lang="en-GB" dirty="0"/>
              <a:t>Otherwise, you can watch me and then open it and code along at your own pace later. Remember, this session is being recorded and you can watch it back when you want to code along live if that helps. </a:t>
            </a:r>
          </a:p>
        </p:txBody>
      </p:sp>
      <p:sp>
        <p:nvSpPr>
          <p:cNvPr id="4" name="Slide Number Placeholder 3"/>
          <p:cNvSpPr>
            <a:spLocks noGrp="1"/>
          </p:cNvSpPr>
          <p:nvPr>
            <p:ph type="sldNum" sz="quarter" idx="5"/>
          </p:nvPr>
        </p:nvSpPr>
        <p:spPr/>
        <p:txBody>
          <a:bodyPr/>
          <a:lstStyle/>
          <a:p>
            <a:fld id="{490AD8A2-07E5-465C-9C44-9F9F9187BFD0}" type="slidenum">
              <a:rPr lang="en-GB" smtClean="0"/>
              <a:t>53</a:t>
            </a:fld>
            <a:endParaRPr lang="en-GB"/>
          </a:p>
        </p:txBody>
      </p:sp>
    </p:spTree>
    <p:extLst>
      <p:ext uri="{BB962C8B-B14F-4D97-AF65-F5344CB8AC3E}">
        <p14:creationId xmlns:p14="http://schemas.microsoft.com/office/powerpoint/2010/main" val="38360971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5D74495-12D2-6A47-A762-3590D56449EA}" type="slidenum">
              <a:rPr lang="en-US" smtClean="0"/>
              <a:t>55</a:t>
            </a:fld>
            <a:endParaRPr lang="en-US"/>
          </a:p>
        </p:txBody>
      </p:sp>
    </p:spTree>
    <p:extLst>
      <p:ext uri="{BB962C8B-B14F-4D97-AF65-F5344CB8AC3E}">
        <p14:creationId xmlns:p14="http://schemas.microsoft.com/office/powerpoint/2010/main" val="408716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ti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KDS TITLE">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335360" y="1772817"/>
            <a:ext cx="9697077" cy="1440159"/>
          </a:xfrm>
        </p:spPr>
        <p:txBody>
          <a:bodyPr>
            <a:normAutofit/>
          </a:bodyPr>
          <a:lstStyle>
            <a:lvl1pPr algn="l">
              <a:defRPr sz="4500" b="0" i="0" baseline="0">
                <a:latin typeface="Arial" panose="020B0604020202020204" pitchFamily="34" charset="0"/>
              </a:defRPr>
            </a:lvl1pPr>
          </a:lstStyle>
          <a:p>
            <a:r>
              <a:rPr lang="en-US" dirty="0"/>
              <a:t>Insert title here (45pt)</a:t>
            </a:r>
            <a:endParaRPr lang="en-GB" dirty="0"/>
          </a:p>
        </p:txBody>
      </p:sp>
      <p:sp>
        <p:nvSpPr>
          <p:cNvPr id="17" name="Subtitle 2"/>
          <p:cNvSpPr>
            <a:spLocks noGrp="1"/>
          </p:cNvSpPr>
          <p:nvPr>
            <p:ph type="subTitle" idx="1" hasCustomPrompt="1"/>
          </p:nvPr>
        </p:nvSpPr>
        <p:spPr>
          <a:xfrm>
            <a:off x="406401" y="3717033"/>
            <a:ext cx="9794055" cy="681681"/>
          </a:xfrm>
        </p:spPr>
        <p:txBody>
          <a:bodyPr>
            <a:noAutofit/>
          </a:bodyPr>
          <a:lstStyle>
            <a:lvl1pPr marL="0" indent="0" algn="l">
              <a:buNone/>
              <a:defRPr sz="3200" baseline="0">
                <a:solidFill>
                  <a:schemeClr val="tx1"/>
                </a:solidFill>
                <a:latin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Insert Name and Job Title on separate lines</a:t>
            </a:r>
            <a:endParaRPr lang="en-GB" dirty="0"/>
          </a:p>
        </p:txBody>
      </p:sp>
      <p:sp>
        <p:nvSpPr>
          <p:cNvPr id="22" name="Content Placeholder 21"/>
          <p:cNvSpPr>
            <a:spLocks noGrp="1"/>
          </p:cNvSpPr>
          <p:nvPr>
            <p:ph sz="quarter" idx="10" hasCustomPrompt="1"/>
          </p:nvPr>
        </p:nvSpPr>
        <p:spPr>
          <a:xfrm>
            <a:off x="406402" y="4581128"/>
            <a:ext cx="10010078" cy="1008462"/>
          </a:xfrm>
        </p:spPr>
        <p:txBody>
          <a:bodyPr>
            <a:noAutofit/>
          </a:bodyPr>
          <a:lstStyle>
            <a:lvl1pPr marL="0" indent="0">
              <a:buNone/>
              <a:defRPr sz="3200" baseline="0">
                <a:latin typeface="Arial" panose="020B0604020202020204" pitchFamily="34" charset="0"/>
              </a:defRPr>
            </a:lvl1pPr>
          </a:lstStyle>
          <a:p>
            <a:pPr lvl="0"/>
            <a:r>
              <a:rPr lang="en-GB" dirty="0"/>
              <a:t>Name of meeting and place followed by date on a separate line</a:t>
            </a:r>
          </a:p>
        </p:txBody>
      </p:sp>
      <p:sp>
        <p:nvSpPr>
          <p:cNvPr id="3" name="Rectangle 2"/>
          <p:cNvSpPr/>
          <p:nvPr userDrawn="1"/>
        </p:nvSpPr>
        <p:spPr>
          <a:xfrm>
            <a:off x="466048" y="6237312"/>
            <a:ext cx="6734539" cy="230832"/>
          </a:xfrm>
          <a:prstGeom prst="rect">
            <a:avLst/>
          </a:prstGeom>
        </p:spPr>
        <p:txBody>
          <a:bodyPr wrap="square">
            <a:spAutoFit/>
          </a:bodyPr>
          <a:lstStyle/>
          <a:p>
            <a:r>
              <a:rPr kumimoji="0" lang="en-GB"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Copyright © 202 UK Data Service. Created by Cathie Marsh Institute, University of Manchester</a:t>
            </a:r>
            <a:endParaRPr lang="en-GB" sz="900"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1384" y="6498098"/>
            <a:ext cx="987151" cy="171261"/>
          </a:xfrm>
          <a:prstGeom prst="rect">
            <a:avLst/>
          </a:prstGeom>
        </p:spPr>
      </p:pic>
      <p:pic>
        <p:nvPicPr>
          <p:cNvPr id="4" name="Picture 3" descr="UK Data Service logo" title="UK Data Service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9745" y="575904"/>
            <a:ext cx="2803927" cy="667256"/>
          </a:xfrm>
          <a:prstGeom prst="rect">
            <a:avLst/>
          </a:prstGeom>
        </p:spPr>
      </p:pic>
    </p:spTree>
    <p:extLst>
      <p:ext uri="{BB962C8B-B14F-4D97-AF65-F5344CB8AC3E}">
        <p14:creationId xmlns:p14="http://schemas.microsoft.com/office/powerpoint/2010/main" val="1749587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UKD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5360" y="260648"/>
            <a:ext cx="10972800" cy="1143000"/>
          </a:xfrm>
        </p:spPr>
        <p:txBody>
          <a:bodyPr>
            <a:normAutofit/>
          </a:bodyPr>
          <a:lstStyle>
            <a:lvl1pPr algn="l">
              <a:defRPr sz="4500">
                <a:latin typeface="Arial" panose="020B0604020202020204" pitchFamily="34" charset="0"/>
              </a:defRPr>
            </a:lvl1pPr>
          </a:lstStyle>
          <a:p>
            <a:r>
              <a:rPr lang="en-US" dirty="0"/>
              <a:t>Slide title here (sentence case)</a:t>
            </a:r>
            <a:endParaRPr lang="en-GB" dirty="0"/>
          </a:p>
        </p:txBody>
      </p:sp>
      <p:sp>
        <p:nvSpPr>
          <p:cNvPr id="3" name="Content Placeholder 2"/>
          <p:cNvSpPr>
            <a:spLocks noGrp="1"/>
          </p:cNvSpPr>
          <p:nvPr>
            <p:ph idx="1" hasCustomPrompt="1"/>
          </p:nvPr>
        </p:nvSpPr>
        <p:spPr>
          <a:xfrm>
            <a:off x="380300" y="1643459"/>
            <a:ext cx="10972800" cy="5141168"/>
          </a:xfrm>
        </p:spPr>
        <p:txBody>
          <a:bodyPr/>
          <a:lstStyle>
            <a:lvl1pPr>
              <a:defRPr sz="3800" baseline="0">
                <a:latin typeface="Arial" panose="020B0604020202020204" pitchFamily="34" charset="0"/>
              </a:defRPr>
            </a:lvl1pPr>
            <a:lvl2pPr marL="557213" indent="-214313">
              <a:buFont typeface="Arial" pitchFamily="34" charset="0"/>
              <a:buChar char="•"/>
              <a:defRPr sz="3600" baseline="0">
                <a:latin typeface="Arial" panose="020B0604020202020204" pitchFamily="34" charset="0"/>
              </a:defRPr>
            </a:lvl2pPr>
            <a:lvl3pPr marL="942975" indent="-257175">
              <a:buFont typeface="Arial" pitchFamily="34" charset="0"/>
              <a:buChar char="•"/>
              <a:defRPr sz="3200" baseline="0">
                <a:latin typeface="Arial" panose="020B0604020202020204" pitchFamily="34" charset="0"/>
              </a:defRPr>
            </a:lvl3pPr>
          </a:lstStyle>
          <a:p>
            <a:r>
              <a:rPr lang="en-GB" dirty="0"/>
              <a:t>Bullet points are in sentence case</a:t>
            </a:r>
          </a:p>
          <a:p>
            <a:pPr lvl="1"/>
            <a:r>
              <a:rPr lang="en-US" dirty="0"/>
              <a:t>Even second level points</a:t>
            </a:r>
          </a:p>
          <a:p>
            <a:pPr lvl="2"/>
            <a:r>
              <a:rPr lang="en-US" dirty="0"/>
              <a:t>Third level (no smaller than 32 </a:t>
            </a:r>
            <a:r>
              <a:rPr lang="en-US" dirty="0" err="1"/>
              <a:t>pt</a:t>
            </a:r>
            <a:r>
              <a:rPr lang="en-US" dirty="0"/>
              <a:t> for widescreen)</a:t>
            </a:r>
          </a:p>
        </p:txBody>
      </p:sp>
    </p:spTree>
    <p:extLst>
      <p:ext uri="{BB962C8B-B14F-4D97-AF65-F5344CB8AC3E}">
        <p14:creationId xmlns:p14="http://schemas.microsoft.com/office/powerpoint/2010/main" val="370981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KDS SLIDE_with-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5360" y="260648"/>
            <a:ext cx="10972800" cy="1143000"/>
          </a:xfrm>
        </p:spPr>
        <p:txBody>
          <a:bodyPr>
            <a:normAutofit/>
          </a:bodyPr>
          <a:lstStyle>
            <a:lvl1pPr algn="l">
              <a:defRPr sz="4500">
                <a:latin typeface="Arial" panose="020B0604020202020204" pitchFamily="34" charset="0"/>
              </a:defRPr>
            </a:lvl1pPr>
          </a:lstStyle>
          <a:p>
            <a:r>
              <a:rPr lang="en-US" dirty="0"/>
              <a:t>Slide title here (sentence case)</a:t>
            </a:r>
            <a:endParaRPr lang="en-GB" dirty="0"/>
          </a:p>
        </p:txBody>
      </p:sp>
      <p:sp>
        <p:nvSpPr>
          <p:cNvPr id="7" name="Table Placeholder 6"/>
          <p:cNvSpPr>
            <a:spLocks noGrp="1"/>
          </p:cNvSpPr>
          <p:nvPr>
            <p:ph type="tbl" sz="quarter" idx="10" hasCustomPrompt="1"/>
          </p:nvPr>
        </p:nvSpPr>
        <p:spPr>
          <a:xfrm>
            <a:off x="310071" y="1556792"/>
            <a:ext cx="11018440" cy="5099050"/>
          </a:xfrm>
        </p:spPr>
        <p:txBody>
          <a:bodyPr>
            <a:normAutofit/>
          </a:bodyPr>
          <a:lstStyle>
            <a:lvl1pPr>
              <a:defRPr sz="3200"/>
            </a:lvl1pPr>
          </a:lstStyle>
          <a:p>
            <a:r>
              <a:rPr lang="en-GB" dirty="0"/>
              <a:t>Insert table title</a:t>
            </a:r>
          </a:p>
        </p:txBody>
      </p:sp>
      <p:graphicFrame>
        <p:nvGraphicFramePr>
          <p:cNvPr id="8" name="Table 7"/>
          <p:cNvGraphicFramePr>
            <a:graphicFrameLocks noGrp="1"/>
          </p:cNvGraphicFramePr>
          <p:nvPr userDrawn="1"/>
        </p:nvGraphicFramePr>
        <p:xfrm>
          <a:off x="623392" y="2492896"/>
          <a:ext cx="8128000" cy="1483360"/>
        </p:xfrm>
        <a:graphic>
          <a:graphicData uri="http://schemas.openxmlformats.org/drawingml/2006/table">
            <a:tbl>
              <a:tblPr firstRow="1">
                <a:tableStyleId>{5C22544A-7EE6-4342-B048-85BDC9FD1C3A}</a:tableStyleId>
              </a:tblPr>
              <a:tblGrid>
                <a:gridCol w="2032000">
                  <a:extLst>
                    <a:ext uri="{9D8B030D-6E8A-4147-A177-3AD203B41FA5}">
                      <a16:colId xmlns:a16="http://schemas.microsoft.com/office/drawing/2014/main" val="199538263"/>
                    </a:ext>
                  </a:extLst>
                </a:gridCol>
                <a:gridCol w="2032000">
                  <a:extLst>
                    <a:ext uri="{9D8B030D-6E8A-4147-A177-3AD203B41FA5}">
                      <a16:colId xmlns:a16="http://schemas.microsoft.com/office/drawing/2014/main" val="4081254402"/>
                    </a:ext>
                  </a:extLst>
                </a:gridCol>
                <a:gridCol w="2032000">
                  <a:extLst>
                    <a:ext uri="{9D8B030D-6E8A-4147-A177-3AD203B41FA5}">
                      <a16:colId xmlns:a16="http://schemas.microsoft.com/office/drawing/2014/main" val="4201696562"/>
                    </a:ext>
                  </a:extLst>
                </a:gridCol>
                <a:gridCol w="2032000">
                  <a:extLst>
                    <a:ext uri="{9D8B030D-6E8A-4147-A177-3AD203B41FA5}">
                      <a16:colId xmlns:a16="http://schemas.microsoft.com/office/drawing/2014/main" val="4248670247"/>
                    </a:ext>
                  </a:extLst>
                </a:gridCol>
              </a:tblGrid>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18505858"/>
                  </a:ext>
                </a:extLst>
              </a:tr>
              <a:tr h="370840">
                <a:tc>
                  <a:txBody>
                    <a:bodyPr/>
                    <a:lstStyle/>
                    <a:p>
                      <a:endParaRPr lang="en-GB" dirty="0"/>
                    </a:p>
                  </a:txBody>
                  <a:tcPr/>
                </a:tc>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586821533"/>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825856158"/>
                  </a:ext>
                </a:extLst>
              </a:tr>
              <a:tr h="370840">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502191922"/>
                  </a:ext>
                </a:extLst>
              </a:tr>
            </a:tbl>
          </a:graphicData>
        </a:graphic>
      </p:graphicFrame>
    </p:spTree>
    <p:extLst>
      <p:ext uri="{BB962C8B-B14F-4D97-AF65-F5344CB8AC3E}">
        <p14:creationId xmlns:p14="http://schemas.microsoft.com/office/powerpoint/2010/main" val="2393859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KDS FINAL">
    <p:spTree>
      <p:nvGrpSpPr>
        <p:cNvPr id="1" name=""/>
        <p:cNvGrpSpPr/>
        <p:nvPr/>
      </p:nvGrpSpPr>
      <p:grpSpPr>
        <a:xfrm>
          <a:off x="0" y="0"/>
          <a:ext cx="0" cy="0"/>
          <a:chOff x="0" y="0"/>
          <a:chExt cx="0" cy="0"/>
        </a:xfrm>
      </p:grpSpPr>
      <p:sp>
        <p:nvSpPr>
          <p:cNvPr id="9" name="Content Placeholder 8"/>
          <p:cNvSpPr>
            <a:spLocks noGrp="1"/>
          </p:cNvSpPr>
          <p:nvPr>
            <p:ph sz="quarter" idx="14" hasCustomPrompt="1"/>
          </p:nvPr>
        </p:nvSpPr>
        <p:spPr>
          <a:xfrm>
            <a:off x="623394" y="2420888"/>
            <a:ext cx="6720417" cy="576064"/>
          </a:xfrm>
        </p:spPr>
        <p:txBody>
          <a:bodyPr>
            <a:noAutofit/>
          </a:bodyPr>
          <a:lstStyle>
            <a:lvl1pPr marL="0" indent="0">
              <a:buNone/>
              <a:defRPr sz="3200" baseline="0">
                <a:solidFill>
                  <a:schemeClr val="tx1"/>
                </a:solidFill>
                <a:latin typeface="Arial" panose="020B0604020202020204" pitchFamily="34" charset="0"/>
              </a:defRPr>
            </a:lvl1pPr>
          </a:lstStyle>
          <a:p>
            <a:pPr lvl="0"/>
            <a:r>
              <a:rPr lang="en-GB" dirty="0"/>
              <a:t>Contact details:</a:t>
            </a:r>
          </a:p>
        </p:txBody>
      </p:sp>
      <p:sp>
        <p:nvSpPr>
          <p:cNvPr id="11" name="Content Placeholder 10"/>
          <p:cNvSpPr>
            <a:spLocks noGrp="1"/>
          </p:cNvSpPr>
          <p:nvPr>
            <p:ph sz="quarter" idx="15" hasCustomPrompt="1"/>
          </p:nvPr>
        </p:nvSpPr>
        <p:spPr>
          <a:xfrm>
            <a:off x="624417" y="3213103"/>
            <a:ext cx="6720416" cy="576263"/>
          </a:xfrm>
        </p:spPr>
        <p:txBody>
          <a:bodyPr>
            <a:noAutofit/>
          </a:bodyPr>
          <a:lstStyle>
            <a:lvl1pPr marL="0" indent="0">
              <a:buNone/>
              <a:defRPr sz="3200" baseline="0">
                <a:latin typeface="Arial" panose="020B0604020202020204" pitchFamily="34" charset="0"/>
              </a:defRPr>
            </a:lvl1pPr>
          </a:lstStyle>
          <a:p>
            <a:pPr lvl="0"/>
            <a:r>
              <a:rPr lang="en-GB" dirty="0"/>
              <a:t>Name</a:t>
            </a:r>
          </a:p>
        </p:txBody>
      </p:sp>
      <p:sp>
        <p:nvSpPr>
          <p:cNvPr id="4" name="Content Placeholder 3"/>
          <p:cNvSpPr>
            <a:spLocks noGrp="1"/>
          </p:cNvSpPr>
          <p:nvPr>
            <p:ph sz="quarter" idx="16" hasCustomPrompt="1"/>
          </p:nvPr>
        </p:nvSpPr>
        <p:spPr>
          <a:xfrm>
            <a:off x="624417" y="4076703"/>
            <a:ext cx="6720416" cy="720725"/>
          </a:xfrm>
        </p:spPr>
        <p:txBody>
          <a:bodyPr>
            <a:normAutofit/>
          </a:bodyPr>
          <a:lstStyle>
            <a:lvl1pPr marL="0" indent="0">
              <a:buFontTx/>
              <a:buNone/>
              <a:defRPr sz="3200"/>
            </a:lvl1pPr>
          </a:lstStyle>
          <a:p>
            <a:pPr lvl="0"/>
            <a:r>
              <a:rPr lang="en-GB" dirty="0"/>
              <a:t>Email</a:t>
            </a:r>
          </a:p>
        </p:txBody>
      </p:sp>
      <p:sp>
        <p:nvSpPr>
          <p:cNvPr id="3" name="TextBox 2"/>
          <p:cNvSpPr txBox="1"/>
          <p:nvPr userDrawn="1"/>
        </p:nvSpPr>
        <p:spPr>
          <a:xfrm>
            <a:off x="335360" y="505782"/>
            <a:ext cx="7891453" cy="784830"/>
          </a:xfrm>
          <a:prstGeom prst="rect">
            <a:avLst/>
          </a:prstGeom>
          <a:noFill/>
        </p:spPr>
        <p:txBody>
          <a:bodyPr wrap="square" rtlCol="0">
            <a:spAutoFit/>
          </a:bodyPr>
          <a:lstStyle/>
          <a:p>
            <a:r>
              <a:rPr lang="en-GB" sz="4500" dirty="0">
                <a:latin typeface="Arial" panose="020B0604020202020204" pitchFamily="34" charset="0"/>
              </a:rPr>
              <a:t>Questions</a:t>
            </a:r>
          </a:p>
        </p:txBody>
      </p:sp>
      <p:pic>
        <p:nvPicPr>
          <p:cNvPr id="7" name="Picture 6" descr="UK Data Service logo" title="UK Data Service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9768408" y="6125671"/>
            <a:ext cx="1872208" cy="445533"/>
          </a:xfrm>
          <a:prstGeom prst="rect">
            <a:avLst/>
          </a:prstGeom>
          <a:noFill/>
        </p:spPr>
      </p:pic>
    </p:spTree>
    <p:extLst>
      <p:ext uri="{BB962C8B-B14F-4D97-AF65-F5344CB8AC3E}">
        <p14:creationId xmlns:p14="http://schemas.microsoft.com/office/powerpoint/2010/main" val="4043618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177555"/>
            <a:ext cx="11360800" cy="1179413"/>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hasCustomPrompt="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sz="3733">
                <a:solidFill>
                  <a:schemeClr val="tx1"/>
                </a:solidFill>
              </a:defRPr>
            </a:lvl1pPr>
            <a:lvl2pPr marL="1219170" lvl="1" indent="-423323">
              <a:spcBef>
                <a:spcPts val="2133"/>
              </a:spcBef>
              <a:spcAft>
                <a:spcPts val="0"/>
              </a:spcAft>
              <a:buSzPts val="1400"/>
              <a:buChar char="○"/>
              <a:defRPr sz="3200">
                <a:solidFill>
                  <a:schemeClr val="tx1"/>
                </a:solidFill>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r>
              <a:rPr lang="en-GB"/>
              <a:t>Test</a:t>
            </a:r>
          </a:p>
          <a:p>
            <a:pPr lvl="1"/>
            <a:r>
              <a:rPr lang="en-GB"/>
              <a:t>test</a:t>
            </a: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77249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UKDS FINAL">
    <p:spTree>
      <p:nvGrpSpPr>
        <p:cNvPr id="1" name=""/>
        <p:cNvGrpSpPr/>
        <p:nvPr/>
      </p:nvGrpSpPr>
      <p:grpSpPr>
        <a:xfrm>
          <a:off x="0" y="0"/>
          <a:ext cx="0" cy="0"/>
          <a:chOff x="0" y="0"/>
          <a:chExt cx="0" cy="0"/>
        </a:xfrm>
      </p:grpSpPr>
      <p:sp>
        <p:nvSpPr>
          <p:cNvPr id="9" name="Content Placeholder 8"/>
          <p:cNvSpPr>
            <a:spLocks noGrp="1"/>
          </p:cNvSpPr>
          <p:nvPr>
            <p:ph sz="quarter" idx="14" hasCustomPrompt="1"/>
          </p:nvPr>
        </p:nvSpPr>
        <p:spPr>
          <a:xfrm>
            <a:off x="623396" y="2420888"/>
            <a:ext cx="6720417" cy="576064"/>
          </a:xfrm>
        </p:spPr>
        <p:txBody>
          <a:bodyPr>
            <a:noAutofit/>
          </a:bodyPr>
          <a:lstStyle>
            <a:lvl1pPr marL="0" indent="0">
              <a:buNone/>
              <a:defRPr sz="3200" baseline="0">
                <a:solidFill>
                  <a:schemeClr val="tx1"/>
                </a:solidFill>
                <a:latin typeface="Arial" panose="020B0604020202020204" pitchFamily="34" charset="0"/>
              </a:defRPr>
            </a:lvl1pPr>
          </a:lstStyle>
          <a:p>
            <a:pPr lvl="0"/>
            <a:r>
              <a:rPr lang="en-GB"/>
              <a:t>Contact details:</a:t>
            </a:r>
          </a:p>
        </p:txBody>
      </p:sp>
      <p:sp>
        <p:nvSpPr>
          <p:cNvPr id="11" name="Content Placeholder 10"/>
          <p:cNvSpPr>
            <a:spLocks noGrp="1"/>
          </p:cNvSpPr>
          <p:nvPr>
            <p:ph sz="quarter" idx="15" hasCustomPrompt="1"/>
          </p:nvPr>
        </p:nvSpPr>
        <p:spPr>
          <a:xfrm>
            <a:off x="624417" y="3213104"/>
            <a:ext cx="6720416" cy="576263"/>
          </a:xfrm>
        </p:spPr>
        <p:txBody>
          <a:bodyPr>
            <a:noAutofit/>
          </a:bodyPr>
          <a:lstStyle>
            <a:lvl1pPr marL="0" indent="0">
              <a:buNone/>
              <a:defRPr sz="3200" baseline="0">
                <a:latin typeface="Arial" panose="020B0604020202020204" pitchFamily="34" charset="0"/>
              </a:defRPr>
            </a:lvl1pPr>
          </a:lstStyle>
          <a:p>
            <a:pPr lvl="0"/>
            <a:r>
              <a:rPr lang="en-GB"/>
              <a:t>Name</a:t>
            </a:r>
          </a:p>
        </p:txBody>
      </p:sp>
      <p:sp>
        <p:nvSpPr>
          <p:cNvPr id="4" name="Content Placeholder 3"/>
          <p:cNvSpPr>
            <a:spLocks noGrp="1"/>
          </p:cNvSpPr>
          <p:nvPr>
            <p:ph sz="quarter" idx="16" hasCustomPrompt="1"/>
          </p:nvPr>
        </p:nvSpPr>
        <p:spPr>
          <a:xfrm>
            <a:off x="624417" y="4076704"/>
            <a:ext cx="6720416" cy="720725"/>
          </a:xfrm>
        </p:spPr>
        <p:txBody>
          <a:bodyPr>
            <a:normAutofit/>
          </a:bodyPr>
          <a:lstStyle>
            <a:lvl1pPr marL="0" indent="0">
              <a:buFontTx/>
              <a:buNone/>
              <a:defRPr sz="3200"/>
            </a:lvl1pPr>
          </a:lstStyle>
          <a:p>
            <a:pPr lvl="0"/>
            <a:r>
              <a:rPr lang="en-GB"/>
              <a:t>Email</a:t>
            </a:r>
          </a:p>
        </p:txBody>
      </p:sp>
      <p:pic>
        <p:nvPicPr>
          <p:cNvPr id="7" name="Picture 6" descr="UK Data Service logo" title="UK Data Service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9768408" y="6125672"/>
            <a:ext cx="1872208" cy="445533"/>
          </a:xfrm>
          <a:prstGeom prst="rect">
            <a:avLst/>
          </a:prstGeom>
          <a:noFill/>
        </p:spPr>
      </p:pic>
      <p:sp>
        <p:nvSpPr>
          <p:cNvPr id="8" name="Google Shape;6;p1">
            <a:extLst>
              <a:ext uri="{FF2B5EF4-FFF2-40B4-BE49-F238E27FC236}">
                <a16:creationId xmlns:a16="http://schemas.microsoft.com/office/drawing/2014/main" id="{D21881F6-AF7D-4E98-97FD-F313AD22E7DD}"/>
              </a:ext>
            </a:extLst>
          </p:cNvPr>
          <p:cNvSpPr txBox="1">
            <a:spLocks noGrp="1"/>
          </p:cNvSpPr>
          <p:nvPr>
            <p:ph type="title" hasCustomPrompt="1"/>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3733">
                <a:solidFill>
                  <a:schemeClr val="dk1"/>
                </a:solidFill>
              </a:defRPr>
            </a:lvl1pPr>
            <a:lvl2pPr lvl="1">
              <a:spcBef>
                <a:spcPts val="0"/>
              </a:spcBef>
              <a:spcAft>
                <a:spcPts val="0"/>
              </a:spcAft>
              <a:buClr>
                <a:schemeClr val="dk1"/>
              </a:buClr>
              <a:buSzPts val="2800"/>
              <a:buNone/>
              <a:defRPr sz="3733">
                <a:solidFill>
                  <a:schemeClr val="dk1"/>
                </a:solidFill>
              </a:defRPr>
            </a:lvl2pPr>
            <a:lvl3pPr lvl="2">
              <a:spcBef>
                <a:spcPts val="0"/>
              </a:spcBef>
              <a:spcAft>
                <a:spcPts val="0"/>
              </a:spcAft>
              <a:buClr>
                <a:schemeClr val="dk1"/>
              </a:buClr>
              <a:buSzPts val="2800"/>
              <a:buNone/>
              <a:defRPr sz="3733">
                <a:solidFill>
                  <a:schemeClr val="dk1"/>
                </a:solidFill>
              </a:defRPr>
            </a:lvl3pPr>
            <a:lvl4pPr lvl="3">
              <a:spcBef>
                <a:spcPts val="0"/>
              </a:spcBef>
              <a:spcAft>
                <a:spcPts val="0"/>
              </a:spcAft>
              <a:buClr>
                <a:schemeClr val="dk1"/>
              </a:buClr>
              <a:buSzPts val="2800"/>
              <a:buNone/>
              <a:defRPr sz="3733">
                <a:solidFill>
                  <a:schemeClr val="dk1"/>
                </a:solidFill>
              </a:defRPr>
            </a:lvl4pPr>
            <a:lvl5pPr lvl="4">
              <a:spcBef>
                <a:spcPts val="0"/>
              </a:spcBef>
              <a:spcAft>
                <a:spcPts val="0"/>
              </a:spcAft>
              <a:buClr>
                <a:schemeClr val="dk1"/>
              </a:buClr>
              <a:buSzPts val="2800"/>
              <a:buNone/>
              <a:defRPr sz="3733">
                <a:solidFill>
                  <a:schemeClr val="dk1"/>
                </a:solidFill>
              </a:defRPr>
            </a:lvl5pPr>
            <a:lvl6pPr lvl="5">
              <a:spcBef>
                <a:spcPts val="0"/>
              </a:spcBef>
              <a:spcAft>
                <a:spcPts val="0"/>
              </a:spcAft>
              <a:buClr>
                <a:schemeClr val="dk1"/>
              </a:buClr>
              <a:buSzPts val="2800"/>
              <a:buNone/>
              <a:defRPr sz="3733">
                <a:solidFill>
                  <a:schemeClr val="dk1"/>
                </a:solidFill>
              </a:defRPr>
            </a:lvl6pPr>
            <a:lvl7pPr lvl="6">
              <a:spcBef>
                <a:spcPts val="0"/>
              </a:spcBef>
              <a:spcAft>
                <a:spcPts val="0"/>
              </a:spcAft>
              <a:buClr>
                <a:schemeClr val="dk1"/>
              </a:buClr>
              <a:buSzPts val="2800"/>
              <a:buNone/>
              <a:defRPr sz="3733">
                <a:solidFill>
                  <a:schemeClr val="dk1"/>
                </a:solidFill>
              </a:defRPr>
            </a:lvl7pPr>
            <a:lvl8pPr lvl="7">
              <a:spcBef>
                <a:spcPts val="0"/>
              </a:spcBef>
              <a:spcAft>
                <a:spcPts val="0"/>
              </a:spcAft>
              <a:buClr>
                <a:schemeClr val="dk1"/>
              </a:buClr>
              <a:buSzPts val="2800"/>
              <a:buNone/>
              <a:defRPr sz="3733">
                <a:solidFill>
                  <a:schemeClr val="dk1"/>
                </a:solidFill>
              </a:defRPr>
            </a:lvl8pPr>
            <a:lvl9pPr lvl="8">
              <a:spcBef>
                <a:spcPts val="0"/>
              </a:spcBef>
              <a:spcAft>
                <a:spcPts val="0"/>
              </a:spcAft>
              <a:buClr>
                <a:schemeClr val="dk1"/>
              </a:buClr>
              <a:buSzPts val="2800"/>
              <a:buNone/>
              <a:defRPr sz="3733">
                <a:solidFill>
                  <a:schemeClr val="dk1"/>
                </a:solidFill>
              </a:defRPr>
            </a:lvl9pPr>
          </a:lstStyle>
          <a:p>
            <a:r>
              <a:rPr lang="en-GB"/>
              <a:t>Questions</a:t>
            </a:r>
            <a:endParaRPr/>
          </a:p>
        </p:txBody>
      </p:sp>
    </p:spTree>
    <p:extLst>
      <p:ext uri="{BB962C8B-B14F-4D97-AF65-F5344CB8AC3E}">
        <p14:creationId xmlns:p14="http://schemas.microsoft.com/office/powerpoint/2010/main" val="19667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5FFB9A-F3F6-8946-9ABA-98B8C06C07F5}"/>
              </a:ext>
            </a:extLst>
          </p:cNvPr>
          <p:cNvSpPr>
            <a:spLocks noGrp="1"/>
          </p:cNvSpPr>
          <p:nvPr>
            <p:ph type="title" hasCustomPrompt="1"/>
          </p:nvPr>
        </p:nvSpPr>
        <p:spPr>
          <a:xfrm>
            <a:off x="831851" y="1209040"/>
            <a:ext cx="5264150" cy="2578867"/>
          </a:xfrm>
        </p:spPr>
        <p:txBody>
          <a:bodyPr anchor="b">
            <a:normAutofit/>
          </a:bodyPr>
          <a:lstStyle>
            <a:lvl1pPr>
              <a:defRPr sz="4400">
                <a:solidFill>
                  <a:schemeClr val="tx1"/>
                </a:solidFill>
              </a:defRPr>
            </a:lvl1pPr>
          </a:lstStyle>
          <a:p>
            <a:r>
              <a:rPr lang="en-GB" dirty="0"/>
              <a:t>Click to edit Master title style w/ image</a:t>
            </a:r>
            <a:endParaRPr lang="en-US" dirty="0"/>
          </a:p>
        </p:txBody>
      </p:sp>
      <p:sp>
        <p:nvSpPr>
          <p:cNvPr id="8" name="Text Placeholder 2">
            <a:extLst>
              <a:ext uri="{FF2B5EF4-FFF2-40B4-BE49-F238E27FC236}">
                <a16:creationId xmlns:a16="http://schemas.microsoft.com/office/drawing/2014/main" id="{5333B02D-6238-4843-B9D5-1E272AAC556A}"/>
              </a:ext>
            </a:extLst>
          </p:cNvPr>
          <p:cNvSpPr>
            <a:spLocks noGrp="1"/>
          </p:cNvSpPr>
          <p:nvPr>
            <p:ph type="body" idx="1"/>
          </p:nvPr>
        </p:nvSpPr>
        <p:spPr>
          <a:xfrm>
            <a:off x="831851" y="3814895"/>
            <a:ext cx="526415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4" name="Logo" descr="UK Data Service logo">
            <a:extLst>
              <a:ext uri="{FF2B5EF4-FFF2-40B4-BE49-F238E27FC236}">
                <a16:creationId xmlns:a16="http://schemas.microsoft.com/office/drawing/2014/main" id="{76C60B7B-315C-B548-A043-C196F7D38CB3}"/>
              </a:ext>
            </a:extLst>
          </p:cNvPr>
          <p:cNvPicPr>
            <a:picLocks noChangeAspect="1"/>
          </p:cNvPicPr>
          <p:nvPr userDrawn="1"/>
        </p:nvPicPr>
        <p:blipFill>
          <a:blip r:embed="rId2"/>
          <a:stretch>
            <a:fillRect/>
          </a:stretch>
        </p:blipFill>
        <p:spPr>
          <a:xfrm>
            <a:off x="599440" y="182880"/>
            <a:ext cx="3101521" cy="1059831"/>
          </a:xfrm>
          <a:prstGeom prst="rect">
            <a:avLst/>
          </a:prstGeom>
        </p:spPr>
      </p:pic>
      <p:sp>
        <p:nvSpPr>
          <p:cNvPr id="13" name="Picture Placeholder 2" descr="[Image description to go here]">
            <a:extLst>
              <a:ext uri="{FF2B5EF4-FFF2-40B4-BE49-F238E27FC236}">
                <a16:creationId xmlns:a16="http://schemas.microsoft.com/office/drawing/2014/main" id="{3C9C5F8A-2236-FE4B-91BF-E087092BF608}"/>
              </a:ext>
            </a:extLst>
          </p:cNvPr>
          <p:cNvSpPr>
            <a:spLocks noGrp="1"/>
          </p:cNvSpPr>
          <p:nvPr>
            <p:ph type="pic" idx="13" hasCustomPrompt="1"/>
          </p:nvPr>
        </p:nvSpPr>
        <p:spPr>
          <a:xfrm>
            <a:off x="8077200" y="1"/>
            <a:ext cx="4114800" cy="6857999"/>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Place black and white image for generic/service content or </a:t>
            </a:r>
            <a:r>
              <a:rPr lang="en-US" dirty="0" err="1"/>
              <a:t>colour</a:t>
            </a:r>
            <a:r>
              <a:rPr lang="en-US" dirty="0"/>
              <a:t> image for ‘impact’ content.</a:t>
            </a:r>
          </a:p>
        </p:txBody>
      </p:sp>
      <p:sp>
        <p:nvSpPr>
          <p:cNvPr id="12" name="Picture Placeholder 2">
            <a:extLst>
              <a:ext uri="{FF2B5EF4-FFF2-40B4-BE49-F238E27FC236}">
                <a16:creationId xmlns:a16="http://schemas.microsoft.com/office/drawing/2014/main" id="{F2791F5A-39D3-DC4F-AA9D-8EF80ABB167C}"/>
              </a:ext>
              <a:ext uri="{C183D7F6-B498-43B3-948B-1728B52AA6E4}">
                <adec:decorative xmlns:adec="http://schemas.microsoft.com/office/drawing/2017/decorative" val="1"/>
              </a:ext>
            </a:extLst>
          </p:cNvPr>
          <p:cNvSpPr>
            <a:spLocks noGrp="1"/>
          </p:cNvSpPr>
          <p:nvPr>
            <p:ph type="pic" idx="14" hasCustomPrompt="1"/>
          </p:nvPr>
        </p:nvSpPr>
        <p:spPr>
          <a:xfrm>
            <a:off x="6213474" y="2388526"/>
            <a:ext cx="3727451" cy="2852737"/>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Place hex graphic here to overlay black and white image.</a:t>
            </a:r>
          </a:p>
        </p:txBody>
      </p:sp>
      <p:pic>
        <p:nvPicPr>
          <p:cNvPr id="10" name="Picture 9" descr="UKRI Economic and Social Research Council logo">
            <a:extLst>
              <a:ext uri="{FF2B5EF4-FFF2-40B4-BE49-F238E27FC236}">
                <a16:creationId xmlns:a16="http://schemas.microsoft.com/office/drawing/2014/main" id="{B406835A-EC17-A04A-BE37-2B9F3923BD3C}"/>
              </a:ext>
            </a:extLst>
          </p:cNvPr>
          <p:cNvPicPr>
            <a:picLocks noChangeAspect="1"/>
          </p:cNvPicPr>
          <p:nvPr userDrawn="1"/>
        </p:nvPicPr>
        <p:blipFill>
          <a:blip r:embed="rId3"/>
          <a:stretch>
            <a:fillRect/>
          </a:stretch>
        </p:blipFill>
        <p:spPr>
          <a:xfrm>
            <a:off x="831851" y="5527040"/>
            <a:ext cx="2210353" cy="560520"/>
          </a:xfrm>
          <a:prstGeom prst="rect">
            <a:avLst/>
          </a:prstGeom>
        </p:spPr>
      </p:pic>
      <p:sp>
        <p:nvSpPr>
          <p:cNvPr id="4" name="Date Placeholder 3">
            <a:extLst>
              <a:ext uri="{FF2B5EF4-FFF2-40B4-BE49-F238E27FC236}">
                <a16:creationId xmlns:a16="http://schemas.microsoft.com/office/drawing/2014/main" id="{7EDFE899-5F81-544E-A915-E6320293E09D}"/>
              </a:ext>
            </a:extLst>
          </p:cNvPr>
          <p:cNvSpPr>
            <a:spLocks noGrp="1"/>
          </p:cNvSpPr>
          <p:nvPr>
            <p:ph type="dt" sz="half" idx="10"/>
          </p:nvPr>
        </p:nvSpPr>
        <p:spPr/>
        <p:txBody>
          <a:bodyPr/>
          <a:lstStyle/>
          <a:p>
            <a:fld id="{7AB3EE13-5FCB-9C42-A93B-39A2047ADC20}" type="datetime1">
              <a:rPr lang="en-GB" smtClean="0"/>
              <a:t>10/03/2026</a:t>
            </a:fld>
            <a:endParaRPr lang="en-US" dirty="0"/>
          </a:p>
        </p:txBody>
      </p:sp>
      <p:sp>
        <p:nvSpPr>
          <p:cNvPr id="5" name="Footer Placeholder 4">
            <a:extLst>
              <a:ext uri="{FF2B5EF4-FFF2-40B4-BE49-F238E27FC236}">
                <a16:creationId xmlns:a16="http://schemas.microsoft.com/office/drawing/2014/main" id="{2FB821E7-45D7-F74F-B564-964148DA00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9A7D14-C32E-2C42-98CD-EAC78D9BD1FA}"/>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374053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Single text block (Colour Hex)">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B4B117-0BB7-B947-BBCE-4B75B6FF2C13}"/>
              </a:ext>
            </a:extLst>
          </p:cNvPr>
          <p:cNvSpPr>
            <a:spLocks noGrp="1"/>
          </p:cNvSpPr>
          <p:nvPr>
            <p:ph type="title"/>
          </p:nvPr>
        </p:nvSpPr>
        <p:spPr>
          <a:xfrm>
            <a:off x="838200" y="538123"/>
            <a:ext cx="9977271" cy="548819"/>
          </a:xfrm>
        </p:spPr>
        <p:txBody>
          <a:bodyPr>
            <a:noAutofit/>
          </a:bodyPr>
          <a:lstStyle>
            <a:lvl1pPr>
              <a:defRPr sz="3600"/>
            </a:lvl1pPr>
          </a:lstStyle>
          <a:p>
            <a:r>
              <a:rPr lang="en-US"/>
              <a:t>Click to edit Master title style</a:t>
            </a:r>
            <a:endParaRPr lang="en-US" dirty="0"/>
          </a:p>
        </p:txBody>
      </p:sp>
      <p:sp>
        <p:nvSpPr>
          <p:cNvPr id="10" name="Text Placeholder 9"/>
          <p:cNvSpPr>
            <a:spLocks noGrp="1"/>
          </p:cNvSpPr>
          <p:nvPr>
            <p:ph type="body" sz="quarter" idx="13"/>
          </p:nvPr>
        </p:nvSpPr>
        <p:spPr>
          <a:xfrm>
            <a:off x="838200" y="1548713"/>
            <a:ext cx="8843682" cy="40654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lide Number Placeholder 4">
            <a:extLst>
              <a:ext uri="{FF2B5EF4-FFF2-40B4-BE49-F238E27FC236}">
                <a16:creationId xmlns:a16="http://schemas.microsoft.com/office/drawing/2014/main" id="{E949AC83-1E27-5343-BB94-CDF1C9977B06}"/>
              </a:ext>
            </a:extLst>
          </p:cNvPr>
          <p:cNvSpPr>
            <a:spLocks noGrp="1"/>
          </p:cNvSpPr>
          <p:nvPr>
            <p:ph type="sldNum" sz="quarter" idx="12"/>
          </p:nvPr>
        </p:nvSpPr>
        <p:spPr/>
        <p:txBody>
          <a:bodyPr/>
          <a:lstStyle/>
          <a:p>
            <a:fld id="{016687C5-7511-7743-B429-3BDBE272F28B}" type="slidenum">
              <a:rPr lang="en-US" smtClean="0"/>
              <a:t>‹#›</a:t>
            </a:fld>
            <a:endParaRPr lang="en-US"/>
          </a:p>
        </p:txBody>
      </p:sp>
      <p:sp>
        <p:nvSpPr>
          <p:cNvPr id="3" name="Date Placeholder 2">
            <a:extLst>
              <a:ext uri="{FF2B5EF4-FFF2-40B4-BE49-F238E27FC236}">
                <a16:creationId xmlns:a16="http://schemas.microsoft.com/office/drawing/2014/main" id="{46CEB37C-4AD6-6546-88C7-0D5145F73F1B}"/>
              </a:ext>
            </a:extLst>
          </p:cNvPr>
          <p:cNvSpPr>
            <a:spLocks noGrp="1"/>
          </p:cNvSpPr>
          <p:nvPr>
            <p:ph type="dt" sz="half" idx="10"/>
          </p:nvPr>
        </p:nvSpPr>
        <p:spPr/>
        <p:txBody>
          <a:bodyPr/>
          <a:lstStyle/>
          <a:p>
            <a:fld id="{F617DED8-4350-C740-BB7C-D6C45B1EB394}" type="datetime1">
              <a:rPr lang="en-GB" smtClean="0"/>
              <a:t>10/03/2026</a:t>
            </a:fld>
            <a:endParaRPr lang="en-US"/>
          </a:p>
        </p:txBody>
      </p:sp>
      <p:sp>
        <p:nvSpPr>
          <p:cNvPr id="4" name="Footer Placeholder 3">
            <a:extLst>
              <a:ext uri="{FF2B5EF4-FFF2-40B4-BE49-F238E27FC236}">
                <a16:creationId xmlns:a16="http://schemas.microsoft.com/office/drawing/2014/main" id="{EFF34D09-7FF5-A642-B57F-6056C877E795}"/>
              </a:ext>
            </a:extLst>
          </p:cNvPr>
          <p:cNvSpPr>
            <a:spLocks noGrp="1"/>
          </p:cNvSpPr>
          <p:nvPr>
            <p:ph type="ftr" sz="quarter" idx="11"/>
          </p:nvPr>
        </p:nvSpPr>
        <p:spPr/>
        <p:txBody>
          <a:bodyPr/>
          <a:lstStyle/>
          <a:p>
            <a:endParaRPr lang="en-US"/>
          </a:p>
        </p:txBody>
      </p:sp>
      <p:pic>
        <p:nvPicPr>
          <p:cNvPr id="11" name="Picture 10" descr="&quot; &quot;">
            <a:extLst>
              <a:ext uri="{FF2B5EF4-FFF2-40B4-BE49-F238E27FC236}">
                <a16:creationId xmlns:a16="http://schemas.microsoft.com/office/drawing/2014/main" id="{96E4B558-0EB5-6F40-AF8C-7DF31DEF437A}"/>
              </a:ext>
            </a:extLst>
          </p:cNvPr>
          <p:cNvPicPr>
            <a:picLocks noChangeAspect="1"/>
          </p:cNvPicPr>
          <p:nvPr userDrawn="1"/>
        </p:nvPicPr>
        <p:blipFill>
          <a:blip r:embed="rId2"/>
          <a:stretch>
            <a:fillRect/>
          </a:stretch>
        </p:blipFill>
        <p:spPr>
          <a:xfrm>
            <a:off x="7112000" y="1223011"/>
            <a:ext cx="5080000" cy="6350000"/>
          </a:xfrm>
          <a:prstGeom prst="rect">
            <a:avLst/>
          </a:prstGeom>
        </p:spPr>
      </p:pic>
    </p:spTree>
    <p:extLst>
      <p:ext uri="{BB962C8B-B14F-4D97-AF65-F5344CB8AC3E}">
        <p14:creationId xmlns:p14="http://schemas.microsoft.com/office/powerpoint/2010/main" val="17561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pic>
        <p:nvPicPr>
          <p:cNvPr id="13" name="Picture 12" descr="&quot; &quot;">
            <a:extLst>
              <a:ext uri="{FF2B5EF4-FFF2-40B4-BE49-F238E27FC236}">
                <a16:creationId xmlns:a16="http://schemas.microsoft.com/office/drawing/2014/main" id="{130685FF-8861-7240-BA53-FA31C6C9C27B}"/>
              </a:ext>
            </a:extLst>
          </p:cNvPr>
          <p:cNvPicPr>
            <a:picLocks noChangeAspect="1"/>
          </p:cNvPicPr>
          <p:nvPr userDrawn="1"/>
        </p:nvPicPr>
        <p:blipFill>
          <a:blip r:embed="rId2"/>
          <a:stretch>
            <a:fillRect/>
          </a:stretch>
        </p:blipFill>
        <p:spPr>
          <a:xfrm>
            <a:off x="8610600" y="3099873"/>
            <a:ext cx="3594462" cy="3594462"/>
          </a:xfrm>
          <a:prstGeom prst="rect">
            <a:avLst/>
          </a:prstGeom>
        </p:spPr>
      </p:pic>
      <p:sp>
        <p:nvSpPr>
          <p:cNvPr id="5" name="Date Placeholder 4">
            <a:extLst>
              <a:ext uri="{FF2B5EF4-FFF2-40B4-BE49-F238E27FC236}">
                <a16:creationId xmlns:a16="http://schemas.microsoft.com/office/drawing/2014/main" id="{8396E716-C6D3-7140-8AC0-DDCC0A368FE6}"/>
              </a:ext>
            </a:extLst>
          </p:cNvPr>
          <p:cNvSpPr>
            <a:spLocks noGrp="1"/>
          </p:cNvSpPr>
          <p:nvPr>
            <p:ph type="dt" sz="half" idx="10"/>
          </p:nvPr>
        </p:nvSpPr>
        <p:spPr/>
        <p:txBody>
          <a:bodyPr/>
          <a:lstStyle/>
          <a:p>
            <a:fld id="{BC2AF70C-7487-5D49-97F3-B37681DB2E7A}" type="datetime1">
              <a:rPr lang="en-GB" smtClean="0"/>
              <a:t>10/03/2026</a:t>
            </a:fld>
            <a:endParaRPr lang="en-US" dirty="0"/>
          </a:p>
        </p:txBody>
      </p:sp>
      <p:sp>
        <p:nvSpPr>
          <p:cNvPr id="6" name="Footer Placeholder 5">
            <a:extLst>
              <a:ext uri="{FF2B5EF4-FFF2-40B4-BE49-F238E27FC236}">
                <a16:creationId xmlns:a16="http://schemas.microsoft.com/office/drawing/2014/main" id="{0933742A-7D36-C84C-82B7-F28431F11E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EFA0B6A-A6F4-6C45-A2B9-16CA5FF6523D}"/>
              </a:ext>
            </a:extLst>
          </p:cNvPr>
          <p:cNvSpPr>
            <a:spLocks noGrp="1"/>
          </p:cNvSpPr>
          <p:nvPr>
            <p:ph type="sldNum" sz="quarter" idx="12"/>
          </p:nvPr>
        </p:nvSpPr>
        <p:spPr/>
        <p:txBody>
          <a:bodyPr/>
          <a:lstStyle/>
          <a:p>
            <a:fld id="{016687C5-7511-7743-B429-3BDBE272F28B}" type="slidenum">
              <a:rPr lang="en-US" smtClean="0"/>
              <a:t>‹#›</a:t>
            </a:fld>
            <a:endParaRPr lang="en-US" dirty="0"/>
          </a:p>
        </p:txBody>
      </p:sp>
      <p:sp>
        <p:nvSpPr>
          <p:cNvPr id="10" name="Title 1">
            <a:extLst>
              <a:ext uri="{FF2B5EF4-FFF2-40B4-BE49-F238E27FC236}">
                <a16:creationId xmlns:a16="http://schemas.microsoft.com/office/drawing/2014/main" id="{0CBA2EDF-5ADA-2A43-803A-5C04DEC2ACCE}"/>
              </a:ext>
            </a:extLst>
          </p:cNvPr>
          <p:cNvSpPr>
            <a:spLocks noGrp="1"/>
          </p:cNvSpPr>
          <p:nvPr>
            <p:ph type="title"/>
          </p:nvPr>
        </p:nvSpPr>
        <p:spPr>
          <a:xfrm>
            <a:off x="838200" y="365125"/>
            <a:ext cx="9977271" cy="548819"/>
          </a:xfrm>
        </p:spPr>
        <p:txBody>
          <a:bodyPr>
            <a:noAutofit/>
          </a:bodyPr>
          <a:lstStyle>
            <a:lvl1pPr>
              <a:defRPr sz="4500"/>
            </a:lvl1pPr>
          </a:lstStyle>
          <a:p>
            <a:r>
              <a:rPr lang="en-US"/>
              <a:t>Click to edit Master title style</a:t>
            </a:r>
            <a:endParaRPr lang="en-US" dirty="0"/>
          </a:p>
        </p:txBody>
      </p:sp>
    </p:spTree>
    <p:extLst>
      <p:ext uri="{BB962C8B-B14F-4D97-AF65-F5344CB8AC3E}">
        <p14:creationId xmlns:p14="http://schemas.microsoft.com/office/powerpoint/2010/main" val="280038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Generic Section Titl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568CA6-59BD-244B-9036-0C61FAFBFC2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8160000" y="1818000"/>
            <a:ext cx="4032000" cy="5040000"/>
          </a:xfrm>
          <a:prstGeom prst="rect">
            <a:avLst/>
          </a:prstGeom>
        </p:spPr>
      </p:pic>
      <p:sp>
        <p:nvSpPr>
          <p:cNvPr id="15" name="Title 1">
            <a:extLst>
              <a:ext uri="{FF2B5EF4-FFF2-40B4-BE49-F238E27FC236}">
                <a16:creationId xmlns:a16="http://schemas.microsoft.com/office/drawing/2014/main" id="{D7F1ED91-20F3-6C45-B97B-320BA4DC48B7}"/>
              </a:ext>
            </a:extLst>
          </p:cNvPr>
          <p:cNvSpPr>
            <a:spLocks noGrp="1"/>
          </p:cNvSpPr>
          <p:nvPr>
            <p:ph type="title"/>
          </p:nvPr>
        </p:nvSpPr>
        <p:spPr>
          <a:xfrm>
            <a:off x="831850" y="1229360"/>
            <a:ext cx="7347646" cy="2558547"/>
          </a:xfrm>
        </p:spPr>
        <p:txBody>
          <a:bodyPr anchor="b">
            <a:normAutofit/>
          </a:bodyPr>
          <a:lstStyle>
            <a:lvl1pPr>
              <a:defRPr sz="4400"/>
            </a:lvl1pPr>
          </a:lstStyle>
          <a:p>
            <a:r>
              <a:rPr lang="en-US"/>
              <a:t>Click to edit Master title style</a:t>
            </a:r>
          </a:p>
        </p:txBody>
      </p:sp>
      <p:sp>
        <p:nvSpPr>
          <p:cNvPr id="16" name="Text Placeholder 2">
            <a:extLst>
              <a:ext uri="{FF2B5EF4-FFF2-40B4-BE49-F238E27FC236}">
                <a16:creationId xmlns:a16="http://schemas.microsoft.com/office/drawing/2014/main" id="{ACAD05E5-D687-604F-9665-B43A8F5A0F15}"/>
              </a:ext>
            </a:extLst>
          </p:cNvPr>
          <p:cNvSpPr>
            <a:spLocks noGrp="1"/>
          </p:cNvSpPr>
          <p:nvPr>
            <p:ph type="body" idx="1"/>
          </p:nvPr>
        </p:nvSpPr>
        <p:spPr>
          <a:xfrm>
            <a:off x="831850" y="3814895"/>
            <a:ext cx="7336790" cy="1500187"/>
          </a:xfrm>
        </p:spPr>
        <p:txBody>
          <a:bodyPr/>
          <a:lstStyle>
            <a:lvl1pPr marL="0" indent="0">
              <a:buNone/>
              <a:defRPr sz="240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pic>
        <p:nvPicPr>
          <p:cNvPr id="11" name="Picture 10" descr="UK Data Service logo">
            <a:extLst>
              <a:ext uri="{FF2B5EF4-FFF2-40B4-BE49-F238E27FC236}">
                <a16:creationId xmlns:a16="http://schemas.microsoft.com/office/drawing/2014/main" id="{156298A7-4C3C-BA4C-97D4-F2F510C5A17A}"/>
              </a:ext>
            </a:extLst>
          </p:cNvPr>
          <p:cNvPicPr>
            <a:picLocks noChangeAspect="1"/>
          </p:cNvPicPr>
          <p:nvPr userDrawn="1"/>
        </p:nvPicPr>
        <p:blipFill>
          <a:blip r:embed="rId3"/>
          <a:stretch>
            <a:fillRect/>
          </a:stretch>
        </p:blipFill>
        <p:spPr>
          <a:xfrm>
            <a:off x="599440" y="182880"/>
            <a:ext cx="3101521" cy="1059831"/>
          </a:xfrm>
          <a:prstGeom prst="rect">
            <a:avLst/>
          </a:prstGeom>
        </p:spPr>
      </p:pic>
      <p:sp>
        <p:nvSpPr>
          <p:cNvPr id="4" name="Date Placeholder 3">
            <a:extLst>
              <a:ext uri="{FF2B5EF4-FFF2-40B4-BE49-F238E27FC236}">
                <a16:creationId xmlns:a16="http://schemas.microsoft.com/office/drawing/2014/main" id="{576A7BAA-6633-ED49-B704-0C3C14CAA02E}"/>
              </a:ext>
            </a:extLst>
          </p:cNvPr>
          <p:cNvSpPr>
            <a:spLocks noGrp="1"/>
          </p:cNvSpPr>
          <p:nvPr>
            <p:ph type="dt" sz="half" idx="10"/>
          </p:nvPr>
        </p:nvSpPr>
        <p:spPr/>
        <p:txBody>
          <a:bodyPr/>
          <a:lstStyle/>
          <a:p>
            <a:fld id="{B215A42F-436F-F945-AF86-C545F1275288}" type="datetime1">
              <a:rPr lang="en-GB" smtClean="0"/>
              <a:t>10/03/2026</a:t>
            </a:fld>
            <a:endParaRPr lang="en-US"/>
          </a:p>
        </p:txBody>
      </p:sp>
      <p:sp>
        <p:nvSpPr>
          <p:cNvPr id="5" name="Footer Placeholder 4">
            <a:extLst>
              <a:ext uri="{FF2B5EF4-FFF2-40B4-BE49-F238E27FC236}">
                <a16:creationId xmlns:a16="http://schemas.microsoft.com/office/drawing/2014/main" id="{BFAB7BBB-4F97-4945-8A6E-B312377E7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4C29CD-B531-3345-9F02-2BBEC37AF461}"/>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4122216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556283B-FAA3-0C45-8F69-C61CD2C68C0B}"/>
              </a:ext>
            </a:extLst>
          </p:cNvPr>
          <p:cNvSpPr>
            <a:spLocks noGrp="1"/>
          </p:cNvSpPr>
          <p:nvPr>
            <p:ph type="title"/>
          </p:nvPr>
        </p:nvSpPr>
        <p:spPr>
          <a:xfrm>
            <a:off x="838200" y="519964"/>
            <a:ext cx="9977271" cy="548819"/>
          </a:xfrm>
        </p:spPr>
        <p:txBody>
          <a:bodyPr>
            <a:noAutofit/>
          </a:bodyPr>
          <a:lstStyle>
            <a:lvl1pPr>
              <a:defRPr sz="3600"/>
            </a:lvl1pPr>
          </a:lstStyle>
          <a:p>
            <a:r>
              <a:rPr lang="en-US"/>
              <a:t>Click to edit Master title style</a:t>
            </a:r>
          </a:p>
        </p:txBody>
      </p:sp>
      <p:pic>
        <p:nvPicPr>
          <p:cNvPr id="12" name="Picture 11">
            <a:extLst>
              <a:ext uri="{FF2B5EF4-FFF2-40B4-BE49-F238E27FC236}">
                <a16:creationId xmlns:a16="http://schemas.microsoft.com/office/drawing/2014/main" id="{8D2BAFDA-3085-094D-8597-EA125B75D51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8052000" y="2718000"/>
            <a:ext cx="4140000" cy="4140000"/>
          </a:xfrm>
          <a:prstGeom prst="rect">
            <a:avLst/>
          </a:prstGeom>
        </p:spPr>
      </p:pic>
      <p:sp>
        <p:nvSpPr>
          <p:cNvPr id="3" name="Chart Placeholder 2">
            <a:extLst>
              <a:ext uri="{FF2B5EF4-FFF2-40B4-BE49-F238E27FC236}">
                <a16:creationId xmlns:a16="http://schemas.microsoft.com/office/drawing/2014/main" id="{D7C0223E-760F-4543-BDE3-CA6F2E441259}"/>
              </a:ext>
            </a:extLst>
          </p:cNvPr>
          <p:cNvSpPr>
            <a:spLocks noGrp="1"/>
          </p:cNvSpPr>
          <p:nvPr>
            <p:ph type="chart" sz="quarter" idx="13" hasCustomPrompt="1"/>
          </p:nvPr>
        </p:nvSpPr>
        <p:spPr>
          <a:xfrm>
            <a:off x="838200" y="1498600"/>
            <a:ext cx="7315200" cy="4484687"/>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en-GB" smtClean="0">
                <a:effectLst/>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Double click the icon to add and edit charts. Use suitable brand </a:t>
            </a:r>
            <a:r>
              <a:rPr lang="en-US" err="1"/>
              <a:t>colours</a:t>
            </a:r>
            <a:r>
              <a:rPr lang="en-US"/>
              <a:t> to change the chart’s appearance. Use black or purple </a:t>
            </a:r>
            <a:r>
              <a:rPr lang="en-US" err="1"/>
              <a:t>colour</a:t>
            </a:r>
            <a:r>
              <a:rPr lang="en-US"/>
              <a:t> (</a:t>
            </a:r>
            <a:r>
              <a:rPr lang="en-GB">
                <a:solidFill>
                  <a:srgbClr val="222221"/>
                </a:solidFill>
                <a:effectLst/>
                <a:latin typeface="Helvetica" pitchFamily="2" charset="0"/>
              </a:rPr>
              <a:t>#702082) for all text. Refer to theme and our brand guide for more colours.</a:t>
            </a:r>
          </a:p>
          <a:p>
            <a:endParaRPr lang="en-US"/>
          </a:p>
        </p:txBody>
      </p:sp>
      <p:sp>
        <p:nvSpPr>
          <p:cNvPr id="5" name="Date Placeholder 4">
            <a:extLst>
              <a:ext uri="{FF2B5EF4-FFF2-40B4-BE49-F238E27FC236}">
                <a16:creationId xmlns:a16="http://schemas.microsoft.com/office/drawing/2014/main" id="{8396E716-C6D3-7140-8AC0-DDCC0A368FE6}"/>
              </a:ext>
            </a:extLst>
          </p:cNvPr>
          <p:cNvSpPr>
            <a:spLocks noGrp="1"/>
          </p:cNvSpPr>
          <p:nvPr>
            <p:ph type="dt" sz="half" idx="10"/>
          </p:nvPr>
        </p:nvSpPr>
        <p:spPr/>
        <p:txBody>
          <a:bodyPr/>
          <a:lstStyle/>
          <a:p>
            <a:fld id="{BC2AF70C-7487-5D49-97F3-B37681DB2E7A}" type="datetime1">
              <a:rPr lang="en-GB" smtClean="0"/>
              <a:t>10/03/2026</a:t>
            </a:fld>
            <a:endParaRPr lang="en-US"/>
          </a:p>
        </p:txBody>
      </p:sp>
      <p:sp>
        <p:nvSpPr>
          <p:cNvPr id="6" name="Footer Placeholder 5">
            <a:extLst>
              <a:ext uri="{FF2B5EF4-FFF2-40B4-BE49-F238E27FC236}">
                <a16:creationId xmlns:a16="http://schemas.microsoft.com/office/drawing/2014/main" id="{0933742A-7D36-C84C-82B7-F28431F11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FA0B6A-A6F4-6C45-A2B9-16CA5FF6523D}"/>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335870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inal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257F14C-28EB-D44F-835B-2A45258A3E7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440193" y="0"/>
            <a:ext cx="4140000" cy="4140000"/>
          </a:xfrm>
          <a:prstGeom prst="rect">
            <a:avLst/>
          </a:prstGeom>
        </p:spPr>
      </p:pic>
      <p:pic>
        <p:nvPicPr>
          <p:cNvPr id="15" name="Picture 14">
            <a:extLst>
              <a:ext uri="{FF2B5EF4-FFF2-40B4-BE49-F238E27FC236}">
                <a16:creationId xmlns:a16="http://schemas.microsoft.com/office/drawing/2014/main" id="{3DCBD7EA-7633-8544-82AA-792AA39D270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8052000" y="2718000"/>
            <a:ext cx="4140000" cy="4140000"/>
          </a:xfrm>
          <a:prstGeom prst="rect">
            <a:avLst/>
          </a:prstGeom>
        </p:spPr>
      </p:pic>
      <p:sp>
        <p:nvSpPr>
          <p:cNvPr id="13" name="Title 1">
            <a:extLst>
              <a:ext uri="{FF2B5EF4-FFF2-40B4-BE49-F238E27FC236}">
                <a16:creationId xmlns:a16="http://schemas.microsoft.com/office/drawing/2014/main" id="{2278BD0B-2407-594E-B441-F29356308E5A}"/>
              </a:ext>
            </a:extLst>
          </p:cNvPr>
          <p:cNvSpPr>
            <a:spLocks noGrp="1"/>
          </p:cNvSpPr>
          <p:nvPr>
            <p:ph type="title"/>
          </p:nvPr>
        </p:nvSpPr>
        <p:spPr>
          <a:xfrm>
            <a:off x="831850" y="1240077"/>
            <a:ext cx="5264150" cy="2547830"/>
          </a:xfrm>
        </p:spPr>
        <p:txBody>
          <a:bodyPr anchor="b">
            <a:normAutofit/>
          </a:bodyPr>
          <a:lstStyle>
            <a:lvl1pPr>
              <a:defRPr sz="4400"/>
            </a:lvl1pPr>
          </a:lstStyle>
          <a:p>
            <a:r>
              <a:rPr lang="en-US"/>
              <a:t>Click to edit Master title style</a:t>
            </a:r>
          </a:p>
        </p:txBody>
      </p:sp>
      <p:sp>
        <p:nvSpPr>
          <p:cNvPr id="14" name="Text Placeholder 2">
            <a:extLst>
              <a:ext uri="{FF2B5EF4-FFF2-40B4-BE49-F238E27FC236}">
                <a16:creationId xmlns:a16="http://schemas.microsoft.com/office/drawing/2014/main" id="{3073C0B5-D10A-244A-A642-F2ECD8D216A4}"/>
              </a:ext>
            </a:extLst>
          </p:cNvPr>
          <p:cNvSpPr>
            <a:spLocks noGrp="1"/>
          </p:cNvSpPr>
          <p:nvPr>
            <p:ph type="body" idx="1" hasCustomPrompt="1"/>
          </p:nvPr>
        </p:nvSpPr>
        <p:spPr>
          <a:xfrm>
            <a:off x="831850" y="3814895"/>
            <a:ext cx="5264150" cy="1500187"/>
          </a:xfrm>
        </p:spPr>
        <p:txBody>
          <a:bodyPr/>
          <a:lstStyle>
            <a:lvl1pPr marL="0" indent="0">
              <a:buNone/>
              <a:defRPr sz="240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Insert contact details [name, email]</a:t>
            </a:r>
          </a:p>
        </p:txBody>
      </p:sp>
      <p:pic>
        <p:nvPicPr>
          <p:cNvPr id="17" name="Logo" descr="UK Data Service logo">
            <a:extLst>
              <a:ext uri="{FF2B5EF4-FFF2-40B4-BE49-F238E27FC236}">
                <a16:creationId xmlns:a16="http://schemas.microsoft.com/office/drawing/2014/main" id="{0F76BA20-AA2B-7340-AC15-C4F4ACBB3B65}"/>
              </a:ext>
            </a:extLst>
          </p:cNvPr>
          <p:cNvPicPr>
            <a:picLocks noChangeAspect="1"/>
          </p:cNvPicPr>
          <p:nvPr userDrawn="1"/>
        </p:nvPicPr>
        <p:blipFill>
          <a:blip r:embed="rId4"/>
          <a:stretch>
            <a:fillRect/>
          </a:stretch>
        </p:blipFill>
        <p:spPr>
          <a:xfrm>
            <a:off x="599440" y="182880"/>
            <a:ext cx="3101521" cy="1059831"/>
          </a:xfrm>
          <a:prstGeom prst="rect">
            <a:avLst/>
          </a:prstGeom>
        </p:spPr>
      </p:pic>
      <p:sp>
        <p:nvSpPr>
          <p:cNvPr id="3" name="Date Placeholder 2">
            <a:extLst>
              <a:ext uri="{FF2B5EF4-FFF2-40B4-BE49-F238E27FC236}">
                <a16:creationId xmlns:a16="http://schemas.microsoft.com/office/drawing/2014/main" id="{46CEB37C-4AD6-6546-88C7-0D5145F73F1B}"/>
              </a:ext>
            </a:extLst>
          </p:cNvPr>
          <p:cNvSpPr>
            <a:spLocks noGrp="1"/>
          </p:cNvSpPr>
          <p:nvPr>
            <p:ph type="dt" sz="half" idx="10"/>
          </p:nvPr>
        </p:nvSpPr>
        <p:spPr/>
        <p:txBody>
          <a:bodyPr/>
          <a:lstStyle/>
          <a:p>
            <a:fld id="{45591B23-550B-D34F-BD1A-05839C075451}" type="datetime1">
              <a:rPr lang="en-GB" smtClean="0"/>
              <a:t>10/03/2026</a:t>
            </a:fld>
            <a:endParaRPr lang="en-US"/>
          </a:p>
        </p:txBody>
      </p:sp>
      <p:sp>
        <p:nvSpPr>
          <p:cNvPr id="4" name="Footer Placeholder 3">
            <a:extLst>
              <a:ext uri="{FF2B5EF4-FFF2-40B4-BE49-F238E27FC236}">
                <a16:creationId xmlns:a16="http://schemas.microsoft.com/office/drawing/2014/main" id="{EFF34D09-7FF5-A642-B57F-6056C877E7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49AC83-1E27-5343-BB94-CDF1C9977B06}"/>
              </a:ext>
            </a:extLst>
          </p:cNvPr>
          <p:cNvSpPr>
            <a:spLocks noGrp="1"/>
          </p:cNvSpPr>
          <p:nvPr>
            <p:ph type="sldNum" sz="quarter" idx="12"/>
          </p:nvPr>
        </p:nvSpPr>
        <p:spPr/>
        <p:txBody>
          <a:bodyPr/>
          <a:lstStyle/>
          <a:p>
            <a:fld id="{016687C5-7511-7743-B429-3BDBE272F28B}" type="slidenum">
              <a:rPr lang="en-US" smtClean="0"/>
              <a:t>‹#›</a:t>
            </a:fld>
            <a:endParaRPr lang="en-US"/>
          </a:p>
        </p:txBody>
      </p:sp>
    </p:spTree>
    <p:extLst>
      <p:ext uri="{BB962C8B-B14F-4D97-AF65-F5344CB8AC3E}">
        <p14:creationId xmlns:p14="http://schemas.microsoft.com/office/powerpoint/2010/main" val="480764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737600" y="6309321"/>
            <a:ext cx="2844800"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defRPr>
            </a:lvl1pPr>
          </a:lstStyle>
          <a:p>
            <a:fld id="{95EB53F1-2B6B-4145-8690-A00B65B2E438}" type="slidenum">
              <a:rPr lang="en-GB" smtClean="0"/>
              <a:pPr/>
              <a:t>‹#›</a:t>
            </a:fld>
            <a:endParaRPr lang="en-GB" dirty="0"/>
          </a:p>
        </p:txBody>
      </p:sp>
    </p:spTree>
    <p:extLst>
      <p:ext uri="{BB962C8B-B14F-4D97-AF65-F5344CB8AC3E}">
        <p14:creationId xmlns:p14="http://schemas.microsoft.com/office/powerpoint/2010/main" val="282512926"/>
      </p:ext>
    </p:extLst>
  </p:cSld>
  <p:clrMap bg1="lt1" tx1="dk1" bg2="lt2" tx2="dk2" accent1="accent1" accent2="accent2" accent3="accent3" accent4="accent4" accent5="accent5" accent6="accent6" hlink="hlink" folHlink="folHlink"/>
  <p:sldLayoutIdLst>
    <p:sldLayoutId id="2147483672" r:id="rId1"/>
    <p:sldLayoutId id="2147483650" r:id="rId2"/>
    <p:sldLayoutId id="2147483675" r:id="rId3"/>
    <p:sldLayoutId id="2147483673" r:id="rId4"/>
    <p:sldLayoutId id="2147483676"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685800" rtl="0" eaLnBrk="1" latinLnBrk="0" hangingPunct="1">
        <a:spcBef>
          <a:spcPct val="0"/>
        </a:spcBef>
        <a:buNone/>
        <a:defRPr sz="4500" kern="1200">
          <a:solidFill>
            <a:schemeClr val="tx1"/>
          </a:solidFill>
          <a:latin typeface="Arial" panose="020B0604020202020204"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3800" kern="1200">
          <a:solidFill>
            <a:schemeClr val="tx1"/>
          </a:solidFill>
          <a:latin typeface="Arial" panose="020B0604020202020204" pitchFamily="34" charset="0"/>
          <a:ea typeface="+mn-ea"/>
          <a:cs typeface="+mn-cs"/>
        </a:defRPr>
      </a:lvl1pPr>
      <a:lvl2pPr marL="557213" indent="-214313" algn="l" defTabSz="685800" rtl="0" eaLnBrk="1" latinLnBrk="0" hangingPunct="1">
        <a:spcBef>
          <a:spcPct val="20000"/>
        </a:spcBef>
        <a:buFont typeface="Arial" pitchFamily="34" charset="0"/>
        <a:buChar char="–"/>
        <a:defRPr sz="3600" kern="1200">
          <a:solidFill>
            <a:schemeClr val="tx1"/>
          </a:solidFill>
          <a:latin typeface="Arial" panose="020B0604020202020204" pitchFamily="34" charset="0"/>
          <a:ea typeface="+mn-ea"/>
          <a:cs typeface="+mn-cs"/>
        </a:defRPr>
      </a:lvl2pPr>
      <a:lvl3pPr marL="857250" indent="-171450" algn="l" defTabSz="6858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user/UKDATASERVICE"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hyperlink" Target="http://tinyurl.com/Synth-DataInGov" TargetMode="External"/><Relationship Id="rId7" Type="http://schemas.openxmlformats.org/officeDocument/2006/relationships/hyperlink" Target="https://tinyurl.com/2sdjz8zv" TargetMode="External"/><Relationship Id="rId2" Type="http://schemas.openxmlformats.org/officeDocument/2006/relationships/notesSlide" Target="../notesSlides/notesSlide42.xml"/><Relationship Id="rId1" Type="http://schemas.openxmlformats.org/officeDocument/2006/relationships/slideLayout" Target="../slideLayouts/slideLayout8.xml"/><Relationship Id="rId6" Type="http://schemas.openxmlformats.org/officeDocument/2006/relationships/hyperlink" Target="https://tinyurl.com/5hc96ukr" TargetMode="External"/><Relationship Id="rId5" Type="http://schemas.openxmlformats.org/officeDocument/2006/relationships/hyperlink" Target="http://tinyurl.com/Synth-Blogpost" TargetMode="External"/><Relationship Id="rId4" Type="http://schemas.openxmlformats.org/officeDocument/2006/relationships/hyperlink" Target="http://tinyurl.com/Synth-Podcast" TargetMode="External"/></Relationships>
</file>

<file path=ppt/slides/_rels/slide54.xml.rels><?xml version="1.0" encoding="UTF-8" standalone="yes"?>
<Relationships xmlns="http://schemas.openxmlformats.org/package/2006/relationships"><Relationship Id="rId2" Type="http://schemas.openxmlformats.org/officeDocument/2006/relationships/hyperlink" Target="mailto:j.kasmire@manchester.ac.uk" TargetMode="Externa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3">
            <a:extLst>
              <a:ext uri="{FF2B5EF4-FFF2-40B4-BE49-F238E27FC236}">
                <a16:creationId xmlns:a16="http://schemas.microsoft.com/office/drawing/2014/main" id="{71FB171F-C083-20A8-E4FD-D2064E0EF075}"/>
              </a:ext>
            </a:extLst>
          </p:cNvPr>
          <p:cNvSpPr>
            <a:spLocks noGrp="1"/>
          </p:cNvSpPr>
          <p:nvPr>
            <p:ph type="title"/>
          </p:nvPr>
        </p:nvSpPr>
        <p:spPr>
          <a:xfrm>
            <a:off x="831851" y="1209040"/>
            <a:ext cx="5264150" cy="2578867"/>
          </a:xfrm>
        </p:spPr>
        <p:txBody>
          <a:bodyPr>
            <a:normAutofit/>
          </a:bodyPr>
          <a:lstStyle/>
          <a:p>
            <a:r>
              <a:rPr lang="en-GB" dirty="0">
                <a:latin typeface="Arial"/>
                <a:cs typeface="Arial"/>
              </a:rPr>
              <a:t>Synthetic Data: </a:t>
            </a:r>
            <a:br>
              <a:rPr lang="en-GB" dirty="0">
                <a:latin typeface="Arial"/>
                <a:cs typeface="Arial"/>
              </a:rPr>
            </a:br>
            <a:r>
              <a:rPr lang="en-GB" dirty="0">
                <a:latin typeface="Arial"/>
                <a:cs typeface="Arial"/>
              </a:rPr>
              <a:t>An introductory workshop</a:t>
            </a:r>
            <a:endParaRPr lang="en-US" dirty="0"/>
          </a:p>
        </p:txBody>
      </p:sp>
      <p:sp>
        <p:nvSpPr>
          <p:cNvPr id="5" name="Text Placeholder 4">
            <a:extLst>
              <a:ext uri="{FF2B5EF4-FFF2-40B4-BE49-F238E27FC236}">
                <a16:creationId xmlns:a16="http://schemas.microsoft.com/office/drawing/2014/main" id="{B23607BC-A661-1942-930C-8EB3C9C8AFDE}"/>
              </a:ext>
            </a:extLst>
          </p:cNvPr>
          <p:cNvSpPr>
            <a:spLocks noGrp="1"/>
          </p:cNvSpPr>
          <p:nvPr>
            <p:ph type="body" idx="1"/>
          </p:nvPr>
        </p:nvSpPr>
        <p:spPr/>
        <p:txBody>
          <a:bodyPr>
            <a:normAutofit fontScale="92500"/>
          </a:bodyPr>
          <a:lstStyle/>
          <a:p>
            <a:r>
              <a:rPr lang="en-GB" sz="2400" i="1" dirty="0" err="1">
                <a:latin typeface="Arial"/>
                <a:cs typeface="Arial"/>
              </a:rPr>
              <a:t>Dr.</a:t>
            </a:r>
            <a:r>
              <a:rPr lang="en-GB" sz="2400" i="1" dirty="0">
                <a:latin typeface="Arial"/>
                <a:cs typeface="Arial"/>
              </a:rPr>
              <a:t> J. Kasmire</a:t>
            </a:r>
            <a:endParaRPr lang="en-US" sz="2400" dirty="0">
              <a:latin typeface="Arial"/>
              <a:cs typeface="Arial"/>
            </a:endParaRPr>
          </a:p>
          <a:p>
            <a:r>
              <a:rPr lang="en-GB" sz="2400" i="1" dirty="0">
                <a:latin typeface="Arial"/>
                <a:cs typeface="Arial"/>
              </a:rPr>
              <a:t>Research Fellow</a:t>
            </a:r>
          </a:p>
          <a:p>
            <a:r>
              <a:rPr lang="en-GB" sz="2400" i="1" dirty="0">
                <a:latin typeface="Arial"/>
                <a:cs typeface="Arial"/>
              </a:rPr>
              <a:t>Cathie Marsh Institute/UK Data Service</a:t>
            </a:r>
            <a:endParaRPr lang="en-US" dirty="0"/>
          </a:p>
        </p:txBody>
      </p:sp>
      <p:sp>
        <p:nvSpPr>
          <p:cNvPr id="3" name="Slide Number Placeholder 2">
            <a:extLst>
              <a:ext uri="{FF2B5EF4-FFF2-40B4-BE49-F238E27FC236}">
                <a16:creationId xmlns:a16="http://schemas.microsoft.com/office/drawing/2014/main" id="{89B40B0B-BDD4-934E-8690-7D00D9EAE6BA}"/>
              </a:ext>
              <a:ext uri="{C183D7F6-B498-43B3-948B-1728B52AA6E4}">
                <adec:decorative xmlns:adec="http://schemas.microsoft.com/office/drawing/2017/decorative" val="1"/>
              </a:ext>
            </a:extLst>
          </p:cNvPr>
          <p:cNvSpPr>
            <a:spLocks noGrp="1"/>
          </p:cNvSpPr>
          <p:nvPr>
            <p:ph type="sldNum" sz="quarter" idx="12"/>
          </p:nvPr>
        </p:nvSpPr>
        <p:spPr/>
        <p:txBody>
          <a:bodyPr/>
          <a:lstStyle/>
          <a:p>
            <a:fld id="{016687C5-7511-7743-B429-3BDBE272F28B}" type="slidenum">
              <a:rPr lang="en-US" smtClean="0"/>
              <a:t>1</a:t>
            </a:fld>
            <a:endParaRPr lang="en-US"/>
          </a:p>
        </p:txBody>
      </p:sp>
      <p:pic>
        <p:nvPicPr>
          <p:cNvPr id="7" name="Picture Placeholder 5">
            <a:extLst>
              <a:ext uri="{FF2B5EF4-FFF2-40B4-BE49-F238E27FC236}">
                <a16:creationId xmlns:a16="http://schemas.microsoft.com/office/drawing/2014/main" id="{081F8F27-1C23-DE44-B435-0913D52578A2}"/>
              </a:ext>
              <a:ext uri="{C183D7F6-B498-43B3-948B-1728B52AA6E4}">
                <adec:decorative xmlns:adec="http://schemas.microsoft.com/office/drawing/2017/decorative" val="1"/>
              </a:ext>
            </a:extLst>
          </p:cNvPr>
          <p:cNvPicPr>
            <a:picLocks noGrp="1" noChangeAspect="1"/>
          </p:cNvPicPr>
          <p:nvPr>
            <p:ph type="pic" idx="13"/>
          </p:nvPr>
        </p:nvPicPr>
        <p:blipFill>
          <a:blip r:embed="rId2"/>
          <a:srcRect l="4994" r="4994"/>
          <a:stretch>
            <a:fillRect/>
          </a:stretch>
        </p:blipFill>
        <p:spPr/>
      </p:pic>
      <p:pic>
        <p:nvPicPr>
          <p:cNvPr id="8" name="Picture 6">
            <a:extLst>
              <a:ext uri="{C183D7F6-B498-43B3-948B-1728B52AA6E4}">
                <adec:decorative xmlns:adec="http://schemas.microsoft.com/office/drawing/2017/decorative" val="1"/>
              </a:ext>
            </a:extLst>
          </p:cNvPr>
          <p:cNvPicPr>
            <a:picLocks noGrp="1" noChangeAspect="1" noChangeArrowheads="1"/>
          </p:cNvPicPr>
          <p:nvPr>
            <p:ph type="pic" idx="14"/>
          </p:nvPr>
        </p:nvPicPr>
        <p:blipFill>
          <a:blip r:embed="rId3">
            <a:extLst>
              <a:ext uri="{28A0092B-C50C-407E-A947-70E740481C1C}">
                <a14:useLocalDpi xmlns:a14="http://schemas.microsoft.com/office/drawing/2010/main" val="0"/>
              </a:ext>
            </a:extLst>
          </a:blip>
          <a:srcRect l="11899" r="11899"/>
          <a:stretch>
            <a:fillRect/>
          </a:stretch>
        </p:blipFill>
        <p:spPr bwMode="auto">
          <a:xfrm>
            <a:off x="4705949" y="1744755"/>
            <a:ext cx="3727451"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1208069" y="6479114"/>
            <a:ext cx="6690633" cy="230832"/>
          </a:xfrm>
          <a:prstGeom prst="rect">
            <a:avLst/>
          </a:prstGeom>
        </p:spPr>
        <p:txBody>
          <a:bodyPr wrap="square">
            <a:spAutoFit/>
          </a:bodyPr>
          <a:lstStyle/>
          <a:p>
            <a:pPr algn="r"/>
            <a:r>
              <a:rPr lang="en-GB" sz="900" dirty="0">
                <a:solidFill>
                  <a:prstClr val="black"/>
                </a:solidFill>
                <a:latin typeface="Arial" panose="020B0604020202020204" pitchFamily="34" charset="0"/>
                <a:cs typeface="Arial" panose="020B0604020202020204" pitchFamily="34" charset="0"/>
              </a:rPr>
              <a:t>Copyright © year Institution. Created by Organisation, UK Data Service. </a:t>
            </a:r>
            <a:endParaRPr lang="en-GB" sz="900" dirty="0"/>
          </a:p>
        </p:txBody>
      </p:sp>
    </p:spTree>
    <p:extLst>
      <p:ext uri="{BB962C8B-B14F-4D97-AF65-F5344CB8AC3E}">
        <p14:creationId xmlns:p14="http://schemas.microsoft.com/office/powerpoint/2010/main" val="3841458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Interaction in this workshop</a:t>
            </a:r>
          </a:p>
        </p:txBody>
      </p:sp>
      <p:sp>
        <p:nvSpPr>
          <p:cNvPr id="3" name="Text Placeholder 2"/>
          <p:cNvSpPr>
            <a:spLocks noGrp="1"/>
          </p:cNvSpPr>
          <p:nvPr>
            <p:ph type="body" sz="quarter" idx="13"/>
          </p:nvPr>
        </p:nvSpPr>
        <p:spPr/>
        <p:txBody>
          <a:bodyPr>
            <a:normAutofit/>
          </a:bodyPr>
          <a:lstStyle/>
          <a:p>
            <a:r>
              <a:rPr lang="en-GB" sz="2400" dirty="0">
                <a:latin typeface="+mn-lt"/>
                <a:cs typeface="Arial" panose="020B0604020202020204" pitchFamily="34" charset="0"/>
              </a:rPr>
              <a:t>At any point in the workshop you can use the Zoom chat to ask the workshop facilitator about technical questions or comments.</a:t>
            </a:r>
          </a:p>
        </p:txBody>
      </p:sp>
      <p:sp>
        <p:nvSpPr>
          <p:cNvPr id="4" name="Slide Number Placeholder 3"/>
          <p:cNvSpPr>
            <a:spLocks noGrp="1"/>
          </p:cNvSpPr>
          <p:nvPr>
            <p:ph type="sldNum" sz="quarter" idx="12"/>
          </p:nvPr>
        </p:nvSpPr>
        <p:spPr/>
        <p:txBody>
          <a:bodyPr/>
          <a:lstStyle/>
          <a:p>
            <a:fld id="{016687C5-7511-7743-B429-3BDBE272F28B}" type="slidenum">
              <a:rPr lang="en-US" smtClean="0"/>
              <a:t>2</a:t>
            </a:fld>
            <a:endParaRPr lang="en-US"/>
          </a:p>
        </p:txBody>
      </p:sp>
      <p:pic>
        <p:nvPicPr>
          <p:cNvPr id="2050" name="Picture 2">
            <a:extLst>
              <a:ext uri="{FF2B5EF4-FFF2-40B4-BE49-F238E27FC236}">
                <a16:creationId xmlns:a16="http://schemas.microsoft.com/office/drawing/2014/main" id="{667D4B65-465D-6B48-C241-099722003504}"/>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597" t="72129" r="31691"/>
          <a:stretch/>
        </p:blipFill>
        <p:spPr bwMode="auto">
          <a:xfrm>
            <a:off x="3719736" y="4615555"/>
            <a:ext cx="3744416" cy="99861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6A3D254-305C-3025-B8B0-7C3EC0D097AA}"/>
              </a:ext>
              <a:ext uri="{C183D7F6-B498-43B3-948B-1728B52AA6E4}">
                <adec:decorative xmlns:adec="http://schemas.microsoft.com/office/drawing/2017/decorative" val="1"/>
              </a:ext>
            </a:extLst>
          </p:cNvPr>
          <p:cNvSpPr/>
          <p:nvPr/>
        </p:nvSpPr>
        <p:spPr>
          <a:xfrm>
            <a:off x="5015880" y="4615554"/>
            <a:ext cx="1080120" cy="9986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D16673FE-5291-92B3-5ED7-60B5DB59EC76}"/>
              </a:ext>
              <a:ext uri="{C183D7F6-B498-43B3-948B-1728B52AA6E4}">
                <adec:decorative xmlns:adec="http://schemas.microsoft.com/office/drawing/2017/decorative" val="1"/>
              </a:ext>
            </a:extLst>
          </p:cNvPr>
          <p:cNvCxnSpPr/>
          <p:nvPr/>
        </p:nvCxnSpPr>
        <p:spPr>
          <a:xfrm flipH="1">
            <a:off x="6168008" y="3645024"/>
            <a:ext cx="648072" cy="8640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275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a:t>
            </a:r>
            <a:r>
              <a:rPr lang="en-GB" sz="3600" dirty="0"/>
              <a:t>&amp;A Interaction in this workshop</a:t>
            </a:r>
          </a:p>
        </p:txBody>
      </p:sp>
      <p:sp>
        <p:nvSpPr>
          <p:cNvPr id="3" name="Text Placeholder 2"/>
          <p:cNvSpPr>
            <a:spLocks noGrp="1"/>
          </p:cNvSpPr>
          <p:nvPr>
            <p:ph type="body" sz="quarter" idx="13"/>
          </p:nvPr>
        </p:nvSpPr>
        <p:spPr/>
        <p:txBody>
          <a:bodyPr>
            <a:normAutofit/>
          </a:bodyPr>
          <a:lstStyle/>
          <a:p>
            <a:r>
              <a:rPr lang="en-GB" sz="2400" dirty="0">
                <a:latin typeface="+mn-lt"/>
                <a:cs typeface="Arial" panose="020B0604020202020204" pitchFamily="34" charset="0"/>
              </a:rPr>
              <a:t>At any point in the workshop you can use the Zoom chat to ask the workshop facilitator about technical questions or comments.</a:t>
            </a:r>
          </a:p>
          <a:p>
            <a:r>
              <a:rPr lang="en-GB" sz="2400" dirty="0">
                <a:latin typeface="+mn-lt"/>
                <a:cs typeface="Arial" panose="020B0604020202020204" pitchFamily="34" charset="0"/>
              </a:rPr>
              <a:t>At any point, you can ask or upvote questions for me, the workshop host, in the Zoom Q&amp;A. </a:t>
            </a:r>
          </a:p>
          <a:p>
            <a:endParaRPr lang="en-GB" dirty="0"/>
          </a:p>
        </p:txBody>
      </p:sp>
      <p:sp>
        <p:nvSpPr>
          <p:cNvPr id="4" name="Slide Number Placeholder 3"/>
          <p:cNvSpPr>
            <a:spLocks noGrp="1"/>
          </p:cNvSpPr>
          <p:nvPr>
            <p:ph type="sldNum" sz="quarter" idx="12"/>
          </p:nvPr>
        </p:nvSpPr>
        <p:spPr/>
        <p:txBody>
          <a:bodyPr/>
          <a:lstStyle/>
          <a:p>
            <a:fld id="{016687C5-7511-7743-B429-3BDBE272F28B}" type="slidenum">
              <a:rPr lang="en-US" smtClean="0"/>
              <a:t>3</a:t>
            </a:fld>
            <a:endParaRPr lang="en-US"/>
          </a:p>
        </p:txBody>
      </p:sp>
      <p:pic>
        <p:nvPicPr>
          <p:cNvPr id="5" name="Google Shape;70;p15">
            <a:extLst>
              <a:ext uri="{FF2B5EF4-FFF2-40B4-BE49-F238E27FC236}">
                <a16:creationId xmlns:a16="http://schemas.microsoft.com/office/drawing/2014/main" id="{C3C567E6-8AF1-DECF-F52E-AFEAD6B687BE}"/>
              </a:ext>
              <a:ext uri="{C183D7F6-B498-43B3-948B-1728B52AA6E4}">
                <adec:decorative xmlns:adec="http://schemas.microsoft.com/office/drawing/2017/decorative" val="1"/>
              </a:ext>
            </a:extLst>
          </p:cNvPr>
          <p:cNvPicPr preferRelativeResize="0"/>
          <p:nvPr/>
        </p:nvPicPr>
        <p:blipFill rotWithShape="1">
          <a:blip r:embed="rId2">
            <a:alphaModFix/>
          </a:blip>
          <a:srcRect l="27110" t="57648" r="15235"/>
          <a:stretch/>
        </p:blipFill>
        <p:spPr>
          <a:xfrm>
            <a:off x="2510118" y="3661410"/>
            <a:ext cx="5293360" cy="28304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5667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err="1"/>
              <a:t>Mentimeter</a:t>
            </a:r>
            <a:r>
              <a:rPr lang="en-GB" sz="3600" dirty="0"/>
              <a:t> interaction in this workshop</a:t>
            </a:r>
          </a:p>
        </p:txBody>
      </p:sp>
      <p:sp>
        <p:nvSpPr>
          <p:cNvPr id="3" name="Text Placeholder 2"/>
          <p:cNvSpPr>
            <a:spLocks noGrp="1"/>
          </p:cNvSpPr>
          <p:nvPr>
            <p:ph type="body" sz="quarter" idx="13"/>
          </p:nvPr>
        </p:nvSpPr>
        <p:spPr/>
        <p:txBody>
          <a:bodyPr>
            <a:normAutofit lnSpcReduction="10000"/>
          </a:bodyPr>
          <a:lstStyle/>
          <a:p>
            <a:r>
              <a:rPr lang="en-GB" sz="2400" dirty="0">
                <a:latin typeface="+mn-lt"/>
                <a:cs typeface="Arial" panose="020B0604020202020204" pitchFamily="34" charset="0"/>
              </a:rPr>
              <a:t>At any point in the workshop you can use the Zoom chat to ask the workshop facilitator about technical questions or comments.</a:t>
            </a:r>
          </a:p>
          <a:p>
            <a:r>
              <a:rPr lang="en-GB" sz="2400" dirty="0">
                <a:latin typeface="+mn-lt"/>
                <a:cs typeface="Arial" panose="020B0604020202020204" pitchFamily="34" charset="0"/>
              </a:rPr>
              <a:t>At any point, you can ask or upvote questions for me, the workshop host, in the Zoom Q&amp;A. </a:t>
            </a:r>
          </a:p>
          <a:p>
            <a:r>
              <a:rPr lang="en-GB" sz="2400" dirty="0">
                <a:latin typeface="+mn-lt"/>
                <a:cs typeface="Arial" panose="020B0604020202020204" pitchFamily="34" charset="0"/>
              </a:rPr>
              <a:t>There are also polls, word clouds, short answers and other interactions where the answers will appear anonymously on screen. For this, you go to menti.com and enter the 8 digit code at the top of the screen. </a:t>
            </a:r>
            <a:br>
              <a:rPr lang="en-GB" sz="2400" dirty="0">
                <a:latin typeface="+mn-lt"/>
                <a:cs typeface="Arial" panose="020B0604020202020204" pitchFamily="34" charset="0"/>
              </a:rPr>
            </a:br>
            <a:endParaRPr lang="en-GB" sz="2400" dirty="0">
              <a:latin typeface="+mn-lt"/>
              <a:cs typeface="Arial" panose="020B0604020202020204" pitchFamily="34" charset="0"/>
            </a:endParaRPr>
          </a:p>
          <a:p>
            <a:pPr marL="0" indent="0">
              <a:buNone/>
            </a:pPr>
            <a:r>
              <a:rPr lang="en-GB" sz="2400" dirty="0">
                <a:latin typeface="+mn-lt"/>
                <a:cs typeface="Arial" panose="020B0604020202020204" pitchFamily="34" charset="0"/>
              </a:rPr>
              <a:t>Let’s try it now!</a:t>
            </a:r>
            <a:endParaRPr lang="en-GB" dirty="0"/>
          </a:p>
        </p:txBody>
      </p:sp>
      <p:sp>
        <p:nvSpPr>
          <p:cNvPr id="4" name="Slide Number Placeholder 3"/>
          <p:cNvSpPr>
            <a:spLocks noGrp="1"/>
          </p:cNvSpPr>
          <p:nvPr>
            <p:ph type="sldNum" sz="quarter" idx="12"/>
          </p:nvPr>
        </p:nvSpPr>
        <p:spPr/>
        <p:txBody>
          <a:bodyPr/>
          <a:lstStyle/>
          <a:p>
            <a:fld id="{016687C5-7511-7743-B429-3BDBE272F28B}" type="slidenum">
              <a:rPr lang="en-US" smtClean="0"/>
              <a:t>4</a:t>
            </a:fld>
            <a:endParaRPr lang="en-US"/>
          </a:p>
        </p:txBody>
      </p:sp>
    </p:spTree>
    <p:extLst>
      <p:ext uri="{BB962C8B-B14F-4D97-AF65-F5344CB8AC3E}">
        <p14:creationId xmlns:p14="http://schemas.microsoft.com/office/powerpoint/2010/main" val="2409776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B8843C4A-2081-CA30-B8A9-FA4F92C11024}"/>
              </a:ext>
            </a:extLst>
          </p:cNvPr>
          <p:cNvSpPr>
            <a:spLocks noGrp="1"/>
          </p:cNvSpPr>
          <p:nvPr>
            <p:ph type="title"/>
          </p:nvPr>
        </p:nvSpPr>
        <p:spPr>
          <a:xfrm>
            <a:off x="838200" y="365125"/>
            <a:ext cx="9977271" cy="548819"/>
          </a:xfrm>
        </p:spPr>
        <p:txBody>
          <a:bodyPr>
            <a:noAutofit/>
          </a:bodyPr>
          <a:lstStyle/>
          <a:p>
            <a:r>
              <a:rPr lang="en-GB" sz="3600" dirty="0"/>
              <a:t>Can you hear me now?</a:t>
            </a:r>
          </a:p>
        </p:txBody>
      </p:sp>
      <p:sp>
        <p:nvSpPr>
          <p:cNvPr id="2" name="Slide Number Placeholder 1"/>
          <p:cNvSpPr>
            <a:spLocks noGrp="1"/>
          </p:cNvSpPr>
          <p:nvPr>
            <p:ph type="sldNum" sz="quarter" idx="12"/>
          </p:nvPr>
        </p:nvSpPr>
        <p:spPr/>
        <p:txBody>
          <a:bodyPr/>
          <a:lstStyle/>
          <a:p>
            <a:fld id="{016687C5-7511-7743-B429-3BDBE272F28B}" type="slidenum">
              <a:rPr lang="en-US" smtClean="0"/>
              <a:t>5</a:t>
            </a:fld>
            <a:endParaRPr lang="en-US"/>
          </a:p>
        </p:txBody>
      </p:sp>
      <p:pic>
        <p:nvPicPr>
          <p:cNvPr id="8" name="Picture 7" descr="A mentimeter poll shows that all of the responding participants responded that yes, they can hear the presenter. ">
            <a:extLst>
              <a:ext uri="{FF2B5EF4-FFF2-40B4-BE49-F238E27FC236}">
                <a16:creationId xmlns:a16="http://schemas.microsoft.com/office/drawing/2014/main" id="{0C4E9221-0432-4A0E-3994-E677C677E1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8BDD91B-A945-9506-2AD6-500EF81F1EE7}"/>
              </a:ext>
              <a:ext uri="{C183D7F6-B498-43B3-948B-1728B52AA6E4}">
                <adec:decorative xmlns:adec="http://schemas.microsoft.com/office/drawing/2017/decorative" val="1"/>
              </a:ext>
            </a:extLst>
          </p:cNvPr>
          <p:cNvSpPr/>
          <p:nvPr/>
        </p:nvSpPr>
        <p:spPr>
          <a:xfrm>
            <a:off x="6096000" y="1988840"/>
            <a:ext cx="5976664" cy="4752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68584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Troubleshooting audio problems</a:t>
            </a:r>
          </a:p>
        </p:txBody>
      </p:sp>
      <p:sp>
        <p:nvSpPr>
          <p:cNvPr id="3" name="Text Placeholder 2"/>
          <p:cNvSpPr>
            <a:spLocks noGrp="1"/>
          </p:cNvSpPr>
          <p:nvPr>
            <p:ph type="body" sz="quarter" idx="13"/>
          </p:nvPr>
        </p:nvSpPr>
        <p:spPr/>
        <p:txBody>
          <a:bodyPr>
            <a:normAutofit/>
          </a:bodyPr>
          <a:lstStyle/>
          <a:p>
            <a:r>
              <a:rPr lang="en-GB" sz="2800" dirty="0"/>
              <a:t>Check your speaker/headset is plugged in / volume is on.</a:t>
            </a:r>
          </a:p>
          <a:p>
            <a:r>
              <a:rPr lang="en-GB" sz="2800" dirty="0"/>
              <a:t>Click on audio to listen via phone.</a:t>
            </a:r>
          </a:p>
          <a:p>
            <a:r>
              <a:rPr lang="en-GB" sz="2800" dirty="0"/>
              <a:t>We are recording this webinar and will post it on YouTube (</a:t>
            </a:r>
            <a:r>
              <a:rPr lang="en-GB" sz="2800" dirty="0">
                <a:hlinkClick r:id="rId2"/>
              </a:rPr>
              <a:t>https://www.youtube.com/user/UKDATASERVICE</a:t>
            </a:r>
            <a:r>
              <a:rPr lang="en-GB" sz="2800" dirty="0"/>
              <a:t>)</a:t>
            </a:r>
          </a:p>
        </p:txBody>
      </p:sp>
      <p:sp>
        <p:nvSpPr>
          <p:cNvPr id="4" name="Slide Number Placeholder 3"/>
          <p:cNvSpPr>
            <a:spLocks noGrp="1"/>
          </p:cNvSpPr>
          <p:nvPr>
            <p:ph type="sldNum" sz="quarter" idx="12"/>
          </p:nvPr>
        </p:nvSpPr>
        <p:spPr/>
        <p:txBody>
          <a:bodyPr/>
          <a:lstStyle/>
          <a:p>
            <a:fld id="{016687C5-7511-7743-B429-3BDBE272F28B}" type="slidenum">
              <a:rPr lang="en-US" smtClean="0"/>
              <a:t>6</a:t>
            </a:fld>
            <a:endParaRPr lang="en-US"/>
          </a:p>
        </p:txBody>
      </p:sp>
    </p:spTree>
    <p:extLst>
      <p:ext uri="{BB962C8B-B14F-4D97-AF65-F5344CB8AC3E}">
        <p14:creationId xmlns:p14="http://schemas.microsoft.com/office/powerpoint/2010/main" val="2777420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latin typeface="Arial"/>
                <a:cs typeface="Arial"/>
              </a:rPr>
              <a:t>Table of Contents for this workshop</a:t>
            </a:r>
            <a:endParaRPr lang="en-GB" dirty="0"/>
          </a:p>
        </p:txBody>
      </p:sp>
      <p:sp>
        <p:nvSpPr>
          <p:cNvPr id="4" name="Slide Number Placeholder 3"/>
          <p:cNvSpPr>
            <a:spLocks noGrp="1"/>
          </p:cNvSpPr>
          <p:nvPr>
            <p:ph type="sldNum" sz="quarter" idx="12"/>
          </p:nvPr>
        </p:nvSpPr>
        <p:spPr/>
        <p:txBody>
          <a:bodyPr/>
          <a:lstStyle/>
          <a:p>
            <a:fld id="{016687C5-7511-7743-B429-3BDBE272F28B}" type="slidenum">
              <a:rPr lang="en-US" smtClean="0"/>
              <a:t>7</a:t>
            </a:fld>
            <a:endParaRPr lang="en-US"/>
          </a:p>
        </p:txBody>
      </p:sp>
      <p:sp>
        <p:nvSpPr>
          <p:cNvPr id="7" name="Content Placeholder 8">
            <a:extLst>
              <a:ext uri="{FF2B5EF4-FFF2-40B4-BE49-F238E27FC236}">
                <a16:creationId xmlns:a16="http://schemas.microsoft.com/office/drawing/2014/main" id="{7AA93A80-4CA6-4820-98E5-3B5239214D2B}"/>
              </a:ext>
            </a:extLst>
          </p:cNvPr>
          <p:cNvSpPr txBox="1">
            <a:spLocks/>
          </p:cNvSpPr>
          <p:nvPr/>
        </p:nvSpPr>
        <p:spPr>
          <a:xfrm>
            <a:off x="838200" y="1600738"/>
            <a:ext cx="10514900" cy="518388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800" dirty="0">
                <a:latin typeface="Arial"/>
                <a:cs typeface="Arial"/>
              </a:rPr>
              <a:t>Synthetic data – what it is and is not</a:t>
            </a:r>
          </a:p>
          <a:p>
            <a:pPr marL="0" indent="0">
              <a:buFont typeface="Arial" panose="020B0604020202020204" pitchFamily="34" charset="0"/>
              <a:buNone/>
            </a:pPr>
            <a:r>
              <a:rPr lang="en-GB" sz="2800" dirty="0">
                <a:latin typeface="Arial"/>
                <a:cs typeface="Arial"/>
              </a:rPr>
              <a:t>Fidelity – an important concept for synthetic data</a:t>
            </a:r>
          </a:p>
          <a:p>
            <a:pPr marL="0" indent="0">
              <a:buFont typeface="Arial" panose="020B0604020202020204" pitchFamily="34" charset="0"/>
              <a:buNone/>
            </a:pPr>
            <a:r>
              <a:rPr lang="en-GB" sz="2800" dirty="0">
                <a:latin typeface="Arial"/>
                <a:cs typeface="Arial"/>
              </a:rPr>
              <a:t>Uses of synthetic data</a:t>
            </a:r>
          </a:p>
          <a:p>
            <a:pPr marL="0" indent="0">
              <a:buFont typeface="Arial" panose="020B0604020202020204" pitchFamily="34" charset="0"/>
              <a:buNone/>
            </a:pPr>
            <a:r>
              <a:rPr lang="en-GB" sz="2800" dirty="0">
                <a:latin typeface="Arial"/>
                <a:cs typeface="Arial"/>
              </a:rPr>
              <a:t>Generating synthetic data</a:t>
            </a:r>
          </a:p>
          <a:p>
            <a:pPr marL="0" indent="0">
              <a:buFont typeface="Arial" panose="020B0604020202020204" pitchFamily="34" charset="0"/>
              <a:buNone/>
            </a:pPr>
            <a:r>
              <a:rPr lang="en-GB" sz="2800" dirty="0">
                <a:latin typeface="Arial"/>
                <a:cs typeface="Arial"/>
              </a:rPr>
              <a:t>Break</a:t>
            </a:r>
          </a:p>
          <a:p>
            <a:pPr marL="0" indent="0">
              <a:buFont typeface="Arial" panose="020B0604020202020204" pitchFamily="34" charset="0"/>
              <a:buNone/>
            </a:pPr>
            <a:r>
              <a:rPr lang="en-GB" sz="2800" dirty="0">
                <a:latin typeface="Arial"/>
                <a:cs typeface="Arial"/>
              </a:rPr>
              <a:t>Hands on session/code demo</a:t>
            </a:r>
          </a:p>
          <a:p>
            <a:pPr marL="0" indent="0">
              <a:buFont typeface="Arial" panose="020B0604020202020204" pitchFamily="34" charset="0"/>
              <a:buNone/>
            </a:pPr>
            <a:endParaRPr lang="en-GB" sz="2800" dirty="0">
              <a:latin typeface="Arial"/>
              <a:cs typeface="Arial"/>
            </a:endParaRPr>
          </a:p>
          <a:p>
            <a:pPr marL="0" indent="0">
              <a:buFont typeface="Arial" panose="020B0604020202020204" pitchFamily="34" charset="0"/>
              <a:buNone/>
            </a:pPr>
            <a:endParaRPr lang="en-GB" sz="2800" dirty="0">
              <a:latin typeface="Arial"/>
              <a:cs typeface="Arial"/>
            </a:endParaRPr>
          </a:p>
        </p:txBody>
      </p:sp>
    </p:spTree>
    <p:extLst>
      <p:ext uri="{BB962C8B-B14F-4D97-AF65-F5344CB8AC3E}">
        <p14:creationId xmlns:p14="http://schemas.microsoft.com/office/powerpoint/2010/main" val="173971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3600" dirty="0"/>
              <a:t>Synthetic data</a:t>
            </a:r>
          </a:p>
        </p:txBody>
      </p:sp>
      <p:sp>
        <p:nvSpPr>
          <p:cNvPr id="2" name="Slide Number Placeholder 1"/>
          <p:cNvSpPr>
            <a:spLocks noGrp="1"/>
          </p:cNvSpPr>
          <p:nvPr>
            <p:ph type="sldNum" sz="quarter" idx="12"/>
          </p:nvPr>
        </p:nvSpPr>
        <p:spPr/>
        <p:txBody>
          <a:bodyPr/>
          <a:lstStyle/>
          <a:p>
            <a:fld id="{016687C5-7511-7743-B429-3BDBE272F28B}" type="slidenum">
              <a:rPr lang="en-US" smtClean="0"/>
              <a:t>8</a:t>
            </a:fld>
            <a:endParaRPr lang="en-US"/>
          </a:p>
        </p:txBody>
      </p:sp>
    </p:spTree>
    <p:extLst>
      <p:ext uri="{BB962C8B-B14F-4D97-AF65-F5344CB8AC3E}">
        <p14:creationId xmlns:p14="http://schemas.microsoft.com/office/powerpoint/2010/main" val="481263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s</a:t>
            </a:r>
            <a:r>
              <a:rPr lang="en-GB" sz="3600" dirty="0"/>
              <a:t>ynthetic data?</a:t>
            </a:r>
          </a:p>
        </p:txBody>
      </p:sp>
      <p:sp>
        <p:nvSpPr>
          <p:cNvPr id="3" name="Text Placeholder 2"/>
          <p:cNvSpPr>
            <a:spLocks noGrp="1"/>
          </p:cNvSpPr>
          <p:nvPr>
            <p:ph type="body" sz="quarter" idx="13"/>
          </p:nvPr>
        </p:nvSpPr>
        <p:spPr/>
        <p:txBody>
          <a:bodyPr vert="horz" lIns="91440" tIns="45720" rIns="91440" bIns="45720" rtlCol="0" anchor="t">
            <a:normAutofit/>
          </a:bodyPr>
          <a:lstStyle/>
          <a:p>
            <a:pPr marL="0" indent="0">
              <a:buNone/>
            </a:pPr>
            <a:r>
              <a:rPr lang="en-GB" sz="2800" dirty="0"/>
              <a:t>Synthetic data is any data that is generated rather than observed.</a:t>
            </a:r>
          </a:p>
          <a:p>
            <a:pPr marL="0" indent="0">
              <a:buNone/>
            </a:pPr>
            <a:endParaRPr lang="en-GB" sz="2800" dirty="0">
              <a:cs typeface="Arial"/>
            </a:endParaRPr>
          </a:p>
          <a:p>
            <a:pPr marL="0" indent="0">
              <a:buNone/>
            </a:pPr>
            <a:endParaRPr lang="en-GB" sz="2800" dirty="0">
              <a:cs typeface="Arial"/>
            </a:endParaRPr>
          </a:p>
          <a:p>
            <a:pPr marL="0" indent="0">
              <a:buNone/>
            </a:pPr>
            <a:endParaRPr lang="en-GB" sz="2800" dirty="0"/>
          </a:p>
          <a:p>
            <a:pPr marL="0" indent="0">
              <a:buNone/>
            </a:pPr>
            <a:endParaRPr lang="en-GB" sz="2800" dirty="0"/>
          </a:p>
          <a:p>
            <a:pPr marL="0" indent="0">
              <a:buNone/>
            </a:pPr>
            <a:endParaRPr lang="en-GB" sz="2800" dirty="0"/>
          </a:p>
          <a:p>
            <a:pPr marL="0" indent="0">
              <a:buNone/>
            </a:pPr>
            <a:endParaRPr lang="en-GB" sz="2800" dirty="0">
              <a:cs typeface="Arial" panose="020B0604020202020204" pitchFamily="34" charset="0"/>
            </a:endParaRPr>
          </a:p>
          <a:p>
            <a:pPr marL="0" indent="0">
              <a:buNone/>
            </a:pPr>
            <a:endParaRPr lang="en-GB" sz="28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9</a:t>
            </a:fld>
            <a:endParaRPr lang="en-US"/>
          </a:p>
        </p:txBody>
      </p:sp>
    </p:spTree>
    <p:extLst>
      <p:ext uri="{BB962C8B-B14F-4D97-AF65-F5344CB8AC3E}">
        <p14:creationId xmlns:p14="http://schemas.microsoft.com/office/powerpoint/2010/main" val="3380455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synthetic data</a:t>
            </a:r>
            <a:endParaRPr lang="en-GB" sz="3600" dirty="0"/>
          </a:p>
        </p:txBody>
      </p:sp>
      <p:pic>
        <p:nvPicPr>
          <p:cNvPr id="7" name="Google Shape;100;p20" descr="Lorem Ipsum placeholder text">
            <a:extLst>
              <a:ext uri="{FF2B5EF4-FFF2-40B4-BE49-F238E27FC236}">
                <a16:creationId xmlns:a16="http://schemas.microsoft.com/office/drawing/2014/main" id="{D9311600-E6B8-C1FB-3C11-D7D86FFF3E1A}"/>
              </a:ext>
            </a:extLst>
          </p:cNvPr>
          <p:cNvPicPr preferRelativeResize="0"/>
          <p:nvPr/>
        </p:nvPicPr>
        <p:blipFill>
          <a:blip r:embed="rId3">
            <a:alphaModFix/>
          </a:blip>
          <a:stretch>
            <a:fillRect/>
          </a:stretch>
        </p:blipFill>
        <p:spPr>
          <a:xfrm>
            <a:off x="191344" y="1196752"/>
            <a:ext cx="5421787" cy="2304256"/>
          </a:xfrm>
          <a:prstGeom prst="rect">
            <a:avLst/>
          </a:prstGeom>
          <a:noFill/>
          <a:ln w="19050" cap="flat" cmpd="sng">
            <a:solidFill>
              <a:schemeClr val="dk2"/>
            </a:solidFill>
            <a:prstDash val="solid"/>
            <a:round/>
            <a:headEnd type="none" w="sm" len="sm"/>
            <a:tailEnd type="none" w="sm" len="sm"/>
          </a:ln>
        </p:spPr>
      </p:pic>
      <p:sp>
        <p:nvSpPr>
          <p:cNvPr id="4" name="Slide Number Placeholder 3"/>
          <p:cNvSpPr>
            <a:spLocks noGrp="1"/>
          </p:cNvSpPr>
          <p:nvPr>
            <p:ph type="sldNum" sz="quarter" idx="12"/>
          </p:nvPr>
        </p:nvSpPr>
        <p:spPr/>
        <p:txBody>
          <a:bodyPr/>
          <a:lstStyle/>
          <a:p>
            <a:fld id="{016687C5-7511-7743-B429-3BDBE272F28B}" type="slidenum">
              <a:rPr lang="en-US" smtClean="0"/>
              <a:t>10</a:t>
            </a:fld>
            <a:endParaRPr lang="en-US"/>
          </a:p>
        </p:txBody>
      </p:sp>
    </p:spTree>
    <p:extLst>
      <p:ext uri="{BB962C8B-B14F-4D97-AF65-F5344CB8AC3E}">
        <p14:creationId xmlns:p14="http://schemas.microsoft.com/office/powerpoint/2010/main" val="333051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synthetic data 2</a:t>
            </a:r>
            <a:endParaRPr lang="en-GB" sz="3600" dirty="0"/>
          </a:p>
        </p:txBody>
      </p:sp>
      <p:pic>
        <p:nvPicPr>
          <p:cNvPr id="8" name="Google Shape;106;p21" descr="A collage of a synthetic &quot;celebrity faces&quot; generated by an AI algorithm trained on faces of real celebrities. ">
            <a:extLst>
              <a:ext uri="{FF2B5EF4-FFF2-40B4-BE49-F238E27FC236}">
                <a16:creationId xmlns:a16="http://schemas.microsoft.com/office/drawing/2014/main" id="{FB779274-88C7-7021-AB00-C2AAA9047B45}"/>
              </a:ext>
            </a:extLst>
          </p:cNvPr>
          <p:cNvPicPr preferRelativeResize="0"/>
          <p:nvPr/>
        </p:nvPicPr>
        <p:blipFill>
          <a:blip r:embed="rId3">
            <a:alphaModFix/>
          </a:blip>
          <a:stretch>
            <a:fillRect/>
          </a:stretch>
        </p:blipFill>
        <p:spPr>
          <a:xfrm>
            <a:off x="5159896" y="1628800"/>
            <a:ext cx="6070410" cy="2880320"/>
          </a:xfrm>
          <a:prstGeom prst="rect">
            <a:avLst/>
          </a:prstGeom>
          <a:noFill/>
          <a:ln>
            <a:noFill/>
          </a:ln>
        </p:spPr>
      </p:pic>
      <p:sp>
        <p:nvSpPr>
          <p:cNvPr id="4" name="Slide Number Placeholder 3"/>
          <p:cNvSpPr>
            <a:spLocks noGrp="1"/>
          </p:cNvSpPr>
          <p:nvPr>
            <p:ph type="sldNum" sz="quarter" idx="12"/>
          </p:nvPr>
        </p:nvSpPr>
        <p:spPr/>
        <p:txBody>
          <a:bodyPr/>
          <a:lstStyle/>
          <a:p>
            <a:fld id="{016687C5-7511-7743-B429-3BDBE272F28B}" type="slidenum">
              <a:rPr lang="en-US" smtClean="0"/>
              <a:t>11</a:t>
            </a:fld>
            <a:endParaRPr lang="en-US"/>
          </a:p>
        </p:txBody>
      </p:sp>
      <p:pic>
        <p:nvPicPr>
          <p:cNvPr id="7" name="Google Shape;100;p20">
            <a:extLst>
              <a:ext uri="{FF2B5EF4-FFF2-40B4-BE49-F238E27FC236}">
                <a16:creationId xmlns:a16="http://schemas.microsoft.com/office/drawing/2014/main" id="{D9311600-E6B8-C1FB-3C11-D7D86FFF3E1A}"/>
              </a:ext>
              <a:ext uri="{C183D7F6-B498-43B3-948B-1728B52AA6E4}">
                <adec:decorative xmlns:adec="http://schemas.microsoft.com/office/drawing/2017/decorative" val="1"/>
              </a:ext>
            </a:extLst>
          </p:cNvPr>
          <p:cNvPicPr preferRelativeResize="0"/>
          <p:nvPr/>
        </p:nvPicPr>
        <p:blipFill>
          <a:blip r:embed="rId4">
            <a:alphaModFix/>
          </a:blip>
          <a:stretch>
            <a:fillRect/>
          </a:stretch>
        </p:blipFill>
        <p:spPr>
          <a:xfrm>
            <a:off x="191344" y="1196752"/>
            <a:ext cx="5421787" cy="2304256"/>
          </a:xfrm>
          <a:prstGeom prst="rect">
            <a:avLst/>
          </a:prstGeom>
          <a:noFill/>
          <a:ln w="19050" cap="flat" cmpd="sng">
            <a:solidFill>
              <a:schemeClr val="dk2"/>
            </a:solidFill>
            <a:prstDash val="solid"/>
            <a:round/>
            <a:headEnd type="none" w="sm" len="sm"/>
            <a:tailEnd type="none" w="sm" len="sm"/>
          </a:ln>
        </p:spPr>
      </p:pic>
    </p:spTree>
    <p:extLst>
      <p:ext uri="{BB962C8B-B14F-4D97-AF65-F5344CB8AC3E}">
        <p14:creationId xmlns:p14="http://schemas.microsoft.com/office/powerpoint/2010/main" val="885138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synthetic data 3</a:t>
            </a:r>
            <a:endParaRPr lang="en-GB" sz="3600" dirty="0"/>
          </a:p>
        </p:txBody>
      </p:sp>
      <p:pic>
        <p:nvPicPr>
          <p:cNvPr id="7" name="Google Shape;100;p20">
            <a:extLst>
              <a:ext uri="{FF2B5EF4-FFF2-40B4-BE49-F238E27FC236}">
                <a16:creationId xmlns:a16="http://schemas.microsoft.com/office/drawing/2014/main" id="{D9311600-E6B8-C1FB-3C11-D7D86FFF3E1A}"/>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91344" y="1196752"/>
            <a:ext cx="5421787" cy="2304256"/>
          </a:xfrm>
          <a:prstGeom prst="rect">
            <a:avLst/>
          </a:prstGeom>
          <a:noFill/>
          <a:ln w="19050" cap="flat" cmpd="sng">
            <a:solidFill>
              <a:schemeClr val="dk2"/>
            </a:solidFill>
            <a:prstDash val="solid"/>
            <a:round/>
            <a:headEnd type="none" w="sm" len="sm"/>
            <a:tailEnd type="none" w="sm" len="sm"/>
          </a:ln>
        </p:spPr>
      </p:pic>
      <p:pic>
        <p:nvPicPr>
          <p:cNvPr id="8" name="Google Shape;106;p21">
            <a:extLst>
              <a:ext uri="{FF2B5EF4-FFF2-40B4-BE49-F238E27FC236}">
                <a16:creationId xmlns:a16="http://schemas.microsoft.com/office/drawing/2014/main" id="{FB779274-88C7-7021-AB00-C2AAA9047B45}"/>
              </a:ext>
              <a:ext uri="{C183D7F6-B498-43B3-948B-1728B52AA6E4}">
                <adec:decorative xmlns:adec="http://schemas.microsoft.com/office/drawing/2017/decorative" val="1"/>
              </a:ext>
            </a:extLst>
          </p:cNvPr>
          <p:cNvPicPr preferRelativeResize="0"/>
          <p:nvPr/>
        </p:nvPicPr>
        <p:blipFill>
          <a:blip r:embed="rId4">
            <a:alphaModFix/>
          </a:blip>
          <a:stretch>
            <a:fillRect/>
          </a:stretch>
        </p:blipFill>
        <p:spPr>
          <a:xfrm>
            <a:off x="5159896" y="1628800"/>
            <a:ext cx="6070410" cy="2880320"/>
          </a:xfrm>
          <a:prstGeom prst="rect">
            <a:avLst/>
          </a:prstGeom>
          <a:noFill/>
          <a:ln>
            <a:noFill/>
          </a:ln>
        </p:spPr>
      </p:pic>
      <p:pic>
        <p:nvPicPr>
          <p:cNvPr id="9" name="Google Shape;112;p22" descr="Random number generator screenshot">
            <a:extLst>
              <a:ext uri="{FF2B5EF4-FFF2-40B4-BE49-F238E27FC236}">
                <a16:creationId xmlns:a16="http://schemas.microsoft.com/office/drawing/2014/main" id="{7EAC603E-C776-48DB-A4AB-9C03C29FBF34}"/>
              </a:ext>
            </a:extLst>
          </p:cNvPr>
          <p:cNvPicPr preferRelativeResize="0"/>
          <p:nvPr/>
        </p:nvPicPr>
        <p:blipFill>
          <a:blip r:embed="rId5">
            <a:alphaModFix/>
          </a:blip>
          <a:stretch>
            <a:fillRect/>
          </a:stretch>
        </p:blipFill>
        <p:spPr>
          <a:xfrm>
            <a:off x="643428" y="4149080"/>
            <a:ext cx="5101745" cy="2027161"/>
          </a:xfrm>
          <a:prstGeom prst="rect">
            <a:avLst/>
          </a:prstGeom>
          <a:noFill/>
          <a:ln w="19050" cap="flat" cmpd="sng">
            <a:solidFill>
              <a:schemeClr val="dk2"/>
            </a:solidFill>
            <a:prstDash val="solid"/>
            <a:round/>
            <a:headEnd type="none" w="sm" len="sm"/>
            <a:tailEnd type="none" w="sm" len="sm"/>
          </a:ln>
        </p:spPr>
      </p:pic>
      <p:sp>
        <p:nvSpPr>
          <p:cNvPr id="4" name="Slide Number Placeholder 3"/>
          <p:cNvSpPr>
            <a:spLocks noGrp="1"/>
          </p:cNvSpPr>
          <p:nvPr>
            <p:ph type="sldNum" sz="quarter" idx="12"/>
          </p:nvPr>
        </p:nvSpPr>
        <p:spPr/>
        <p:txBody>
          <a:bodyPr/>
          <a:lstStyle/>
          <a:p>
            <a:fld id="{016687C5-7511-7743-B429-3BDBE272F28B}" type="slidenum">
              <a:rPr lang="en-US" smtClean="0"/>
              <a:t>12</a:t>
            </a:fld>
            <a:endParaRPr lang="en-US"/>
          </a:p>
        </p:txBody>
      </p:sp>
    </p:spTree>
    <p:extLst>
      <p:ext uri="{BB962C8B-B14F-4D97-AF65-F5344CB8AC3E}">
        <p14:creationId xmlns:p14="http://schemas.microsoft.com/office/powerpoint/2010/main" val="351163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synthetic data 4</a:t>
            </a:r>
            <a:endParaRPr lang="en-GB" sz="3600" dirty="0"/>
          </a:p>
        </p:txBody>
      </p:sp>
      <p:pic>
        <p:nvPicPr>
          <p:cNvPr id="7" name="Google Shape;100;p20">
            <a:extLst>
              <a:ext uri="{FF2B5EF4-FFF2-40B4-BE49-F238E27FC236}">
                <a16:creationId xmlns:a16="http://schemas.microsoft.com/office/drawing/2014/main" id="{D9311600-E6B8-C1FB-3C11-D7D86FFF3E1A}"/>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91344" y="1196752"/>
            <a:ext cx="5421787" cy="2304256"/>
          </a:xfrm>
          <a:prstGeom prst="rect">
            <a:avLst/>
          </a:prstGeom>
          <a:noFill/>
          <a:ln w="19050" cap="flat" cmpd="sng">
            <a:solidFill>
              <a:schemeClr val="dk2"/>
            </a:solidFill>
            <a:prstDash val="solid"/>
            <a:round/>
            <a:headEnd type="none" w="sm" len="sm"/>
            <a:tailEnd type="none" w="sm" len="sm"/>
          </a:ln>
        </p:spPr>
      </p:pic>
      <p:pic>
        <p:nvPicPr>
          <p:cNvPr id="8" name="Google Shape;106;p21">
            <a:extLst>
              <a:ext uri="{FF2B5EF4-FFF2-40B4-BE49-F238E27FC236}">
                <a16:creationId xmlns:a16="http://schemas.microsoft.com/office/drawing/2014/main" id="{FB779274-88C7-7021-AB00-C2AAA9047B45}"/>
              </a:ext>
              <a:ext uri="{C183D7F6-B498-43B3-948B-1728B52AA6E4}">
                <adec:decorative xmlns:adec="http://schemas.microsoft.com/office/drawing/2017/decorative" val="1"/>
              </a:ext>
            </a:extLst>
          </p:cNvPr>
          <p:cNvPicPr preferRelativeResize="0"/>
          <p:nvPr/>
        </p:nvPicPr>
        <p:blipFill>
          <a:blip r:embed="rId4">
            <a:alphaModFix/>
          </a:blip>
          <a:stretch>
            <a:fillRect/>
          </a:stretch>
        </p:blipFill>
        <p:spPr>
          <a:xfrm>
            <a:off x="5159896" y="1628800"/>
            <a:ext cx="6070410" cy="2880320"/>
          </a:xfrm>
          <a:prstGeom prst="rect">
            <a:avLst/>
          </a:prstGeom>
          <a:noFill/>
          <a:ln>
            <a:noFill/>
          </a:ln>
        </p:spPr>
      </p:pic>
      <p:pic>
        <p:nvPicPr>
          <p:cNvPr id="9" name="Google Shape;112;p22">
            <a:extLst>
              <a:ext uri="{FF2B5EF4-FFF2-40B4-BE49-F238E27FC236}">
                <a16:creationId xmlns:a16="http://schemas.microsoft.com/office/drawing/2014/main" id="{7EAC603E-C776-48DB-A4AB-9C03C29FBF34}"/>
              </a:ext>
              <a:ext uri="{C183D7F6-B498-43B3-948B-1728B52AA6E4}">
                <adec:decorative xmlns:adec="http://schemas.microsoft.com/office/drawing/2017/decorative" val="1"/>
              </a:ext>
            </a:extLst>
          </p:cNvPr>
          <p:cNvPicPr preferRelativeResize="0"/>
          <p:nvPr/>
        </p:nvPicPr>
        <p:blipFill>
          <a:blip r:embed="rId5">
            <a:alphaModFix/>
          </a:blip>
          <a:stretch>
            <a:fillRect/>
          </a:stretch>
        </p:blipFill>
        <p:spPr>
          <a:xfrm>
            <a:off x="643428" y="4149080"/>
            <a:ext cx="5101745" cy="2027161"/>
          </a:xfrm>
          <a:prstGeom prst="rect">
            <a:avLst/>
          </a:prstGeom>
          <a:noFill/>
          <a:ln w="19050" cap="flat" cmpd="sng">
            <a:solidFill>
              <a:schemeClr val="dk2"/>
            </a:solidFill>
            <a:prstDash val="solid"/>
            <a:round/>
            <a:headEnd type="none" w="sm" len="sm"/>
            <a:tailEnd type="none" w="sm" len="sm"/>
          </a:ln>
        </p:spPr>
      </p:pic>
      <p:pic>
        <p:nvPicPr>
          <p:cNvPr id="10" name="Google Shape;118;p23" descr="A group of blue and black dice">
            <a:extLst>
              <a:ext uri="{FF2B5EF4-FFF2-40B4-BE49-F238E27FC236}">
                <a16:creationId xmlns:a16="http://schemas.microsoft.com/office/drawing/2014/main" id="{283D5E05-F9D8-5A8A-95C3-01CCF46941D2}"/>
              </a:ext>
            </a:extLst>
          </p:cNvPr>
          <p:cNvPicPr preferRelativeResize="0"/>
          <p:nvPr/>
        </p:nvPicPr>
        <p:blipFill>
          <a:blip r:embed="rId6">
            <a:alphaModFix/>
          </a:blip>
          <a:stretch>
            <a:fillRect/>
          </a:stretch>
        </p:blipFill>
        <p:spPr>
          <a:xfrm>
            <a:off x="6868443" y="4243227"/>
            <a:ext cx="3393198" cy="2198908"/>
          </a:xfrm>
          <a:prstGeom prst="rect">
            <a:avLst/>
          </a:prstGeom>
          <a:noFill/>
          <a:ln>
            <a:noFill/>
          </a:ln>
        </p:spPr>
      </p:pic>
      <p:sp>
        <p:nvSpPr>
          <p:cNvPr id="4" name="Slide Number Placeholder 3"/>
          <p:cNvSpPr>
            <a:spLocks noGrp="1"/>
          </p:cNvSpPr>
          <p:nvPr>
            <p:ph type="sldNum" sz="quarter" idx="12"/>
          </p:nvPr>
        </p:nvSpPr>
        <p:spPr/>
        <p:txBody>
          <a:bodyPr/>
          <a:lstStyle/>
          <a:p>
            <a:fld id="{016687C5-7511-7743-B429-3BDBE272F28B}" type="slidenum">
              <a:rPr lang="en-US" smtClean="0"/>
              <a:t>13</a:t>
            </a:fld>
            <a:endParaRPr lang="en-US"/>
          </a:p>
        </p:txBody>
      </p:sp>
    </p:spTree>
    <p:extLst>
      <p:ext uri="{BB962C8B-B14F-4D97-AF65-F5344CB8AC3E}">
        <p14:creationId xmlns:p14="http://schemas.microsoft.com/office/powerpoint/2010/main" val="901543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not s</a:t>
            </a:r>
            <a:r>
              <a:rPr lang="en-GB" sz="3600" dirty="0"/>
              <a:t>ynthetic data?</a:t>
            </a:r>
          </a:p>
        </p:txBody>
      </p:sp>
      <p:sp>
        <p:nvSpPr>
          <p:cNvPr id="3" name="Text Placeholder 2"/>
          <p:cNvSpPr>
            <a:spLocks noGrp="1"/>
          </p:cNvSpPr>
          <p:nvPr>
            <p:ph type="body" sz="quarter" idx="13"/>
          </p:nvPr>
        </p:nvSpPr>
        <p:spPr>
          <a:xfrm>
            <a:off x="838200" y="1916831"/>
            <a:ext cx="8843682" cy="3697335"/>
          </a:xfrm>
        </p:spPr>
        <p:txBody>
          <a:bodyPr>
            <a:normAutofit/>
          </a:bodyPr>
          <a:lstStyle/>
          <a:p>
            <a:pPr marL="0" indent="0">
              <a:buNone/>
            </a:pPr>
            <a:r>
              <a:rPr lang="en-GB" sz="3600" dirty="0"/>
              <a:t>Synth data    				real data</a:t>
            </a:r>
          </a:p>
          <a:p>
            <a:pPr marL="0" indent="0">
              <a:buNone/>
            </a:pPr>
            <a:r>
              <a:rPr lang="en-GB" sz="3600" dirty="0"/>
              <a:t>										personal</a:t>
            </a:r>
          </a:p>
          <a:p>
            <a:pPr marL="0" indent="0">
              <a:buNone/>
            </a:pPr>
            <a:r>
              <a:rPr lang="en-GB" sz="3600" dirty="0"/>
              <a:t>                                                      details</a:t>
            </a:r>
          </a:p>
          <a:p>
            <a:pPr marL="0" indent="0">
              <a:buNone/>
            </a:pPr>
            <a:r>
              <a:rPr lang="en-GB" sz="3600" dirty="0"/>
              <a:t>										noise</a:t>
            </a:r>
          </a:p>
        </p:txBody>
      </p:sp>
      <p:sp>
        <p:nvSpPr>
          <p:cNvPr id="4" name="Slide Number Placeholder 3"/>
          <p:cNvSpPr>
            <a:spLocks noGrp="1"/>
          </p:cNvSpPr>
          <p:nvPr>
            <p:ph type="sldNum" sz="quarter" idx="12"/>
          </p:nvPr>
        </p:nvSpPr>
        <p:spPr/>
        <p:txBody>
          <a:bodyPr/>
          <a:lstStyle/>
          <a:p>
            <a:fld id="{016687C5-7511-7743-B429-3BDBE272F28B}" type="slidenum">
              <a:rPr lang="en-US" smtClean="0"/>
              <a:t>14</a:t>
            </a:fld>
            <a:endParaRPr lang="en-US"/>
          </a:p>
        </p:txBody>
      </p:sp>
      <p:grpSp>
        <p:nvGrpSpPr>
          <p:cNvPr id="15" name="Group 14">
            <a:extLst>
              <a:ext uri="{FF2B5EF4-FFF2-40B4-BE49-F238E27FC236}">
                <a16:creationId xmlns:a16="http://schemas.microsoft.com/office/drawing/2014/main" id="{A783EABE-4B8F-CEA8-B72A-FB98EE8FE9AC}"/>
              </a:ext>
            </a:extLst>
          </p:cNvPr>
          <p:cNvGrpSpPr/>
          <p:nvPr/>
        </p:nvGrpSpPr>
        <p:grpSpPr>
          <a:xfrm>
            <a:off x="838200" y="1239037"/>
            <a:ext cx="9291464" cy="4163091"/>
            <a:chOff x="838200" y="1239037"/>
            <a:chExt cx="9291464" cy="4163091"/>
          </a:xfrm>
        </p:grpSpPr>
        <p:sp>
          <p:nvSpPr>
            <p:cNvPr id="7" name="Plus Sign 6">
              <a:extLst>
                <a:ext uri="{FF2B5EF4-FFF2-40B4-BE49-F238E27FC236}">
                  <a16:creationId xmlns:a16="http://schemas.microsoft.com/office/drawing/2014/main" id="{DD8D5425-CD44-0F60-8BD5-C14A058BD6B2}"/>
                </a:ext>
              </a:extLst>
            </p:cNvPr>
            <p:cNvSpPr/>
            <p:nvPr/>
          </p:nvSpPr>
          <p:spPr>
            <a:xfrm>
              <a:off x="5375920" y="3429200"/>
              <a:ext cx="2160000" cy="1800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Minus Sign 7">
              <a:extLst>
                <a:ext uri="{FF2B5EF4-FFF2-40B4-BE49-F238E27FC236}">
                  <a16:creationId xmlns:a16="http://schemas.microsoft.com/office/drawing/2014/main" id="{728F76C9-15D8-EDA1-82C2-42DAB05F80B8}"/>
                </a:ext>
              </a:extLst>
            </p:cNvPr>
            <p:cNvSpPr/>
            <p:nvPr/>
          </p:nvSpPr>
          <p:spPr>
            <a:xfrm>
              <a:off x="5375920" y="2151343"/>
              <a:ext cx="2160000" cy="202680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Not Equal 8">
              <a:extLst>
                <a:ext uri="{FF2B5EF4-FFF2-40B4-BE49-F238E27FC236}">
                  <a16:creationId xmlns:a16="http://schemas.microsoft.com/office/drawing/2014/main" id="{C0692AD1-0EB9-8DA7-A27A-462ED834B9B7}"/>
                </a:ext>
              </a:extLst>
            </p:cNvPr>
            <p:cNvSpPr/>
            <p:nvPr/>
          </p:nvSpPr>
          <p:spPr>
            <a:xfrm>
              <a:off x="3143672" y="1239037"/>
              <a:ext cx="2520000" cy="1800000"/>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Rectangle 9">
              <a:extLst>
                <a:ext uri="{FF2B5EF4-FFF2-40B4-BE49-F238E27FC236}">
                  <a16:creationId xmlns:a16="http://schemas.microsoft.com/office/drawing/2014/main" id="{1A5987B4-D986-9DE3-FC19-2B421784DFC2}"/>
                </a:ext>
              </a:extLst>
            </p:cNvPr>
            <p:cNvSpPr/>
            <p:nvPr/>
          </p:nvSpPr>
          <p:spPr>
            <a:xfrm>
              <a:off x="838200" y="1455872"/>
              <a:ext cx="2521496" cy="1872208"/>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51D93BC-3FE2-E2CE-A86B-1B50FF927F08}"/>
                </a:ext>
              </a:extLst>
            </p:cNvPr>
            <p:cNvSpPr/>
            <p:nvPr/>
          </p:nvSpPr>
          <p:spPr>
            <a:xfrm>
              <a:off x="5490364" y="1473550"/>
              <a:ext cx="4639300" cy="3928578"/>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4E306B33-EF31-3AEE-7891-CE7091C16637}"/>
                </a:ext>
              </a:extLst>
            </p:cNvPr>
            <p:cNvSpPr/>
            <p:nvPr/>
          </p:nvSpPr>
          <p:spPr>
            <a:xfrm>
              <a:off x="7455771" y="4005064"/>
              <a:ext cx="2448271" cy="634038"/>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C395C4BF-FE02-3B63-2D55-83CEC3B20666}"/>
                </a:ext>
              </a:extLst>
            </p:cNvPr>
            <p:cNvSpPr/>
            <p:nvPr/>
          </p:nvSpPr>
          <p:spPr>
            <a:xfrm>
              <a:off x="7464153" y="2708920"/>
              <a:ext cx="2448271" cy="1130789"/>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215630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Terminology is important</a:t>
            </a:r>
            <a:endParaRPr lang="en-GB" sz="3600" dirty="0"/>
          </a:p>
        </p:txBody>
      </p:sp>
      <p:sp>
        <p:nvSpPr>
          <p:cNvPr id="3" name="Text Placeholder 2"/>
          <p:cNvSpPr>
            <a:spLocks noGrp="1"/>
          </p:cNvSpPr>
          <p:nvPr>
            <p:ph type="body" sz="quarter" idx="13"/>
          </p:nvPr>
        </p:nvSpPr>
        <p:spPr/>
        <p:txBody>
          <a:bodyPr>
            <a:normAutofit/>
          </a:bodyPr>
          <a:lstStyle/>
          <a:p>
            <a:pPr marL="0" indent="0">
              <a:buNone/>
            </a:pPr>
            <a:r>
              <a:rPr lang="en-GB" sz="2800" dirty="0"/>
              <a:t>Some people use ‘synthetic data’ when they mean ‘anonymised’, ‘de-personalised’, etc. </a:t>
            </a:r>
          </a:p>
          <a:p>
            <a:pPr marL="0" indent="0">
              <a:buNone/>
            </a:pPr>
            <a:endParaRPr lang="en-GB" sz="2800" dirty="0"/>
          </a:p>
          <a:p>
            <a:pPr marL="0" indent="0">
              <a:buNone/>
            </a:pPr>
            <a:r>
              <a:rPr lang="en-GB" sz="2800" dirty="0"/>
              <a:t>They are wrong. </a:t>
            </a:r>
          </a:p>
        </p:txBody>
      </p:sp>
      <p:sp>
        <p:nvSpPr>
          <p:cNvPr id="4" name="Slide Number Placeholder 3"/>
          <p:cNvSpPr>
            <a:spLocks noGrp="1"/>
          </p:cNvSpPr>
          <p:nvPr>
            <p:ph type="sldNum" sz="quarter" idx="12"/>
          </p:nvPr>
        </p:nvSpPr>
        <p:spPr/>
        <p:txBody>
          <a:bodyPr/>
          <a:lstStyle/>
          <a:p>
            <a:fld id="{016687C5-7511-7743-B429-3BDBE272F28B}" type="slidenum">
              <a:rPr lang="en-US" smtClean="0"/>
              <a:t>15</a:t>
            </a:fld>
            <a:endParaRPr lang="en-US"/>
          </a:p>
        </p:txBody>
      </p:sp>
    </p:spTree>
    <p:extLst>
      <p:ext uri="{BB962C8B-B14F-4D97-AF65-F5344CB8AC3E}">
        <p14:creationId xmlns:p14="http://schemas.microsoft.com/office/powerpoint/2010/main" val="71233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9E1A31B5-53A8-779C-C809-7FABB2C28E74}"/>
              </a:ext>
            </a:extLst>
          </p:cNvPr>
          <p:cNvSpPr>
            <a:spLocks noGrp="1"/>
          </p:cNvSpPr>
          <p:nvPr>
            <p:ph type="title"/>
          </p:nvPr>
        </p:nvSpPr>
        <p:spPr>
          <a:xfrm>
            <a:off x="838200" y="365125"/>
            <a:ext cx="9977271" cy="548819"/>
          </a:xfrm>
        </p:spPr>
        <p:txBody>
          <a:bodyPr>
            <a:noAutofit/>
          </a:bodyPr>
          <a:lstStyle/>
          <a:p>
            <a:r>
              <a:rPr lang="en-GB" sz="3600" dirty="0"/>
              <a:t>Is data from a cycle lane sensor synthetic?</a:t>
            </a:r>
          </a:p>
        </p:txBody>
      </p:sp>
      <p:sp>
        <p:nvSpPr>
          <p:cNvPr id="4" name="Slide Number Placeholder 3"/>
          <p:cNvSpPr>
            <a:spLocks noGrp="1"/>
          </p:cNvSpPr>
          <p:nvPr>
            <p:ph type="sldNum" sz="quarter" idx="12"/>
          </p:nvPr>
        </p:nvSpPr>
        <p:spPr/>
        <p:txBody>
          <a:bodyPr/>
          <a:lstStyle/>
          <a:p>
            <a:fld id="{016687C5-7511-7743-B429-3BDBE272F28B}" type="slidenum">
              <a:rPr lang="en-US" smtClean="0"/>
              <a:t>16</a:t>
            </a:fld>
            <a:endParaRPr lang="en-US"/>
          </a:p>
        </p:txBody>
      </p:sp>
      <p:pic>
        <p:nvPicPr>
          <p:cNvPr id="8" name="Picture 7" descr="A mentimeter poll showed that 25 out of 27 respondents thought that data from a cycle lane sensor is not synthetic. 2 respondents said they were not sure. ">
            <a:extLst>
              <a:ext uri="{FF2B5EF4-FFF2-40B4-BE49-F238E27FC236}">
                <a16:creationId xmlns:a16="http://schemas.microsoft.com/office/drawing/2014/main" id="{0BD55501-50EF-F642-6EE1-F7621B41CB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923BEF7-593B-E1BA-F6AF-6F5872D9B8DD}"/>
              </a:ext>
              <a:ext uri="{C183D7F6-B498-43B3-948B-1728B52AA6E4}">
                <adec:decorative xmlns:adec="http://schemas.microsoft.com/office/drawing/2017/decorative" val="1"/>
              </a:ext>
            </a:extLst>
          </p:cNvPr>
          <p:cNvSpPr/>
          <p:nvPr/>
        </p:nvSpPr>
        <p:spPr>
          <a:xfrm>
            <a:off x="4871864" y="1988840"/>
            <a:ext cx="7200800" cy="4752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6524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7780CA80-3BA6-4DB3-46CE-48492961A5ED}"/>
              </a:ext>
            </a:extLst>
          </p:cNvPr>
          <p:cNvSpPr txBox="1">
            <a:spLocks noGrp="1"/>
          </p:cNvSpPr>
          <p:nvPr>
            <p:ph type="title" idx="4294967295"/>
          </p:nvPr>
        </p:nvSpPr>
        <p:spPr>
          <a:xfrm>
            <a:off x="838200" y="365125"/>
            <a:ext cx="9977271" cy="548819"/>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ctr" defTabSz="685800" rtl="0" eaLnBrk="1" latinLnBrk="0" hangingPunct="1">
              <a:spcBef>
                <a:spcPct val="0"/>
              </a:spcBef>
              <a:buNone/>
              <a:defRPr sz="3600" kern="1200">
                <a:solidFill>
                  <a:schemeClr val="tx1"/>
                </a:solidFill>
                <a:latin typeface="Arial" panose="020B0604020202020204" pitchFamily="34" charset="0"/>
                <a:ea typeface="+mj-ea"/>
                <a:cs typeface="+mj-cs"/>
              </a:defRPr>
            </a:lvl1pPr>
          </a:lstStyle>
          <a:p>
            <a:pPr marL="0" marR="0" lvl="0" indent="0" algn="ctr" defTabSz="685800" rtl="0" eaLnBrk="1" fontAlgn="auto" latinLnBrk="0" hangingPunct="1">
              <a:lnSpc>
                <a:spcPct val="100000"/>
              </a:lnSpc>
              <a:spcBef>
                <a:spcPct val="0"/>
              </a:spcBef>
              <a:spcAft>
                <a:spcPts val="0"/>
              </a:spcAft>
              <a:buClrTx/>
              <a:buSzTx/>
              <a:buFontTx/>
              <a:buNone/>
              <a:tabLst/>
              <a:defRPr/>
            </a:pPr>
            <a:r>
              <a:rPr kumimoji="0" lang="en-GB" sz="3600" b="0" i="0" u="none" strike="noStrike" kern="1200" cap="none" spc="0" normalizeH="0" baseline="0" noProof="0" dirty="0">
                <a:ln>
                  <a:noFill/>
                </a:ln>
                <a:solidFill>
                  <a:schemeClr val="tx1"/>
                </a:solidFill>
                <a:effectLst/>
                <a:uLnTx/>
                <a:uFillTx/>
                <a:latin typeface="Arial" panose="020B0604020202020204" pitchFamily="34" charset="0"/>
                <a:ea typeface="+mj-ea"/>
                <a:cs typeface="+mj-cs"/>
              </a:rPr>
              <a:t>Are the predictions from weather forecasts synthetic data?</a:t>
            </a:r>
          </a:p>
        </p:txBody>
      </p:sp>
      <p:sp>
        <p:nvSpPr>
          <p:cNvPr id="4" name="Slide Number Placeholder 3"/>
          <p:cNvSpPr>
            <a:spLocks noGrp="1"/>
          </p:cNvSpPr>
          <p:nvPr>
            <p:ph type="sldNum" sz="quarter" idx="12"/>
          </p:nvPr>
        </p:nvSpPr>
        <p:spPr/>
        <p:txBody>
          <a:bodyPr/>
          <a:lstStyle/>
          <a:p>
            <a:fld id="{016687C5-7511-7743-B429-3BDBE272F28B}" type="slidenum">
              <a:rPr lang="en-US" smtClean="0"/>
              <a:t>17</a:t>
            </a:fld>
            <a:endParaRPr lang="en-US"/>
          </a:p>
        </p:txBody>
      </p:sp>
      <p:pic>
        <p:nvPicPr>
          <p:cNvPr id="8" name="Picture 7" descr="A mentimeter poll showed that 17 out of 33 respondents thought that predictions from weather forecasts were synthetic data. 14 respondents thought they were not synthetic data, and 2 respondents were not sure. ">
            <a:extLst>
              <a:ext uri="{FF2B5EF4-FFF2-40B4-BE49-F238E27FC236}">
                <a16:creationId xmlns:a16="http://schemas.microsoft.com/office/drawing/2014/main" id="{07F9FE51-9C4A-5470-7725-C33871C26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2" y="0"/>
            <a:ext cx="12192000" cy="6858000"/>
          </a:xfrm>
          <a:prstGeom prst="rect">
            <a:avLst/>
          </a:prstGeom>
        </p:spPr>
      </p:pic>
      <p:sp>
        <p:nvSpPr>
          <p:cNvPr id="2" name="Rectangle 1">
            <a:extLst>
              <a:ext uri="{FF2B5EF4-FFF2-40B4-BE49-F238E27FC236}">
                <a16:creationId xmlns:a16="http://schemas.microsoft.com/office/drawing/2014/main" id="{E862CEDA-594B-1B99-6655-13C453BF9D39}"/>
              </a:ext>
              <a:ext uri="{C183D7F6-B498-43B3-948B-1728B52AA6E4}">
                <adec:decorative xmlns:adec="http://schemas.microsoft.com/office/drawing/2017/decorative" val="1"/>
              </a:ext>
            </a:extLst>
          </p:cNvPr>
          <p:cNvSpPr/>
          <p:nvPr/>
        </p:nvSpPr>
        <p:spPr>
          <a:xfrm>
            <a:off x="4511824" y="1412776"/>
            <a:ext cx="7560840" cy="5328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94678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7CAE6795-E516-55B3-7059-1BFA9A28B3BC}"/>
              </a:ext>
            </a:extLst>
          </p:cNvPr>
          <p:cNvSpPr>
            <a:spLocks noGrp="1"/>
          </p:cNvSpPr>
          <p:nvPr>
            <p:ph type="title"/>
          </p:nvPr>
        </p:nvSpPr>
        <p:spPr>
          <a:xfrm>
            <a:off x="838200" y="365125"/>
            <a:ext cx="9977271" cy="548819"/>
          </a:xfrm>
        </p:spPr>
        <p:txBody>
          <a:bodyPr>
            <a:noAutofit/>
          </a:bodyPr>
          <a:lstStyle/>
          <a:p>
            <a:r>
              <a:rPr lang="en-GB" sz="3600" dirty="0"/>
              <a:t>Is census microdata synthetic?</a:t>
            </a:r>
          </a:p>
        </p:txBody>
      </p:sp>
      <p:sp>
        <p:nvSpPr>
          <p:cNvPr id="4" name="Slide Number Placeholder 3"/>
          <p:cNvSpPr>
            <a:spLocks noGrp="1"/>
          </p:cNvSpPr>
          <p:nvPr>
            <p:ph type="sldNum" sz="quarter" idx="12"/>
          </p:nvPr>
        </p:nvSpPr>
        <p:spPr/>
        <p:txBody>
          <a:bodyPr/>
          <a:lstStyle/>
          <a:p>
            <a:fld id="{016687C5-7511-7743-B429-3BDBE272F28B}" type="slidenum">
              <a:rPr lang="en-US" smtClean="0"/>
              <a:t>18</a:t>
            </a:fld>
            <a:endParaRPr lang="en-US"/>
          </a:p>
        </p:txBody>
      </p:sp>
      <p:pic>
        <p:nvPicPr>
          <p:cNvPr id="8" name="Picture 7" descr="A mentimeter poll showed that 30 out of 33 respondents thought that census microdata was not synthetic while 3 respondents thought that it was synthetic.">
            <a:extLst>
              <a:ext uri="{FF2B5EF4-FFF2-40B4-BE49-F238E27FC236}">
                <a16:creationId xmlns:a16="http://schemas.microsoft.com/office/drawing/2014/main" id="{28A338D8-2686-FD57-8812-031B95EEB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3AD195AE-E2DB-8C63-103E-17FAD0C3D23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5107" t="31977" r="60631" b="46137"/>
          <a:stretch/>
        </p:blipFill>
        <p:spPr>
          <a:xfrm>
            <a:off x="8400256" y="1988840"/>
            <a:ext cx="3672408" cy="4680520"/>
          </a:xfrm>
          <a:prstGeom prst="rect">
            <a:avLst/>
          </a:prstGeom>
        </p:spPr>
      </p:pic>
      <p:pic>
        <p:nvPicPr>
          <p:cNvPr id="7" name="Picture 6">
            <a:extLst>
              <a:ext uri="{FF2B5EF4-FFF2-40B4-BE49-F238E27FC236}">
                <a16:creationId xmlns:a16="http://schemas.microsoft.com/office/drawing/2014/main" id="{54E91A9B-D162-5361-434C-1458603F59B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5107" t="31977" r="60631" b="22204"/>
          <a:stretch/>
        </p:blipFill>
        <p:spPr>
          <a:xfrm>
            <a:off x="8568952" y="2495456"/>
            <a:ext cx="3503712" cy="3165792"/>
          </a:xfrm>
          <a:prstGeom prst="rect">
            <a:avLst/>
          </a:prstGeom>
        </p:spPr>
      </p:pic>
      <p:sp>
        <p:nvSpPr>
          <p:cNvPr id="2" name="Rectangle 1">
            <a:extLst>
              <a:ext uri="{FF2B5EF4-FFF2-40B4-BE49-F238E27FC236}">
                <a16:creationId xmlns:a16="http://schemas.microsoft.com/office/drawing/2014/main" id="{3B95FE42-C1DF-B538-65FC-553ACEE9A4C3}"/>
              </a:ext>
              <a:ext uri="{C183D7F6-B498-43B3-948B-1728B52AA6E4}">
                <adec:decorative xmlns:adec="http://schemas.microsoft.com/office/drawing/2017/decorative" val="1"/>
              </a:ext>
            </a:extLst>
          </p:cNvPr>
          <p:cNvSpPr/>
          <p:nvPr/>
        </p:nvSpPr>
        <p:spPr>
          <a:xfrm>
            <a:off x="4727848" y="1628800"/>
            <a:ext cx="7344816"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3219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2C919C4-A2E8-9AD6-CB6F-78D783DE32C9}"/>
              </a:ext>
            </a:extLst>
          </p:cNvPr>
          <p:cNvSpPr>
            <a:spLocks noGrp="1"/>
          </p:cNvSpPr>
          <p:nvPr>
            <p:ph type="title"/>
          </p:nvPr>
        </p:nvSpPr>
        <p:spPr>
          <a:xfrm>
            <a:off x="838200" y="365125"/>
            <a:ext cx="9977271" cy="548819"/>
          </a:xfrm>
        </p:spPr>
        <p:txBody>
          <a:bodyPr>
            <a:noAutofit/>
          </a:bodyPr>
          <a:lstStyle/>
          <a:p>
            <a:r>
              <a:rPr lang="en-GB" sz="3600" dirty="0"/>
              <a:t>Is the output from Chat GPT synthetic?</a:t>
            </a:r>
          </a:p>
        </p:txBody>
      </p:sp>
      <p:sp>
        <p:nvSpPr>
          <p:cNvPr id="4" name="Slide Number Placeholder 3"/>
          <p:cNvSpPr>
            <a:spLocks noGrp="1"/>
          </p:cNvSpPr>
          <p:nvPr>
            <p:ph type="sldNum" sz="quarter" idx="12"/>
          </p:nvPr>
        </p:nvSpPr>
        <p:spPr/>
        <p:txBody>
          <a:bodyPr/>
          <a:lstStyle/>
          <a:p>
            <a:fld id="{016687C5-7511-7743-B429-3BDBE272F28B}" type="slidenum">
              <a:rPr lang="en-US" smtClean="0"/>
              <a:t>19</a:t>
            </a:fld>
            <a:endParaRPr lang="en-US"/>
          </a:p>
        </p:txBody>
      </p:sp>
      <p:pic>
        <p:nvPicPr>
          <p:cNvPr id="8" name="Picture 7" descr="A mentimeter poll showed that 31 out of 36 respondents thought that the output from Chat GPT was synthetic data. 4 respondents thought it was not synthetic data, and 1 respondent was not sure. ">
            <a:extLst>
              <a:ext uri="{FF2B5EF4-FFF2-40B4-BE49-F238E27FC236}">
                <a16:creationId xmlns:a16="http://schemas.microsoft.com/office/drawing/2014/main" id="{A42CB142-3DE3-12CB-D5FC-3BD41CCAC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B86350DE-8150-C8BD-4855-FA4E372D33B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5255" t="31100" r="62918" b="16400"/>
          <a:stretch/>
        </p:blipFill>
        <p:spPr>
          <a:xfrm>
            <a:off x="8319864" y="1835478"/>
            <a:ext cx="3872136" cy="4833882"/>
          </a:xfrm>
          <a:prstGeom prst="rect">
            <a:avLst/>
          </a:prstGeom>
        </p:spPr>
      </p:pic>
      <p:sp>
        <p:nvSpPr>
          <p:cNvPr id="2" name="Rectangle 1">
            <a:extLst>
              <a:ext uri="{FF2B5EF4-FFF2-40B4-BE49-F238E27FC236}">
                <a16:creationId xmlns:a16="http://schemas.microsoft.com/office/drawing/2014/main" id="{F10B0C51-0BDA-E806-C7C1-D1BDA9413451}"/>
              </a:ext>
              <a:ext uri="{C183D7F6-B498-43B3-948B-1728B52AA6E4}">
                <adec:decorative xmlns:adec="http://schemas.microsoft.com/office/drawing/2017/decorative" val="1"/>
              </a:ext>
            </a:extLst>
          </p:cNvPr>
          <p:cNvSpPr/>
          <p:nvPr/>
        </p:nvSpPr>
        <p:spPr>
          <a:xfrm>
            <a:off x="4727848" y="1628800"/>
            <a:ext cx="7344816"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2187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3C9F7EA6-C9CB-C130-308C-CDCEA2383B76}"/>
              </a:ext>
            </a:extLst>
          </p:cNvPr>
          <p:cNvSpPr>
            <a:spLocks noGrp="1"/>
          </p:cNvSpPr>
          <p:nvPr>
            <p:ph type="title"/>
          </p:nvPr>
        </p:nvSpPr>
        <p:spPr>
          <a:xfrm>
            <a:off x="838200" y="365125"/>
            <a:ext cx="9977271" cy="548819"/>
          </a:xfrm>
        </p:spPr>
        <p:txBody>
          <a:bodyPr>
            <a:noAutofit/>
          </a:bodyPr>
          <a:lstStyle/>
          <a:p>
            <a:r>
              <a:rPr lang="en-GB" dirty="0"/>
              <a:t>Is stuff you just made up in your head synthetic?</a:t>
            </a:r>
            <a:endParaRPr lang="en-GB" sz="3600" dirty="0"/>
          </a:p>
        </p:txBody>
      </p:sp>
      <p:sp>
        <p:nvSpPr>
          <p:cNvPr id="4" name="Slide Number Placeholder 3"/>
          <p:cNvSpPr>
            <a:spLocks noGrp="1"/>
          </p:cNvSpPr>
          <p:nvPr>
            <p:ph type="sldNum" sz="quarter" idx="12"/>
          </p:nvPr>
        </p:nvSpPr>
        <p:spPr/>
        <p:txBody>
          <a:bodyPr/>
          <a:lstStyle/>
          <a:p>
            <a:fld id="{016687C5-7511-7743-B429-3BDBE272F28B}" type="slidenum">
              <a:rPr lang="en-US" smtClean="0"/>
              <a:t>20</a:t>
            </a:fld>
            <a:endParaRPr lang="en-US"/>
          </a:p>
        </p:txBody>
      </p:sp>
      <p:pic>
        <p:nvPicPr>
          <p:cNvPr id="8" name="Picture 7" descr="A mentimeter poll showed that 28 out of 36 respondents thought that the something that has just been made up was synthetic data. 11 respondents thought it was not synthetic data, and 2 respondents were not sure. ">
            <a:extLst>
              <a:ext uri="{FF2B5EF4-FFF2-40B4-BE49-F238E27FC236}">
                <a16:creationId xmlns:a16="http://schemas.microsoft.com/office/drawing/2014/main" id="{ABB2EA05-1DE7-E8C1-64DE-E5A27C3F7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8666FFAB-922E-69EE-B0AB-616A18A03D2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5188" t="37400" r="62403" b="10100"/>
          <a:stretch/>
        </p:blipFill>
        <p:spPr>
          <a:xfrm>
            <a:off x="8134920" y="1898441"/>
            <a:ext cx="4009752" cy="4770919"/>
          </a:xfrm>
          <a:prstGeom prst="rect">
            <a:avLst/>
          </a:prstGeom>
        </p:spPr>
      </p:pic>
      <p:sp>
        <p:nvSpPr>
          <p:cNvPr id="2" name="Rectangle 1">
            <a:extLst>
              <a:ext uri="{FF2B5EF4-FFF2-40B4-BE49-F238E27FC236}">
                <a16:creationId xmlns:a16="http://schemas.microsoft.com/office/drawing/2014/main" id="{708CF9CF-D9AA-E0B9-73BB-BB1CAF813484}"/>
              </a:ext>
              <a:ext uri="{C183D7F6-B498-43B3-948B-1728B52AA6E4}">
                <adec:decorative xmlns:adec="http://schemas.microsoft.com/office/drawing/2017/decorative" val="1"/>
              </a:ext>
            </a:extLst>
          </p:cNvPr>
          <p:cNvSpPr/>
          <p:nvPr/>
        </p:nvSpPr>
        <p:spPr>
          <a:xfrm>
            <a:off x="4727848" y="1628800"/>
            <a:ext cx="7344816"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3109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3600" dirty="0"/>
              <a:t>Fidelity</a:t>
            </a:r>
          </a:p>
        </p:txBody>
      </p:sp>
      <p:sp>
        <p:nvSpPr>
          <p:cNvPr id="2" name="Slide Number Placeholder 1"/>
          <p:cNvSpPr>
            <a:spLocks noGrp="1"/>
          </p:cNvSpPr>
          <p:nvPr>
            <p:ph type="sldNum" sz="quarter" idx="12"/>
          </p:nvPr>
        </p:nvSpPr>
        <p:spPr/>
        <p:txBody>
          <a:bodyPr/>
          <a:lstStyle/>
          <a:p>
            <a:fld id="{016687C5-7511-7743-B429-3BDBE272F28B}" type="slidenum">
              <a:rPr lang="en-US" smtClean="0"/>
              <a:t>21</a:t>
            </a:fld>
            <a:endParaRPr lang="en-US"/>
          </a:p>
        </p:txBody>
      </p:sp>
    </p:spTree>
    <p:extLst>
      <p:ext uri="{BB962C8B-B14F-4D97-AF65-F5344CB8AC3E}">
        <p14:creationId xmlns:p14="http://schemas.microsoft.com/office/powerpoint/2010/main" val="4033981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fidelity? </a:t>
            </a:r>
            <a:endParaRPr lang="en-GB" sz="3600" dirty="0"/>
          </a:p>
        </p:txBody>
      </p:sp>
      <p:sp>
        <p:nvSpPr>
          <p:cNvPr id="3" name="Text Placeholder 2"/>
          <p:cNvSpPr>
            <a:spLocks noGrp="1"/>
          </p:cNvSpPr>
          <p:nvPr>
            <p:ph type="body" sz="quarter" idx="13"/>
          </p:nvPr>
        </p:nvSpPr>
        <p:spPr/>
        <p:txBody>
          <a:bodyPr>
            <a:normAutofit/>
          </a:bodyPr>
          <a:lstStyle/>
          <a:p>
            <a:pPr marL="0" indent="0">
              <a:buNone/>
            </a:pPr>
            <a:r>
              <a:rPr lang="en-GB" sz="2800" dirty="0"/>
              <a:t>Fidelity means faithfulness. </a:t>
            </a:r>
          </a:p>
          <a:p>
            <a:pPr marL="0" indent="0">
              <a:buNone/>
            </a:pPr>
            <a:endParaRPr lang="en-GB" sz="2800" dirty="0"/>
          </a:p>
          <a:p>
            <a:pPr marL="0" indent="0">
              <a:buNone/>
            </a:pPr>
            <a:r>
              <a:rPr lang="en-GB" sz="2800" dirty="0"/>
              <a:t>But data faithfulness is not binary.</a:t>
            </a:r>
          </a:p>
          <a:p>
            <a:pPr marL="0" indent="0">
              <a:buNone/>
            </a:pPr>
            <a:endParaRPr lang="en-GB" sz="2800" dirty="0"/>
          </a:p>
        </p:txBody>
      </p:sp>
      <p:sp>
        <p:nvSpPr>
          <p:cNvPr id="4" name="Slide Number Placeholder 3"/>
          <p:cNvSpPr>
            <a:spLocks noGrp="1"/>
          </p:cNvSpPr>
          <p:nvPr>
            <p:ph type="sldNum" sz="quarter" idx="12"/>
          </p:nvPr>
        </p:nvSpPr>
        <p:spPr/>
        <p:txBody>
          <a:bodyPr/>
          <a:lstStyle/>
          <a:p>
            <a:fld id="{016687C5-7511-7743-B429-3BDBE272F28B}" type="slidenum">
              <a:rPr lang="en-US" smtClean="0"/>
              <a:t>22</a:t>
            </a:fld>
            <a:endParaRPr lang="en-US"/>
          </a:p>
        </p:txBody>
      </p:sp>
    </p:spTree>
    <p:extLst>
      <p:ext uri="{BB962C8B-B14F-4D97-AF65-F5344CB8AC3E}">
        <p14:creationId xmlns:p14="http://schemas.microsoft.com/office/powerpoint/2010/main" val="3418279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Synthetic data can be faithful on:</a:t>
            </a:r>
            <a:endParaRPr lang="en-GB" sz="3600" dirty="0"/>
          </a:p>
        </p:txBody>
      </p:sp>
      <p:sp>
        <p:nvSpPr>
          <p:cNvPr id="3" name="Text Placeholder 2"/>
          <p:cNvSpPr>
            <a:spLocks noGrp="1"/>
          </p:cNvSpPr>
          <p:nvPr>
            <p:ph type="body" sz="quarter" idx="13"/>
          </p:nvPr>
        </p:nvSpPr>
        <p:spPr/>
        <p:txBody>
          <a:bodyPr>
            <a:normAutofit/>
          </a:bodyPr>
          <a:lstStyle/>
          <a:p>
            <a:r>
              <a:rPr lang="en-GB" sz="2800" dirty="0"/>
              <a:t>number and/or type of variables?</a:t>
            </a:r>
          </a:p>
          <a:p>
            <a:r>
              <a:rPr lang="en-GB" sz="2800" dirty="0"/>
              <a:t>mean, range, standard deviation, distribution, etc.?</a:t>
            </a:r>
          </a:p>
          <a:p>
            <a:r>
              <a:rPr lang="en-GB" sz="2800" dirty="0"/>
              <a:t>documentation? </a:t>
            </a:r>
          </a:p>
          <a:p>
            <a:r>
              <a:rPr lang="en-GB" sz="2800" dirty="0"/>
              <a:t>volume of data? </a:t>
            </a:r>
          </a:p>
          <a:p>
            <a:r>
              <a:rPr lang="en-GB" sz="2800" dirty="0"/>
              <a:t>relationships between variables?</a:t>
            </a:r>
          </a:p>
          <a:p>
            <a:r>
              <a:rPr lang="en-GB" sz="2800" dirty="0"/>
              <a:t>other features?</a:t>
            </a:r>
          </a:p>
        </p:txBody>
      </p:sp>
      <p:sp>
        <p:nvSpPr>
          <p:cNvPr id="4" name="Slide Number Placeholder 3"/>
          <p:cNvSpPr>
            <a:spLocks noGrp="1"/>
          </p:cNvSpPr>
          <p:nvPr>
            <p:ph type="sldNum" sz="quarter" idx="12"/>
          </p:nvPr>
        </p:nvSpPr>
        <p:spPr/>
        <p:txBody>
          <a:bodyPr/>
          <a:lstStyle/>
          <a:p>
            <a:fld id="{016687C5-7511-7743-B429-3BDBE272F28B}" type="slidenum">
              <a:rPr lang="en-US" smtClean="0"/>
              <a:t>23</a:t>
            </a:fld>
            <a:endParaRPr lang="en-US"/>
          </a:p>
        </p:txBody>
      </p:sp>
    </p:spTree>
    <p:extLst>
      <p:ext uri="{BB962C8B-B14F-4D97-AF65-F5344CB8AC3E}">
        <p14:creationId xmlns:p14="http://schemas.microsoft.com/office/powerpoint/2010/main" val="677076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a:cs typeface="Arial"/>
              </a:rPr>
              <a:t>Example</a:t>
            </a:r>
            <a:endParaRPr lang="en-US" dirty="0"/>
          </a:p>
        </p:txBody>
      </p:sp>
      <p:sp>
        <p:nvSpPr>
          <p:cNvPr id="3" name="TextBox 2">
            <a:extLst>
              <a:ext uri="{FF2B5EF4-FFF2-40B4-BE49-F238E27FC236}">
                <a16:creationId xmlns:a16="http://schemas.microsoft.com/office/drawing/2014/main" id="{8965D911-4487-A98E-656E-8869443CAD82}"/>
              </a:ext>
              <a:ext uri="{C183D7F6-B498-43B3-948B-1728B52AA6E4}">
                <adec:decorative xmlns:adec="http://schemas.microsoft.com/office/drawing/2017/decorative" val="0"/>
              </a:ext>
            </a:extLst>
          </p:cNvPr>
          <p:cNvSpPr txBox="1"/>
          <p:nvPr/>
        </p:nvSpPr>
        <p:spPr>
          <a:xfrm>
            <a:off x="1919536" y="1369649"/>
            <a:ext cx="936104" cy="2031325"/>
          </a:xfrm>
          <a:prstGeom prst="rect">
            <a:avLst/>
          </a:prstGeom>
          <a:noFill/>
        </p:spPr>
        <p:txBody>
          <a:bodyPr wrap="square" rtlCol="0">
            <a:spAutoFit/>
          </a:bodyPr>
          <a:lstStyle/>
          <a:p>
            <a:r>
              <a:rPr lang="en-GB" dirty="0"/>
              <a:t>Real						</a:t>
            </a:r>
          </a:p>
        </p:txBody>
      </p:sp>
      <p:graphicFrame>
        <p:nvGraphicFramePr>
          <p:cNvPr id="5" name="Table 5">
            <a:extLst>
              <a:ext uri="{FF2B5EF4-FFF2-40B4-BE49-F238E27FC236}">
                <a16:creationId xmlns:a16="http://schemas.microsoft.com/office/drawing/2014/main" id="{7F8C4636-EA3A-741E-F2D2-C76232BADD0E}"/>
              </a:ext>
            </a:extLst>
          </p:cNvPr>
          <p:cNvGraphicFramePr>
            <a:graphicFrameLocks noGrp="1"/>
          </p:cNvGraphicFramePr>
          <p:nvPr>
            <p:extLst>
              <p:ext uri="{D42A27DB-BD31-4B8C-83A1-F6EECF244321}">
                <p14:modId xmlns:p14="http://schemas.microsoft.com/office/powerpoint/2010/main" val="3448834143"/>
              </p:ext>
            </p:extLst>
          </p:nvPr>
        </p:nvGraphicFramePr>
        <p:xfrm>
          <a:off x="983432" y="1831314"/>
          <a:ext cx="3024336" cy="4189974"/>
        </p:xfrm>
        <a:graphic>
          <a:graphicData uri="http://schemas.openxmlformats.org/drawingml/2006/table">
            <a:tbl>
              <a:tblPr firstRow="1" bandRow="1">
                <a:tableStyleId>{3B4B98B0-60AC-42C2-AFA5-B58CD77FA1E5}</a:tableStyleId>
              </a:tblPr>
              <a:tblGrid>
                <a:gridCol w="756084">
                  <a:extLst>
                    <a:ext uri="{9D8B030D-6E8A-4147-A177-3AD203B41FA5}">
                      <a16:colId xmlns:a16="http://schemas.microsoft.com/office/drawing/2014/main" val="4023300593"/>
                    </a:ext>
                  </a:extLst>
                </a:gridCol>
                <a:gridCol w="756084">
                  <a:extLst>
                    <a:ext uri="{9D8B030D-6E8A-4147-A177-3AD203B41FA5}">
                      <a16:colId xmlns:a16="http://schemas.microsoft.com/office/drawing/2014/main" val="2757757776"/>
                    </a:ext>
                  </a:extLst>
                </a:gridCol>
                <a:gridCol w="756084">
                  <a:extLst>
                    <a:ext uri="{9D8B030D-6E8A-4147-A177-3AD203B41FA5}">
                      <a16:colId xmlns:a16="http://schemas.microsoft.com/office/drawing/2014/main" val="3570379314"/>
                    </a:ext>
                  </a:extLst>
                </a:gridCol>
                <a:gridCol w="756084">
                  <a:extLst>
                    <a:ext uri="{9D8B030D-6E8A-4147-A177-3AD203B41FA5}">
                      <a16:colId xmlns:a16="http://schemas.microsoft.com/office/drawing/2014/main" val="101925934"/>
                    </a:ext>
                  </a:extLst>
                </a:gridCol>
              </a:tblGrid>
              <a:tr h="576063">
                <a:tc>
                  <a:txBody>
                    <a:bodyPr/>
                    <a:lstStyle/>
                    <a:p>
                      <a:r>
                        <a:rPr lang="en-GB" dirty="0"/>
                        <a:t>Q</a:t>
                      </a:r>
                    </a:p>
                  </a:txBody>
                  <a:tcPr/>
                </a:tc>
                <a:tc>
                  <a:txBody>
                    <a:bodyPr/>
                    <a:lstStyle/>
                    <a:p>
                      <a:r>
                        <a:rPr lang="en-GB" dirty="0"/>
                        <a:t>X</a:t>
                      </a:r>
                    </a:p>
                  </a:txBody>
                  <a:tcPr/>
                </a:tc>
                <a:tc>
                  <a:txBody>
                    <a:bodyPr/>
                    <a:lstStyle/>
                    <a:p>
                      <a:r>
                        <a:rPr lang="en-GB" dirty="0"/>
                        <a:t>Y</a:t>
                      </a:r>
                    </a:p>
                  </a:txBody>
                  <a:tcPr/>
                </a:tc>
                <a:tc>
                  <a:txBody>
                    <a:bodyPr/>
                    <a:lstStyle/>
                    <a:p>
                      <a:r>
                        <a:rPr lang="en-GB" dirty="0"/>
                        <a:t>Z</a:t>
                      </a:r>
                    </a:p>
                  </a:txBody>
                  <a:tcPr/>
                </a:tc>
                <a:extLst>
                  <a:ext uri="{0D108BD9-81ED-4DB2-BD59-A6C34878D82A}">
                    <a16:rowId xmlns:a16="http://schemas.microsoft.com/office/drawing/2014/main" val="4095879602"/>
                  </a:ext>
                </a:extLst>
              </a:tr>
              <a:tr h="643691">
                <a:tc>
                  <a:txBody>
                    <a:bodyPr/>
                    <a:lstStyle/>
                    <a:p>
                      <a:r>
                        <a:rPr lang="en-GB" dirty="0"/>
                        <a:t>1</a:t>
                      </a:r>
                    </a:p>
                  </a:txBody>
                  <a:tcPr/>
                </a:tc>
                <a:tc>
                  <a:txBody>
                    <a:bodyPr/>
                    <a:lstStyle/>
                    <a:p>
                      <a:r>
                        <a:rPr lang="en-GB" dirty="0"/>
                        <a:t>3</a:t>
                      </a:r>
                    </a:p>
                  </a:txBody>
                  <a:tcPr/>
                </a:tc>
                <a:tc>
                  <a:txBody>
                    <a:bodyPr/>
                    <a:lstStyle/>
                    <a:p>
                      <a:r>
                        <a:rPr lang="en-GB" dirty="0"/>
                        <a:t>45</a:t>
                      </a:r>
                    </a:p>
                  </a:txBody>
                  <a:tcPr/>
                </a:tc>
                <a:tc>
                  <a:txBody>
                    <a:bodyPr/>
                    <a:lstStyle/>
                    <a:p>
                      <a:r>
                        <a:rPr lang="en-GB" dirty="0"/>
                        <a:t>100</a:t>
                      </a:r>
                    </a:p>
                  </a:txBody>
                  <a:tcPr/>
                </a:tc>
                <a:extLst>
                  <a:ext uri="{0D108BD9-81ED-4DB2-BD59-A6C34878D82A}">
                    <a16:rowId xmlns:a16="http://schemas.microsoft.com/office/drawing/2014/main" val="83861875"/>
                  </a:ext>
                </a:extLst>
              </a:tr>
              <a:tr h="752297">
                <a:tc>
                  <a:txBody>
                    <a:bodyPr/>
                    <a:lstStyle/>
                    <a:p>
                      <a:r>
                        <a:rPr lang="en-GB" dirty="0"/>
                        <a:t>0</a:t>
                      </a:r>
                    </a:p>
                  </a:txBody>
                  <a:tcPr/>
                </a:tc>
                <a:tc>
                  <a:txBody>
                    <a:bodyPr/>
                    <a:lstStyle/>
                    <a:p>
                      <a:r>
                        <a:rPr lang="en-GB" dirty="0"/>
                        <a:t>9</a:t>
                      </a:r>
                    </a:p>
                  </a:txBody>
                  <a:tcPr/>
                </a:tc>
                <a:tc>
                  <a:txBody>
                    <a:bodyPr/>
                    <a:lstStyle/>
                    <a:p>
                      <a:r>
                        <a:rPr lang="en-GB" dirty="0"/>
                        <a:t>40</a:t>
                      </a:r>
                    </a:p>
                  </a:txBody>
                  <a:tcPr/>
                </a:tc>
                <a:tc>
                  <a:txBody>
                    <a:bodyPr/>
                    <a:lstStyle/>
                    <a:p>
                      <a:r>
                        <a:rPr lang="en-GB" dirty="0"/>
                        <a:t>200</a:t>
                      </a:r>
                    </a:p>
                  </a:txBody>
                  <a:tcPr/>
                </a:tc>
                <a:extLst>
                  <a:ext uri="{0D108BD9-81ED-4DB2-BD59-A6C34878D82A}">
                    <a16:rowId xmlns:a16="http://schemas.microsoft.com/office/drawing/2014/main" val="3456327180"/>
                  </a:ext>
                </a:extLst>
              </a:tr>
              <a:tr h="1191919">
                <a:tc>
                  <a:txBody>
                    <a:bodyPr/>
                    <a:lstStyle/>
                    <a:p>
                      <a:r>
                        <a:rPr lang="en-GB" dirty="0"/>
                        <a:t>0</a:t>
                      </a:r>
                    </a:p>
                  </a:txBody>
                  <a:tcPr/>
                </a:tc>
                <a:tc>
                  <a:txBody>
                    <a:bodyPr/>
                    <a:lstStyle/>
                    <a:p>
                      <a:r>
                        <a:rPr lang="en-GB" dirty="0"/>
                        <a:t>10</a:t>
                      </a:r>
                    </a:p>
                  </a:txBody>
                  <a:tcPr/>
                </a:tc>
                <a:tc>
                  <a:txBody>
                    <a:bodyPr/>
                    <a:lstStyle/>
                    <a:p>
                      <a:r>
                        <a:rPr lang="en-GB" dirty="0"/>
                        <a:t>40</a:t>
                      </a:r>
                    </a:p>
                  </a:txBody>
                  <a:tcPr/>
                </a:tc>
                <a:tc>
                  <a:txBody>
                    <a:bodyPr/>
                    <a:lstStyle/>
                    <a:p>
                      <a:r>
                        <a:rPr lang="en-GB" dirty="0"/>
                        <a:t>300</a:t>
                      </a:r>
                    </a:p>
                  </a:txBody>
                  <a:tcPr/>
                </a:tc>
                <a:extLst>
                  <a:ext uri="{0D108BD9-81ED-4DB2-BD59-A6C34878D82A}">
                    <a16:rowId xmlns:a16="http://schemas.microsoft.com/office/drawing/2014/main" val="1139984804"/>
                  </a:ext>
                </a:extLst>
              </a:tr>
              <a:tr h="1026004">
                <a:tc>
                  <a:txBody>
                    <a:bodyPr/>
                    <a:lstStyle/>
                    <a:p>
                      <a:r>
                        <a:rPr lang="en-GB" dirty="0"/>
                        <a:t>1</a:t>
                      </a:r>
                    </a:p>
                  </a:txBody>
                  <a:tcPr/>
                </a:tc>
                <a:tc>
                  <a:txBody>
                    <a:bodyPr/>
                    <a:lstStyle/>
                    <a:p>
                      <a:r>
                        <a:rPr lang="en-GB" dirty="0"/>
                        <a:t>9</a:t>
                      </a:r>
                    </a:p>
                  </a:txBody>
                  <a:tcPr/>
                </a:tc>
                <a:tc>
                  <a:txBody>
                    <a:bodyPr/>
                    <a:lstStyle/>
                    <a:p>
                      <a:r>
                        <a:rPr lang="en-GB" dirty="0"/>
                        <a:t>55</a:t>
                      </a:r>
                    </a:p>
                  </a:txBody>
                  <a:tcPr/>
                </a:tc>
                <a:tc>
                  <a:txBody>
                    <a:bodyPr/>
                    <a:lstStyle/>
                    <a:p>
                      <a:r>
                        <a:rPr lang="en-GB" dirty="0"/>
                        <a:t>200</a:t>
                      </a:r>
                    </a:p>
                  </a:txBody>
                  <a:tcPr/>
                </a:tc>
                <a:extLst>
                  <a:ext uri="{0D108BD9-81ED-4DB2-BD59-A6C34878D82A}">
                    <a16:rowId xmlns:a16="http://schemas.microsoft.com/office/drawing/2014/main" val="3357219580"/>
                  </a:ext>
                </a:extLst>
              </a:tr>
            </a:tbl>
          </a:graphicData>
        </a:graphic>
      </p:graphicFrame>
      <p:sp>
        <p:nvSpPr>
          <p:cNvPr id="7" name="TextBox 6">
            <a:extLst>
              <a:ext uri="{FF2B5EF4-FFF2-40B4-BE49-F238E27FC236}">
                <a16:creationId xmlns:a16="http://schemas.microsoft.com/office/drawing/2014/main" id="{A9B8E039-C6EF-87EA-9F06-44554C365B6A}"/>
              </a:ext>
              <a:ext uri="{C183D7F6-B498-43B3-948B-1728B52AA6E4}">
                <adec:decorative xmlns:adec="http://schemas.microsoft.com/office/drawing/2017/decorative" val="0"/>
              </a:ext>
            </a:extLst>
          </p:cNvPr>
          <p:cNvSpPr txBox="1"/>
          <p:nvPr/>
        </p:nvSpPr>
        <p:spPr>
          <a:xfrm>
            <a:off x="7184504" y="1340768"/>
            <a:ext cx="2655912" cy="369332"/>
          </a:xfrm>
          <a:prstGeom prst="rect">
            <a:avLst/>
          </a:prstGeom>
          <a:noFill/>
        </p:spPr>
        <p:txBody>
          <a:bodyPr wrap="square" rtlCol="0">
            <a:spAutoFit/>
          </a:bodyPr>
          <a:lstStyle/>
          <a:p>
            <a:r>
              <a:rPr lang="en-GB" dirty="0"/>
              <a:t>Synthetic</a:t>
            </a:r>
          </a:p>
        </p:txBody>
      </p:sp>
      <p:graphicFrame>
        <p:nvGraphicFramePr>
          <p:cNvPr id="6" name="Table 5">
            <a:extLst>
              <a:ext uri="{FF2B5EF4-FFF2-40B4-BE49-F238E27FC236}">
                <a16:creationId xmlns:a16="http://schemas.microsoft.com/office/drawing/2014/main" id="{2DEC99A0-51F0-C3CE-1F62-1E967E8AEEF5}"/>
              </a:ext>
            </a:extLst>
          </p:cNvPr>
          <p:cNvGraphicFramePr>
            <a:graphicFrameLocks noGrp="1"/>
          </p:cNvGraphicFramePr>
          <p:nvPr>
            <p:extLst>
              <p:ext uri="{D42A27DB-BD31-4B8C-83A1-F6EECF244321}">
                <p14:modId xmlns:p14="http://schemas.microsoft.com/office/powerpoint/2010/main" val="1227716567"/>
              </p:ext>
            </p:extLst>
          </p:nvPr>
        </p:nvGraphicFramePr>
        <p:xfrm>
          <a:off x="6384032" y="1831314"/>
          <a:ext cx="3024336" cy="4122347"/>
        </p:xfrm>
        <a:graphic>
          <a:graphicData uri="http://schemas.openxmlformats.org/drawingml/2006/table">
            <a:tbl>
              <a:tblPr firstRow="1" bandRow="1">
                <a:tableStyleId>{3B4B98B0-60AC-42C2-AFA5-B58CD77FA1E5}</a:tableStyleId>
              </a:tblPr>
              <a:tblGrid>
                <a:gridCol w="756084">
                  <a:extLst>
                    <a:ext uri="{9D8B030D-6E8A-4147-A177-3AD203B41FA5}">
                      <a16:colId xmlns:a16="http://schemas.microsoft.com/office/drawing/2014/main" val="4023300593"/>
                    </a:ext>
                  </a:extLst>
                </a:gridCol>
                <a:gridCol w="756084">
                  <a:extLst>
                    <a:ext uri="{9D8B030D-6E8A-4147-A177-3AD203B41FA5}">
                      <a16:colId xmlns:a16="http://schemas.microsoft.com/office/drawing/2014/main" val="2757757776"/>
                    </a:ext>
                  </a:extLst>
                </a:gridCol>
                <a:gridCol w="756084">
                  <a:extLst>
                    <a:ext uri="{9D8B030D-6E8A-4147-A177-3AD203B41FA5}">
                      <a16:colId xmlns:a16="http://schemas.microsoft.com/office/drawing/2014/main" val="3570379314"/>
                    </a:ext>
                  </a:extLst>
                </a:gridCol>
                <a:gridCol w="756084">
                  <a:extLst>
                    <a:ext uri="{9D8B030D-6E8A-4147-A177-3AD203B41FA5}">
                      <a16:colId xmlns:a16="http://schemas.microsoft.com/office/drawing/2014/main" val="101925934"/>
                    </a:ext>
                  </a:extLst>
                </a:gridCol>
              </a:tblGrid>
              <a:tr h="508436">
                <a:tc>
                  <a:txBody>
                    <a:bodyPr/>
                    <a:lstStyle/>
                    <a:p>
                      <a:r>
                        <a:rPr lang="en-GB" dirty="0"/>
                        <a:t>Q</a:t>
                      </a:r>
                    </a:p>
                  </a:txBody>
                  <a:tcPr/>
                </a:tc>
                <a:tc>
                  <a:txBody>
                    <a:bodyPr/>
                    <a:lstStyle/>
                    <a:p>
                      <a:r>
                        <a:rPr lang="en-GB" dirty="0"/>
                        <a:t>X</a:t>
                      </a:r>
                    </a:p>
                  </a:txBody>
                  <a:tcPr/>
                </a:tc>
                <a:tc>
                  <a:txBody>
                    <a:bodyPr/>
                    <a:lstStyle/>
                    <a:p>
                      <a:r>
                        <a:rPr lang="en-GB" dirty="0"/>
                        <a:t>Y</a:t>
                      </a:r>
                    </a:p>
                  </a:txBody>
                  <a:tcPr/>
                </a:tc>
                <a:tc>
                  <a:txBody>
                    <a:bodyPr/>
                    <a:lstStyle/>
                    <a:p>
                      <a:r>
                        <a:rPr lang="en-GB" dirty="0"/>
                        <a:t>Z</a:t>
                      </a:r>
                    </a:p>
                  </a:txBody>
                  <a:tcPr/>
                </a:tc>
                <a:extLst>
                  <a:ext uri="{0D108BD9-81ED-4DB2-BD59-A6C34878D82A}">
                    <a16:rowId xmlns:a16="http://schemas.microsoft.com/office/drawing/2014/main" val="4095879602"/>
                  </a:ext>
                </a:extLst>
              </a:tr>
              <a:tr h="643691">
                <a:tc>
                  <a:txBody>
                    <a:bodyPr/>
                    <a:lstStyle/>
                    <a:p>
                      <a:r>
                        <a:rPr lang="en-GB" dirty="0"/>
                        <a:t>3</a:t>
                      </a:r>
                    </a:p>
                  </a:txBody>
                  <a:tcPr/>
                </a:tc>
                <a:tc>
                  <a:txBody>
                    <a:bodyPr/>
                    <a:lstStyle/>
                    <a:p>
                      <a:r>
                        <a:rPr lang="en-GB" dirty="0"/>
                        <a:t>3</a:t>
                      </a:r>
                    </a:p>
                  </a:txBody>
                  <a:tcPr/>
                </a:tc>
                <a:tc>
                  <a:txBody>
                    <a:bodyPr/>
                    <a:lstStyle/>
                    <a:p>
                      <a:r>
                        <a:rPr lang="en-GB" dirty="0"/>
                        <a:t>45</a:t>
                      </a:r>
                    </a:p>
                  </a:txBody>
                  <a:tcPr/>
                </a:tc>
                <a:tc>
                  <a:txBody>
                    <a:bodyPr/>
                    <a:lstStyle/>
                    <a:p>
                      <a:r>
                        <a:rPr lang="en-GB" dirty="0"/>
                        <a:t>100.63</a:t>
                      </a:r>
                    </a:p>
                  </a:txBody>
                  <a:tcPr/>
                </a:tc>
                <a:extLst>
                  <a:ext uri="{0D108BD9-81ED-4DB2-BD59-A6C34878D82A}">
                    <a16:rowId xmlns:a16="http://schemas.microsoft.com/office/drawing/2014/main" val="83861875"/>
                  </a:ext>
                </a:extLst>
              </a:tr>
              <a:tr h="752297">
                <a:tc>
                  <a:txBody>
                    <a:bodyPr/>
                    <a:lstStyle/>
                    <a:p>
                      <a:r>
                        <a:rPr lang="en-GB" dirty="0"/>
                        <a:t>3</a:t>
                      </a:r>
                    </a:p>
                  </a:txBody>
                  <a:tcPr/>
                </a:tc>
                <a:tc>
                  <a:txBody>
                    <a:bodyPr/>
                    <a:lstStyle/>
                    <a:p>
                      <a:r>
                        <a:rPr lang="en-GB" dirty="0"/>
                        <a:t>6</a:t>
                      </a:r>
                    </a:p>
                  </a:txBody>
                  <a:tcPr/>
                </a:tc>
                <a:tc>
                  <a:txBody>
                    <a:bodyPr/>
                    <a:lstStyle/>
                    <a:p>
                      <a:r>
                        <a:rPr lang="en-GB" dirty="0"/>
                        <a:t>45</a:t>
                      </a:r>
                    </a:p>
                  </a:txBody>
                  <a:tcPr/>
                </a:tc>
                <a:tc>
                  <a:txBody>
                    <a:bodyPr/>
                    <a:lstStyle/>
                    <a:p>
                      <a:r>
                        <a:rPr lang="en-GB" dirty="0"/>
                        <a:t>234.98</a:t>
                      </a:r>
                    </a:p>
                  </a:txBody>
                  <a:tcPr/>
                </a:tc>
                <a:extLst>
                  <a:ext uri="{0D108BD9-81ED-4DB2-BD59-A6C34878D82A}">
                    <a16:rowId xmlns:a16="http://schemas.microsoft.com/office/drawing/2014/main" val="3456327180"/>
                  </a:ext>
                </a:extLst>
              </a:tr>
              <a:tr h="1191919">
                <a:tc>
                  <a:txBody>
                    <a:bodyPr/>
                    <a:lstStyle/>
                    <a:p>
                      <a:r>
                        <a:rPr lang="en-GB" dirty="0"/>
                        <a:t>4</a:t>
                      </a:r>
                    </a:p>
                  </a:txBody>
                  <a:tcPr/>
                </a:tc>
                <a:tc>
                  <a:txBody>
                    <a:bodyPr/>
                    <a:lstStyle/>
                    <a:p>
                      <a:r>
                        <a:rPr lang="en-GB" dirty="0"/>
                        <a:t>5</a:t>
                      </a:r>
                    </a:p>
                  </a:txBody>
                  <a:tcPr/>
                </a:tc>
                <a:tc>
                  <a:txBody>
                    <a:bodyPr/>
                    <a:lstStyle/>
                    <a:p>
                      <a:r>
                        <a:rPr lang="en-GB" dirty="0"/>
                        <a:t>45</a:t>
                      </a:r>
                    </a:p>
                  </a:txBody>
                  <a:tcPr/>
                </a:tc>
                <a:tc>
                  <a:txBody>
                    <a:bodyPr/>
                    <a:lstStyle/>
                    <a:p>
                      <a:r>
                        <a:rPr lang="en-GB" dirty="0"/>
                        <a:t>297.22</a:t>
                      </a:r>
                    </a:p>
                  </a:txBody>
                  <a:tcPr/>
                </a:tc>
                <a:extLst>
                  <a:ext uri="{0D108BD9-81ED-4DB2-BD59-A6C34878D82A}">
                    <a16:rowId xmlns:a16="http://schemas.microsoft.com/office/drawing/2014/main" val="1139984804"/>
                  </a:ext>
                </a:extLst>
              </a:tr>
              <a:tr h="1026004">
                <a:tc>
                  <a:txBody>
                    <a:bodyPr/>
                    <a:lstStyle/>
                    <a:p>
                      <a:r>
                        <a:rPr lang="en-GB" dirty="0"/>
                        <a:t>4</a:t>
                      </a:r>
                    </a:p>
                  </a:txBody>
                  <a:tcPr/>
                </a:tc>
                <a:tc>
                  <a:txBody>
                    <a:bodyPr/>
                    <a:lstStyle/>
                    <a:p>
                      <a:r>
                        <a:rPr lang="en-GB" dirty="0"/>
                        <a:t>8</a:t>
                      </a:r>
                    </a:p>
                  </a:txBody>
                  <a:tcPr/>
                </a:tc>
                <a:tc>
                  <a:txBody>
                    <a:bodyPr/>
                    <a:lstStyle/>
                    <a:p>
                      <a:r>
                        <a:rPr lang="en-GB" dirty="0"/>
                        <a:t>45</a:t>
                      </a:r>
                    </a:p>
                  </a:txBody>
                  <a:tcPr/>
                </a:tc>
                <a:tc>
                  <a:txBody>
                    <a:bodyPr/>
                    <a:lstStyle/>
                    <a:p>
                      <a:r>
                        <a:rPr lang="en-GB" dirty="0"/>
                        <a:t>174.99</a:t>
                      </a:r>
                    </a:p>
                  </a:txBody>
                  <a:tcPr/>
                </a:tc>
                <a:extLst>
                  <a:ext uri="{0D108BD9-81ED-4DB2-BD59-A6C34878D82A}">
                    <a16:rowId xmlns:a16="http://schemas.microsoft.com/office/drawing/2014/main" val="3357219580"/>
                  </a:ext>
                </a:extLst>
              </a:tr>
            </a:tbl>
          </a:graphicData>
        </a:graphic>
      </p:graphicFrame>
      <p:sp>
        <p:nvSpPr>
          <p:cNvPr id="4" name="Slide Number Placeholder 3"/>
          <p:cNvSpPr>
            <a:spLocks noGrp="1"/>
          </p:cNvSpPr>
          <p:nvPr>
            <p:ph type="sldNum" sz="quarter" idx="12"/>
          </p:nvPr>
        </p:nvSpPr>
        <p:spPr/>
        <p:txBody>
          <a:bodyPr/>
          <a:lstStyle/>
          <a:p>
            <a:fld id="{016687C5-7511-7743-B429-3BDBE272F28B}" type="slidenum">
              <a:rPr lang="en-US" smtClean="0"/>
              <a:t>24</a:t>
            </a:fld>
            <a:endParaRPr lang="en-US"/>
          </a:p>
        </p:txBody>
      </p:sp>
    </p:spTree>
    <p:extLst>
      <p:ext uri="{BB962C8B-B14F-4D97-AF65-F5344CB8AC3E}">
        <p14:creationId xmlns:p14="http://schemas.microsoft.com/office/powerpoint/2010/main" val="2366227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Relationships between variables</a:t>
            </a:r>
            <a:endParaRPr lang="en-GB" sz="3600" dirty="0"/>
          </a:p>
        </p:txBody>
      </p:sp>
      <p:pic>
        <p:nvPicPr>
          <p:cNvPr id="10" name="Google Shape;132;p25" descr="A graph showing weight correlating with height">
            <a:extLst>
              <a:ext uri="{FF2B5EF4-FFF2-40B4-BE49-F238E27FC236}">
                <a16:creationId xmlns:a16="http://schemas.microsoft.com/office/drawing/2014/main" id="{05AEEC5D-BBEC-F731-A57E-79C45EA022F8}"/>
              </a:ext>
            </a:extLst>
          </p:cNvPr>
          <p:cNvPicPr preferRelativeResize="0"/>
          <p:nvPr/>
        </p:nvPicPr>
        <p:blipFill>
          <a:blip r:embed="rId3">
            <a:alphaModFix/>
          </a:blip>
          <a:stretch>
            <a:fillRect/>
          </a:stretch>
        </p:blipFill>
        <p:spPr>
          <a:xfrm>
            <a:off x="2999656" y="1962565"/>
            <a:ext cx="6385500" cy="3471132"/>
          </a:xfrm>
          <a:prstGeom prst="rect">
            <a:avLst/>
          </a:prstGeom>
          <a:noFill/>
          <a:ln>
            <a:noFill/>
          </a:ln>
        </p:spPr>
      </p:pic>
      <p:sp>
        <p:nvSpPr>
          <p:cNvPr id="4" name="Slide Number Placeholder 3"/>
          <p:cNvSpPr>
            <a:spLocks noGrp="1"/>
          </p:cNvSpPr>
          <p:nvPr>
            <p:ph type="sldNum" sz="quarter" idx="12"/>
          </p:nvPr>
        </p:nvSpPr>
        <p:spPr/>
        <p:txBody>
          <a:bodyPr/>
          <a:lstStyle/>
          <a:p>
            <a:fld id="{016687C5-7511-7743-B429-3BDBE272F28B}" type="slidenum">
              <a:rPr lang="en-US" smtClean="0"/>
              <a:t>25</a:t>
            </a:fld>
            <a:endParaRPr lang="en-US"/>
          </a:p>
        </p:txBody>
      </p:sp>
    </p:spTree>
    <p:extLst>
      <p:ext uri="{BB962C8B-B14F-4D97-AF65-F5344CB8AC3E}">
        <p14:creationId xmlns:p14="http://schemas.microsoft.com/office/powerpoint/2010/main" val="2325095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Relationships between variables and outliers</a:t>
            </a:r>
            <a:endParaRPr lang="en-GB" sz="3600" dirty="0"/>
          </a:p>
        </p:txBody>
      </p:sp>
      <p:pic>
        <p:nvPicPr>
          <p:cNvPr id="10" name="Google Shape;132;p25">
            <a:extLst>
              <a:ext uri="{FF2B5EF4-FFF2-40B4-BE49-F238E27FC236}">
                <a16:creationId xmlns:a16="http://schemas.microsoft.com/office/drawing/2014/main" id="{05AEEC5D-BBEC-F731-A57E-79C45EA022F8}"/>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2999656" y="1962565"/>
            <a:ext cx="6385500" cy="3471132"/>
          </a:xfrm>
          <a:prstGeom prst="rect">
            <a:avLst/>
          </a:prstGeom>
          <a:noFill/>
          <a:ln>
            <a:noFill/>
          </a:ln>
        </p:spPr>
      </p:pic>
      <p:sp>
        <p:nvSpPr>
          <p:cNvPr id="3" name="Arrow: Left 2" descr="A red arrow indicates an outlier on the scatterplot of height to weight for the record with the max weight.   This emphasizes that if the max weight and relationship between height and weight are both preserved, then this record would be recreated in a synthetic version and might compromise anonymity. ">
            <a:extLst>
              <a:ext uri="{FF2B5EF4-FFF2-40B4-BE49-F238E27FC236}">
                <a16:creationId xmlns:a16="http://schemas.microsoft.com/office/drawing/2014/main" id="{7B656439-0889-BBC9-F623-DCA6CABAC074}"/>
              </a:ext>
            </a:extLst>
          </p:cNvPr>
          <p:cNvSpPr/>
          <p:nvPr/>
        </p:nvSpPr>
        <p:spPr>
          <a:xfrm rot="20432038">
            <a:off x="7211985" y="1868434"/>
            <a:ext cx="1080120" cy="432048"/>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p:cNvSpPr>
            <a:spLocks noGrp="1"/>
          </p:cNvSpPr>
          <p:nvPr>
            <p:ph type="sldNum" sz="quarter" idx="12"/>
          </p:nvPr>
        </p:nvSpPr>
        <p:spPr/>
        <p:txBody>
          <a:bodyPr/>
          <a:lstStyle/>
          <a:p>
            <a:fld id="{016687C5-7511-7743-B429-3BDBE272F28B}" type="slidenum">
              <a:rPr lang="en-US" smtClean="0"/>
              <a:t>26</a:t>
            </a:fld>
            <a:endParaRPr lang="en-US"/>
          </a:p>
        </p:txBody>
      </p:sp>
    </p:spTree>
    <p:extLst>
      <p:ext uri="{BB962C8B-B14F-4D97-AF65-F5344CB8AC3E}">
        <p14:creationId xmlns:p14="http://schemas.microsoft.com/office/powerpoint/2010/main" val="3590975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a:cs typeface="Arial"/>
              </a:rPr>
              <a:t>Risk?</a:t>
            </a:r>
            <a:endParaRPr lang="en-GB" dirty="0">
              <a:cs typeface="Arial"/>
            </a:endParaRP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vert="horz" lIns="91440" tIns="45720" rIns="91440" bIns="45720" rtlCol="0" anchor="t">
            <a:noAutofit/>
          </a:bodyPr>
          <a:lstStyle/>
          <a:p>
            <a:pPr marL="0" indent="0">
              <a:buNone/>
            </a:pPr>
            <a:r>
              <a:rPr lang="en-GB" sz="2800" dirty="0">
                <a:latin typeface="Arial"/>
                <a:cs typeface="Arial"/>
              </a:rPr>
              <a:t>Synthetic data has no disclosure risk, because there is no </a:t>
            </a:r>
            <a:r>
              <a:rPr lang="en-GB" sz="2800" i="1" dirty="0">
                <a:latin typeface="Arial"/>
                <a:cs typeface="Arial"/>
              </a:rPr>
              <a:t>real</a:t>
            </a:r>
            <a:r>
              <a:rPr lang="en-GB" sz="2800" dirty="0">
                <a:latin typeface="Arial"/>
                <a:cs typeface="Arial"/>
              </a:rPr>
              <a:t> data that can be disclosed. </a:t>
            </a:r>
            <a:endParaRPr lang="en-GB" sz="2800" dirty="0">
              <a:cs typeface="Arial"/>
            </a:endParaRPr>
          </a:p>
          <a:p>
            <a:pPr marL="0" indent="0">
              <a:buNone/>
            </a:pPr>
            <a:endParaRPr lang="en-GB" sz="2800" dirty="0">
              <a:latin typeface="Arial"/>
              <a:cs typeface="Arial"/>
            </a:endParaRPr>
          </a:p>
          <a:p>
            <a:pPr marL="0" indent="0">
              <a:buNone/>
            </a:pPr>
            <a:r>
              <a:rPr lang="en-GB" sz="2800">
                <a:latin typeface="Arial"/>
                <a:cs typeface="Arial"/>
              </a:rPr>
              <a:t>But (near) matches of high-fidelity data have an indication risk. </a:t>
            </a:r>
            <a:endParaRPr lang="en-GB" sz="2800" dirty="0">
              <a:cs typeface="Arial"/>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27</a:t>
            </a:fld>
            <a:endParaRPr lang="en-US"/>
          </a:p>
        </p:txBody>
      </p:sp>
    </p:spTree>
    <p:extLst>
      <p:ext uri="{BB962C8B-B14F-4D97-AF65-F5344CB8AC3E}">
        <p14:creationId xmlns:p14="http://schemas.microsoft.com/office/powerpoint/2010/main" val="2587483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High-fidelity synthetic data</a:t>
            </a:r>
            <a:endParaRPr lang="en-GB" sz="3600" dirty="0"/>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vert="horz" lIns="91440" tIns="45720" rIns="91440" bIns="45720" rtlCol="0" anchor="t">
            <a:noAutofit/>
          </a:bodyPr>
          <a:lstStyle/>
          <a:p>
            <a:pPr marL="0" indent="0">
              <a:buNone/>
            </a:pPr>
            <a:r>
              <a:rPr lang="en-GB" sz="2800">
                <a:latin typeface="Arial"/>
                <a:cs typeface="Arial"/>
              </a:rPr>
              <a:t>Nothing can be 100% faithful or it would just be identical to the real-world data.</a:t>
            </a:r>
            <a:endParaRPr lang="en-US">
              <a:cs typeface="Arial" panose="020B0604020202020204" pitchFamily="34" charset="0"/>
            </a:endParaRPr>
          </a:p>
          <a:p>
            <a:pPr marL="0" indent="0">
              <a:buNone/>
            </a:pPr>
            <a:endParaRPr lang="en-GB" sz="2800" dirty="0">
              <a:latin typeface="Arial"/>
              <a:cs typeface="Arial"/>
            </a:endParaRPr>
          </a:p>
          <a:p>
            <a:pPr marL="0" indent="0">
              <a:buNone/>
            </a:pPr>
            <a:r>
              <a:rPr lang="en-GB" sz="2800">
                <a:latin typeface="Arial"/>
                <a:cs typeface="Arial"/>
              </a:rPr>
              <a:t>Must be custom built to suit the </a:t>
            </a:r>
            <a:r>
              <a:rPr lang="en-GB" sz="2800" dirty="0">
                <a:latin typeface="Arial"/>
                <a:cs typeface="Arial"/>
              </a:rPr>
              <a:t>particular dataset, research question, use case and generation method. </a:t>
            </a:r>
            <a:endParaRPr lang="en-US"/>
          </a:p>
          <a:p>
            <a:pPr marL="0" indent="0">
              <a:buNone/>
            </a:pPr>
            <a:endParaRPr lang="en-GB" sz="2800" dirty="0"/>
          </a:p>
          <a:p>
            <a:pPr marL="0" indent="0">
              <a:buNone/>
            </a:pPr>
            <a:r>
              <a:rPr lang="en-GB" sz="2800" dirty="0">
                <a:latin typeface="Arial"/>
                <a:cs typeface="Arial"/>
              </a:rPr>
              <a:t>Need to clarify exactly *which* features of the original </a:t>
            </a:r>
            <a:r>
              <a:rPr lang="en-GB" sz="2800">
                <a:latin typeface="Arial"/>
                <a:cs typeface="Arial"/>
              </a:rPr>
              <a:t>need to be faithful, which can be unfaithful, and how. </a:t>
            </a:r>
          </a:p>
          <a:p>
            <a:pPr marL="0" indent="0">
              <a:buNone/>
            </a:pPr>
            <a:endParaRPr lang="en-GB" sz="2800" dirty="0"/>
          </a:p>
          <a:p>
            <a:pPr marL="0" indent="0">
              <a:buNone/>
            </a:pPr>
            <a:r>
              <a:rPr lang="en-GB" sz="2800" dirty="0">
                <a:latin typeface="Arial"/>
                <a:cs typeface="Arial"/>
              </a:rPr>
              <a:t> </a:t>
            </a:r>
          </a:p>
        </p:txBody>
      </p:sp>
      <p:sp>
        <p:nvSpPr>
          <p:cNvPr id="4" name="Slide Number Placeholder 3"/>
          <p:cNvSpPr>
            <a:spLocks noGrp="1"/>
          </p:cNvSpPr>
          <p:nvPr>
            <p:ph type="sldNum" sz="quarter" idx="12"/>
          </p:nvPr>
        </p:nvSpPr>
        <p:spPr/>
        <p:txBody>
          <a:bodyPr/>
          <a:lstStyle/>
          <a:p>
            <a:fld id="{016687C5-7511-7743-B429-3BDBE272F28B}" type="slidenum">
              <a:rPr lang="en-US" smtClean="0"/>
              <a:t>28</a:t>
            </a:fld>
            <a:endParaRPr lang="en-US"/>
          </a:p>
        </p:txBody>
      </p:sp>
    </p:spTree>
    <p:extLst>
      <p:ext uri="{BB962C8B-B14F-4D97-AF65-F5344CB8AC3E}">
        <p14:creationId xmlns:p14="http://schemas.microsoft.com/office/powerpoint/2010/main" val="2789814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Greater fidelity is not always better</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vert="horz" lIns="91440" tIns="45720" rIns="91440" bIns="45720" rtlCol="0" anchor="t">
            <a:noAutofit/>
          </a:bodyPr>
          <a:lstStyle/>
          <a:p>
            <a:pPr marL="0" indent="0">
              <a:buNone/>
            </a:pPr>
            <a:r>
              <a:rPr lang="en-GB" sz="2800">
                <a:latin typeface="Arial"/>
                <a:cs typeface="Arial"/>
              </a:rPr>
              <a:t>Some synthetic data is more useful if it is</a:t>
            </a:r>
            <a:r>
              <a:rPr lang="en-GB" sz="2800" dirty="0">
                <a:latin typeface="Arial"/>
                <a:cs typeface="Arial"/>
              </a:rPr>
              <a:t> NOT faithful to the original in some ways. </a:t>
            </a:r>
          </a:p>
          <a:p>
            <a:pPr marL="0" indent="0">
              <a:buNone/>
            </a:pPr>
            <a:endParaRPr lang="en-GB" sz="2800" dirty="0"/>
          </a:p>
          <a:p>
            <a:pPr marL="0" indent="0">
              <a:buNone/>
            </a:pPr>
            <a:r>
              <a:rPr lang="en-GB" sz="2800" dirty="0"/>
              <a:t>Example: </a:t>
            </a:r>
          </a:p>
          <a:p>
            <a:pPr marL="0" indent="0">
              <a:buNone/>
            </a:pPr>
            <a:r>
              <a:rPr lang="en-GB" sz="2800" dirty="0"/>
              <a:t>Goal = AI tool to categorise skin lesion pictures by risk</a:t>
            </a:r>
          </a:p>
          <a:p>
            <a:pPr marL="0" indent="0">
              <a:buNone/>
            </a:pPr>
            <a:r>
              <a:rPr lang="en-GB" sz="2800" dirty="0"/>
              <a:t>Problem = real data has relatively few photos of skin lesions on POC</a:t>
            </a:r>
          </a:p>
        </p:txBody>
      </p:sp>
      <p:sp>
        <p:nvSpPr>
          <p:cNvPr id="4" name="Slide Number Placeholder 3"/>
          <p:cNvSpPr>
            <a:spLocks noGrp="1"/>
          </p:cNvSpPr>
          <p:nvPr>
            <p:ph type="sldNum" sz="quarter" idx="12"/>
          </p:nvPr>
        </p:nvSpPr>
        <p:spPr/>
        <p:txBody>
          <a:bodyPr/>
          <a:lstStyle/>
          <a:p>
            <a:fld id="{016687C5-7511-7743-B429-3BDBE272F28B}" type="slidenum">
              <a:rPr lang="en-US" smtClean="0"/>
              <a:t>29</a:t>
            </a:fld>
            <a:endParaRPr lang="en-US"/>
          </a:p>
        </p:txBody>
      </p:sp>
    </p:spTree>
    <p:extLst>
      <p:ext uri="{BB962C8B-B14F-4D97-AF65-F5344CB8AC3E}">
        <p14:creationId xmlns:p14="http://schemas.microsoft.com/office/powerpoint/2010/main" val="1287035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3600" dirty="0"/>
              <a:t>Purposes for synthetic data</a:t>
            </a:r>
          </a:p>
        </p:txBody>
      </p:sp>
      <p:sp>
        <p:nvSpPr>
          <p:cNvPr id="2" name="Slide Number Placeholder 1"/>
          <p:cNvSpPr>
            <a:spLocks noGrp="1"/>
          </p:cNvSpPr>
          <p:nvPr>
            <p:ph type="sldNum" sz="quarter" idx="12"/>
          </p:nvPr>
        </p:nvSpPr>
        <p:spPr/>
        <p:txBody>
          <a:bodyPr/>
          <a:lstStyle/>
          <a:p>
            <a:fld id="{016687C5-7511-7743-B429-3BDBE272F28B}" type="slidenum">
              <a:rPr lang="en-US" smtClean="0"/>
              <a:t>30</a:t>
            </a:fld>
            <a:endParaRPr lang="en-US"/>
          </a:p>
        </p:txBody>
      </p:sp>
    </p:spTree>
    <p:extLst>
      <p:ext uri="{BB962C8B-B14F-4D97-AF65-F5344CB8AC3E}">
        <p14:creationId xmlns:p14="http://schemas.microsoft.com/office/powerpoint/2010/main" val="3267654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Preview</a:t>
            </a:r>
          </a:p>
        </p:txBody>
      </p:sp>
      <p:pic>
        <p:nvPicPr>
          <p:cNvPr id="1026" name="Picture 2" descr="Example: Loading Data into a Table">
            <a:extLst>
              <a:ext uri="{FF2B5EF4-FFF2-40B4-BE49-F238E27FC236}">
                <a16:creationId xmlns:a16="http://schemas.microsoft.com/office/drawing/2014/main" id="{82D83532-38D7-4840-3436-A86571CB6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1268760"/>
            <a:ext cx="7080274" cy="4712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895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1- Preview</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Small </a:t>
            </a:r>
          </a:p>
          <a:p>
            <a:pPr marL="0" indent="0" algn="l">
              <a:buNone/>
            </a:pPr>
            <a:r>
              <a:rPr lang="en-GB" sz="2800" b="0" i="0" u="none" strike="noStrike" baseline="0" dirty="0">
                <a:latin typeface="+mn-lt"/>
              </a:rPr>
              <a:t>demonstrates structure/style</a:t>
            </a:r>
          </a:p>
          <a:p>
            <a:pPr marL="0" indent="0" algn="l">
              <a:buNone/>
            </a:pPr>
            <a:r>
              <a:rPr lang="en-GB" sz="2800" dirty="0">
                <a:latin typeface="+mn-lt"/>
              </a:rPr>
              <a:t>These should be faithful to:</a:t>
            </a:r>
          </a:p>
          <a:p>
            <a:pPr algn="l"/>
            <a:r>
              <a:rPr lang="en-GB" sz="2800" b="0" i="0" u="none" strike="noStrike" baseline="0" dirty="0">
                <a:latin typeface="+mn-lt"/>
              </a:rPr>
              <a:t>Number and type of fields</a:t>
            </a:r>
          </a:p>
          <a:p>
            <a:pPr algn="l"/>
            <a:r>
              <a:rPr lang="en-GB" sz="2800" b="0" i="0" u="none" strike="noStrike" baseline="0" dirty="0">
                <a:latin typeface="+mn-lt"/>
              </a:rPr>
              <a:t>Format </a:t>
            </a:r>
          </a:p>
          <a:p>
            <a:pPr algn="l"/>
            <a:r>
              <a:rPr lang="en-GB" sz="2800" b="0" i="0" u="none" strike="noStrike" baseline="0" dirty="0">
                <a:latin typeface="+mn-lt"/>
              </a:rPr>
              <a:t>Features that make the data unique</a:t>
            </a:r>
          </a:p>
          <a:p>
            <a:pPr algn="l"/>
            <a:r>
              <a:rPr lang="en-GB" sz="2800" dirty="0">
                <a:latin typeface="+mn-lt"/>
              </a:rPr>
              <a:t>May i</a:t>
            </a:r>
            <a:r>
              <a:rPr lang="en-GB" sz="2800" b="0" i="0" u="none" strike="noStrike" baseline="0" dirty="0">
                <a:latin typeface="+mn-lt"/>
              </a:rPr>
              <a:t>ndicate features/relationships of interest</a:t>
            </a:r>
            <a:endParaRPr lang="en-GB" sz="280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32</a:t>
            </a:fld>
            <a:endParaRPr lang="en-US"/>
          </a:p>
        </p:txBody>
      </p:sp>
    </p:spTree>
    <p:extLst>
      <p:ext uri="{BB962C8B-B14F-4D97-AF65-F5344CB8AC3E}">
        <p14:creationId xmlns:p14="http://schemas.microsoft.com/office/powerpoint/2010/main" val="2245886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Proof of concept</a:t>
            </a:r>
          </a:p>
        </p:txBody>
      </p:sp>
      <p:pic>
        <p:nvPicPr>
          <p:cNvPr id="2050" name="Picture 2" descr="101: Scikit-learn 98:Datasets 1: Toy datasets - YouTube">
            <a:extLst>
              <a:ext uri="{FF2B5EF4-FFF2-40B4-BE49-F238E27FC236}">
                <a16:creationId xmlns:a16="http://schemas.microsoft.com/office/drawing/2014/main" id="{A88046D6-CEDA-80C8-7A81-C4D14F78F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60" y="1052736"/>
            <a:ext cx="8112224" cy="456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094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2 - Proof of concept</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Sufficiently large </a:t>
            </a:r>
          </a:p>
          <a:p>
            <a:pPr marL="0" indent="0" algn="l">
              <a:buNone/>
            </a:pPr>
            <a:r>
              <a:rPr lang="en-GB" sz="2800" dirty="0">
                <a:latin typeface="+mn-lt"/>
              </a:rPr>
              <a:t>usefully</a:t>
            </a:r>
            <a:r>
              <a:rPr lang="en-GB" sz="2800" b="0" i="0" u="none" strike="noStrike" baseline="0" dirty="0">
                <a:latin typeface="+mn-lt"/>
              </a:rPr>
              <a:t> demonstrates </a:t>
            </a:r>
            <a:r>
              <a:rPr lang="en-GB" sz="2800" dirty="0">
                <a:latin typeface="+mn-lt"/>
              </a:rPr>
              <a:t>that:</a:t>
            </a:r>
          </a:p>
          <a:p>
            <a:r>
              <a:rPr lang="en-GB" sz="2800" dirty="0">
                <a:latin typeface="+mn-lt"/>
              </a:rPr>
              <a:t>Concepts theoretically could work on the real data</a:t>
            </a:r>
            <a:endParaRPr lang="en-GB" sz="2800" b="0" i="0" u="none" strike="noStrike" baseline="0" dirty="0">
              <a:latin typeface="+mn-lt"/>
            </a:endParaRPr>
          </a:p>
          <a:p>
            <a:pPr algn="l"/>
            <a:r>
              <a:rPr lang="en-GB" sz="2800" b="0" i="0" u="none" strike="noStrike" baseline="0" dirty="0">
                <a:latin typeface="+mn-lt"/>
              </a:rPr>
              <a:t>Visualisations/maps/outputs are useful</a:t>
            </a:r>
          </a:p>
          <a:p>
            <a:pPr marL="0" indent="0" algn="l">
              <a:buNone/>
            </a:pPr>
            <a:r>
              <a:rPr lang="en-GB" sz="2800" dirty="0">
                <a:latin typeface="+mn-lt"/>
              </a:rPr>
              <a:t>May be:</a:t>
            </a:r>
          </a:p>
          <a:p>
            <a:r>
              <a:rPr lang="en-GB" sz="2800" b="0" i="0" u="none" strike="noStrike" baseline="0" dirty="0">
                <a:latin typeface="+mn-lt"/>
              </a:rPr>
              <a:t>Preliminary step</a:t>
            </a:r>
          </a:p>
          <a:p>
            <a:r>
              <a:rPr lang="en-GB" sz="2800" dirty="0">
                <a:latin typeface="+mn-lt"/>
              </a:rPr>
              <a:t>Called a “toy dataset”</a:t>
            </a:r>
          </a:p>
        </p:txBody>
      </p:sp>
      <p:sp>
        <p:nvSpPr>
          <p:cNvPr id="4" name="Slide Number Placeholder 3"/>
          <p:cNvSpPr>
            <a:spLocks noGrp="1"/>
          </p:cNvSpPr>
          <p:nvPr>
            <p:ph type="sldNum" sz="quarter" idx="12"/>
          </p:nvPr>
        </p:nvSpPr>
        <p:spPr/>
        <p:txBody>
          <a:bodyPr/>
          <a:lstStyle/>
          <a:p>
            <a:fld id="{016687C5-7511-7743-B429-3BDBE272F28B}" type="slidenum">
              <a:rPr lang="en-US" smtClean="0"/>
              <a:t>34</a:t>
            </a:fld>
            <a:endParaRPr lang="en-US"/>
          </a:p>
        </p:txBody>
      </p:sp>
    </p:spTree>
    <p:extLst>
      <p:ext uri="{BB962C8B-B14F-4D97-AF65-F5344CB8AC3E}">
        <p14:creationId xmlns:p14="http://schemas.microsoft.com/office/powerpoint/2010/main" val="1642425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63E77EB-7A3D-4712-97DE-1F34DDE7C7DB}"/>
              </a:ext>
            </a:extLst>
          </p:cNvPr>
          <p:cNvSpPr>
            <a:spLocks noGrp="1"/>
          </p:cNvSpPr>
          <p:nvPr>
            <p:ph type="title"/>
          </p:nvPr>
        </p:nvSpPr>
        <p:spPr>
          <a:xfrm>
            <a:off x="838200" y="365125"/>
            <a:ext cx="9977271" cy="548819"/>
          </a:xfrm>
        </p:spPr>
        <p:txBody>
          <a:bodyPr/>
          <a:lstStyle/>
          <a:p>
            <a:r>
              <a:rPr lang="en-GB" dirty="0"/>
              <a:t>Have you ever used data for preview or proof of concept purposes?</a:t>
            </a:r>
          </a:p>
        </p:txBody>
      </p:sp>
      <p:pic>
        <p:nvPicPr>
          <p:cNvPr id="4" name="Picture 3" descr="A mentimeter poll with 35 respondents shows that none had used synthetic data only for preview purposes, that 11 had used it for proof of concept purposes, that 4 had used it for both preview and proof of concept purposes, that 19 had not used it for either of these purposes and that 1 was not sure. ">
            <a:extLst>
              <a:ext uri="{FF2B5EF4-FFF2-40B4-BE49-F238E27FC236}">
                <a16:creationId xmlns:a16="http://schemas.microsoft.com/office/drawing/2014/main" id="{A6F7F61D-7D21-E283-6EBA-1716E5FC3ABB}"/>
              </a:ext>
            </a:extLst>
          </p:cNvPr>
          <p:cNvPicPr>
            <a:picLocks noChangeAspect="1"/>
          </p:cNvPicPr>
          <p:nvPr/>
        </p:nvPicPr>
        <p:blipFill rotWithShape="1">
          <a:blip r:embed="rId2">
            <a:extLst>
              <a:ext uri="{28A0092B-C50C-407E-A947-70E740481C1C}">
                <a14:useLocalDpi xmlns:a14="http://schemas.microsoft.com/office/drawing/2010/main" val="0"/>
              </a:ext>
            </a:extLst>
          </a:blip>
          <a:srcRect t="32150"/>
          <a:stretch/>
        </p:blipFill>
        <p:spPr>
          <a:xfrm>
            <a:off x="0" y="2204864"/>
            <a:ext cx="12192000" cy="4653136"/>
          </a:xfrm>
          <a:prstGeom prst="rect">
            <a:avLst/>
          </a:prstGeom>
        </p:spPr>
      </p:pic>
      <p:pic>
        <p:nvPicPr>
          <p:cNvPr id="6146" name="Picture 2">
            <a:extLst>
              <a:ext uri="{FF2B5EF4-FFF2-40B4-BE49-F238E27FC236}">
                <a16:creationId xmlns:a16="http://schemas.microsoft.com/office/drawing/2014/main" id="{BDA41FB0-A7D8-D63E-3808-2DDEFE8281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901" b="-1450"/>
          <a:stretch/>
        </p:blipFill>
        <p:spPr bwMode="auto">
          <a:xfrm>
            <a:off x="0" y="1844824"/>
            <a:ext cx="12192000" cy="51125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F7B311F-EBFA-F2AC-09B1-71D12BF8CB0B}"/>
              </a:ext>
              <a:ext uri="{C183D7F6-B498-43B3-948B-1728B52AA6E4}">
                <adec:decorative xmlns:adec="http://schemas.microsoft.com/office/drawing/2017/decorative" val="1"/>
              </a:ext>
            </a:extLst>
          </p:cNvPr>
          <p:cNvSpPr/>
          <p:nvPr/>
        </p:nvSpPr>
        <p:spPr>
          <a:xfrm>
            <a:off x="335360" y="1628800"/>
            <a:ext cx="11737304"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66552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Availability</a:t>
            </a:r>
          </a:p>
        </p:txBody>
      </p:sp>
      <p:pic>
        <p:nvPicPr>
          <p:cNvPr id="3074" name="Picture 2" descr="Mission: Impossible' at 25: Tom Cruise kept hitting face in CIA heist">
            <a:extLst>
              <a:ext uri="{FF2B5EF4-FFF2-40B4-BE49-F238E27FC236}">
                <a16:creationId xmlns:a16="http://schemas.microsoft.com/office/drawing/2014/main" id="{9A4A20B9-0AB0-4F9A-1A52-A1AED9A847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231" y="999277"/>
            <a:ext cx="7259538" cy="485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026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 Availability</a:t>
            </a:r>
            <a:endParaRPr lang="en-GB" sz="3600" dirty="0"/>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Sufficiently large </a:t>
            </a:r>
          </a:p>
          <a:p>
            <a:pPr marL="0" indent="0" algn="l">
              <a:buNone/>
            </a:pPr>
            <a:r>
              <a:rPr lang="en-GB" sz="2800" dirty="0">
                <a:latin typeface="+mn-lt"/>
              </a:rPr>
              <a:t>For example:</a:t>
            </a:r>
          </a:p>
          <a:p>
            <a:r>
              <a:rPr lang="en-GB" sz="2800" b="0" i="0" u="none" strike="noStrike" baseline="0" dirty="0">
                <a:latin typeface="+mn-lt"/>
              </a:rPr>
              <a:t>Not currently available </a:t>
            </a:r>
            <a:r>
              <a:rPr lang="en-GB" sz="2800" dirty="0">
                <a:latin typeface="+mn-lt"/>
              </a:rPr>
              <a:t>(in the right format)</a:t>
            </a:r>
            <a:endParaRPr lang="en-GB" sz="2800" b="0" i="0" u="none" strike="noStrike" baseline="0" dirty="0">
              <a:latin typeface="+mn-lt"/>
            </a:endParaRPr>
          </a:p>
          <a:p>
            <a:pPr algn="l"/>
            <a:r>
              <a:rPr lang="en-GB" sz="2800" dirty="0">
                <a:latin typeface="+mn-lt"/>
              </a:rPr>
              <a:t>Rare or very negative events </a:t>
            </a:r>
          </a:p>
          <a:p>
            <a:pPr algn="l"/>
            <a:r>
              <a:rPr lang="en-GB" sz="2800" dirty="0">
                <a:latin typeface="+mn-lt"/>
              </a:rPr>
              <a:t>Unethical situations</a:t>
            </a:r>
          </a:p>
          <a:p>
            <a:pPr algn="l"/>
            <a:r>
              <a:rPr lang="en-GB" sz="2800" dirty="0">
                <a:latin typeface="+mn-lt"/>
              </a:rPr>
              <a:t>Unfeasible requirements </a:t>
            </a:r>
          </a:p>
          <a:p>
            <a:pPr algn="l"/>
            <a:endParaRPr lang="en-GB" sz="2800" b="0" i="0" u="none" strike="noStrike" baseline="0" dirty="0">
              <a:latin typeface="+mn-lt"/>
            </a:endParaRPr>
          </a:p>
          <a:p>
            <a:pPr marL="0" indent="0" algn="l">
              <a:buNone/>
            </a:pPr>
            <a:r>
              <a:rPr lang="en-GB" sz="2800" dirty="0">
                <a:latin typeface="+mn-lt"/>
              </a:rPr>
              <a:t>May be p</a:t>
            </a:r>
            <a:r>
              <a:rPr lang="en-GB" sz="2800" b="0" i="0" u="none" strike="noStrike" baseline="0" dirty="0">
                <a:latin typeface="+mn-lt"/>
              </a:rPr>
              <a:t>reliminary steps or may be the whole research. </a:t>
            </a:r>
            <a:endParaRPr lang="en-GB" sz="280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37</a:t>
            </a:fld>
            <a:endParaRPr lang="en-US"/>
          </a:p>
        </p:txBody>
      </p:sp>
    </p:spTree>
    <p:extLst>
      <p:ext uri="{BB962C8B-B14F-4D97-AF65-F5344CB8AC3E}">
        <p14:creationId xmlns:p14="http://schemas.microsoft.com/office/powerpoint/2010/main" val="3770677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Presentation</a:t>
            </a:r>
          </a:p>
        </p:txBody>
      </p:sp>
      <p:pic>
        <p:nvPicPr>
          <p:cNvPr id="4100" name="Picture 4" descr="Toward more effective data use in teaching - kappanonline.org">
            <a:extLst>
              <a:ext uri="{FF2B5EF4-FFF2-40B4-BE49-F238E27FC236}">
                <a16:creationId xmlns:a16="http://schemas.microsoft.com/office/drawing/2014/main" id="{BF48C9EE-40E3-3263-6832-DF81E9CB2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559" y="1299028"/>
            <a:ext cx="6742881" cy="4259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907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4 - Presentation</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dirty="0">
                <a:latin typeface="+mn-lt"/>
              </a:rPr>
              <a:t>Sufficiently large</a:t>
            </a:r>
          </a:p>
          <a:p>
            <a:pPr marL="0" indent="0" algn="l">
              <a:buNone/>
            </a:pPr>
            <a:r>
              <a:rPr lang="en-GB" sz="2800" b="0" i="0" u="none" strike="noStrike" baseline="0" dirty="0">
                <a:latin typeface="+mn-lt"/>
              </a:rPr>
              <a:t>• Representative in relevant ways</a:t>
            </a:r>
          </a:p>
          <a:p>
            <a:r>
              <a:rPr lang="en-GB" sz="2800" dirty="0">
                <a:latin typeface="+mn-lt"/>
              </a:rPr>
              <a:t>Take care if it could be mis</a:t>
            </a:r>
            <a:r>
              <a:rPr lang="en-GB" sz="2800" b="0" i="0" u="none" strike="noStrike" baseline="0" dirty="0">
                <a:latin typeface="+mn-lt"/>
              </a:rPr>
              <a:t>taken as real</a:t>
            </a:r>
          </a:p>
          <a:p>
            <a:pPr algn="l"/>
            <a:r>
              <a:rPr lang="en-GB" sz="2800" b="0" i="0" u="none" strike="noStrike" baseline="0" dirty="0">
                <a:latin typeface="+mn-lt"/>
              </a:rPr>
              <a:t>Thoroughly test it</a:t>
            </a:r>
          </a:p>
          <a:p>
            <a:pPr marL="0" indent="0" algn="l">
              <a:buNone/>
            </a:pPr>
            <a:endParaRPr lang="en-GB" sz="280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39</a:t>
            </a:fld>
            <a:endParaRPr lang="en-US"/>
          </a:p>
        </p:txBody>
      </p:sp>
    </p:spTree>
    <p:extLst>
      <p:ext uri="{BB962C8B-B14F-4D97-AF65-F5344CB8AC3E}">
        <p14:creationId xmlns:p14="http://schemas.microsoft.com/office/powerpoint/2010/main" val="1532335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425E279-D179-8D86-1450-1E412E59D578}"/>
              </a:ext>
            </a:extLst>
          </p:cNvPr>
          <p:cNvSpPr>
            <a:spLocks noGrp="1"/>
          </p:cNvSpPr>
          <p:nvPr>
            <p:ph type="title"/>
          </p:nvPr>
        </p:nvSpPr>
        <p:spPr>
          <a:xfrm>
            <a:off x="838200" y="365125"/>
            <a:ext cx="9977271" cy="548819"/>
          </a:xfrm>
        </p:spPr>
        <p:txBody>
          <a:bodyPr/>
          <a:lstStyle/>
          <a:p>
            <a:r>
              <a:rPr lang="en-GB" dirty="0"/>
              <a:t>Have you ever used data for availability or presentation purposes?</a:t>
            </a:r>
          </a:p>
        </p:txBody>
      </p:sp>
      <p:pic>
        <p:nvPicPr>
          <p:cNvPr id="4" name="Picture 3" descr="A mentimeter poll with 34 respondents shows that 2 had used synthetic data only for availability purposes, that 12 had used it for presentation purposes, that 1 had used it for both availability and presentation purposes, that 19 had not used it for either of these purposes and that none were not sure. Chart, bar chart">
            <a:extLst>
              <a:ext uri="{FF2B5EF4-FFF2-40B4-BE49-F238E27FC236}">
                <a16:creationId xmlns:a16="http://schemas.microsoft.com/office/drawing/2014/main" id="{11F39553-5D3B-26FB-49E9-4ACDBCCE16D4}"/>
              </a:ext>
            </a:extLst>
          </p:cNvPr>
          <p:cNvPicPr>
            <a:picLocks noChangeAspect="1"/>
          </p:cNvPicPr>
          <p:nvPr/>
        </p:nvPicPr>
        <p:blipFill rotWithShape="1">
          <a:blip r:embed="rId2">
            <a:extLst>
              <a:ext uri="{28A0092B-C50C-407E-A947-70E740481C1C}">
                <a14:useLocalDpi xmlns:a14="http://schemas.microsoft.com/office/drawing/2010/main" val="0"/>
              </a:ext>
            </a:extLst>
          </a:blip>
          <a:srcRect t="32150"/>
          <a:stretch/>
        </p:blipFill>
        <p:spPr>
          <a:xfrm>
            <a:off x="0" y="2204864"/>
            <a:ext cx="12192000" cy="4653136"/>
          </a:xfrm>
          <a:prstGeom prst="rect">
            <a:avLst/>
          </a:prstGeom>
        </p:spPr>
      </p:pic>
      <p:pic>
        <p:nvPicPr>
          <p:cNvPr id="7170" name="Picture 2">
            <a:extLst>
              <a:ext uri="{FF2B5EF4-FFF2-40B4-BE49-F238E27FC236}">
                <a16:creationId xmlns:a16="http://schemas.microsoft.com/office/drawing/2014/main" id="{E8A5D814-E19C-1F18-4C78-770AED513F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901"/>
          <a:stretch/>
        </p:blipFill>
        <p:spPr bwMode="auto">
          <a:xfrm>
            <a:off x="0" y="1844824"/>
            <a:ext cx="12192000" cy="50131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E7BDE87-B749-AD7A-63BA-297F1A29F6BC}"/>
              </a:ext>
              <a:ext uri="{C183D7F6-B498-43B3-948B-1728B52AA6E4}">
                <adec:decorative xmlns:adec="http://schemas.microsoft.com/office/drawing/2017/decorative" val="1"/>
              </a:ext>
            </a:extLst>
          </p:cNvPr>
          <p:cNvSpPr/>
          <p:nvPr/>
        </p:nvSpPr>
        <p:spPr>
          <a:xfrm>
            <a:off x="191344" y="1628800"/>
            <a:ext cx="11881320"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3101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Code Development</a:t>
            </a:r>
          </a:p>
        </p:txBody>
      </p:sp>
      <p:pic>
        <p:nvPicPr>
          <p:cNvPr id="5122" name="Picture 2" descr="Monitor Displaying Error Text · Free Stock Photo">
            <a:extLst>
              <a:ext uri="{FF2B5EF4-FFF2-40B4-BE49-F238E27FC236}">
                <a16:creationId xmlns:a16="http://schemas.microsoft.com/office/drawing/2014/main" id="{3D193EB1-E946-77E1-A434-C0FBDD1672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0975" y="1115173"/>
            <a:ext cx="6950050" cy="4627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746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5 - Code development</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Sufficiently large</a:t>
            </a:r>
          </a:p>
          <a:p>
            <a:pPr marL="0" indent="0" algn="l">
              <a:buNone/>
            </a:pPr>
            <a:r>
              <a:rPr lang="en-GB" sz="2800" dirty="0">
                <a:latin typeface="+mn-lt"/>
              </a:rPr>
              <a:t>Deliberately unfaithful</a:t>
            </a:r>
            <a:endParaRPr lang="en-GB" sz="2800" b="0" i="0" u="none" strike="noStrike" baseline="0" dirty="0">
              <a:latin typeface="+mn-lt"/>
            </a:endParaRPr>
          </a:p>
          <a:p>
            <a:r>
              <a:rPr lang="en-GB" sz="2800" b="0" i="0" u="none" strike="noStrike" baseline="0" dirty="0">
                <a:latin typeface="+mn-lt"/>
              </a:rPr>
              <a:t>Test if code runs </a:t>
            </a:r>
            <a:r>
              <a:rPr lang="en-GB" sz="2800" dirty="0">
                <a:latin typeface="+mn-lt"/>
              </a:rPr>
              <a:t>under all assumptions</a:t>
            </a:r>
          </a:p>
          <a:p>
            <a:r>
              <a:rPr lang="en-GB" sz="2800" b="0" i="0" u="none" strike="noStrike" baseline="0" dirty="0">
                <a:latin typeface="+mn-lt"/>
              </a:rPr>
              <a:t>Test that code, outputs and documentation </a:t>
            </a:r>
            <a:r>
              <a:rPr lang="en-GB" sz="2800" dirty="0">
                <a:latin typeface="+mn-lt"/>
              </a:rPr>
              <a:t>are</a:t>
            </a:r>
            <a:r>
              <a:rPr lang="en-GB" sz="2800" b="0" i="0" u="none" strike="noStrike" baseline="0" dirty="0">
                <a:latin typeface="+mn-lt"/>
              </a:rPr>
              <a:t> clear and useful</a:t>
            </a:r>
          </a:p>
          <a:p>
            <a:r>
              <a:rPr lang="en-GB" sz="2800" dirty="0">
                <a:latin typeface="+mn-lt"/>
              </a:rPr>
              <a:t>Ensure code could be run by others</a:t>
            </a:r>
            <a:endParaRPr lang="en-GB" sz="2800" b="0" i="0" u="none" strike="noStrike" baseline="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42</a:t>
            </a:fld>
            <a:endParaRPr lang="en-US"/>
          </a:p>
        </p:txBody>
      </p:sp>
    </p:spTree>
    <p:extLst>
      <p:ext uri="{BB962C8B-B14F-4D97-AF65-F5344CB8AC3E}">
        <p14:creationId xmlns:p14="http://schemas.microsoft.com/office/powerpoint/2010/main" val="8320508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5377-DA2D-9CFD-0868-1272FCF1CA97}"/>
              </a:ext>
            </a:extLst>
          </p:cNvPr>
          <p:cNvSpPr>
            <a:spLocks noGrp="1"/>
          </p:cNvSpPr>
          <p:nvPr>
            <p:ph type="title"/>
          </p:nvPr>
        </p:nvSpPr>
        <p:spPr/>
        <p:txBody>
          <a:bodyPr/>
          <a:lstStyle/>
          <a:p>
            <a:r>
              <a:rPr lang="en-GB" dirty="0"/>
              <a:t>Remote work</a:t>
            </a:r>
          </a:p>
        </p:txBody>
      </p:sp>
      <p:pic>
        <p:nvPicPr>
          <p:cNvPr id="6146" name="Picture 2" descr="How To Increase Productivity at Work with Time Management &amp; Organizational  Skills | Research.com">
            <a:extLst>
              <a:ext uri="{FF2B5EF4-FFF2-40B4-BE49-F238E27FC236}">
                <a16:creationId xmlns:a16="http://schemas.microsoft.com/office/drawing/2014/main" id="{CBC68ED4-A328-E04A-59CF-366B143B62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170" r="29841"/>
          <a:stretch/>
        </p:blipFill>
        <p:spPr bwMode="auto">
          <a:xfrm>
            <a:off x="3863752" y="1052736"/>
            <a:ext cx="4824536" cy="5245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576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6- Remote work</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Probably large and medium or high fidelity</a:t>
            </a:r>
          </a:p>
          <a:p>
            <a:pPr marL="0" indent="0" algn="l">
              <a:buNone/>
            </a:pPr>
            <a:r>
              <a:rPr lang="en-GB" sz="2800" b="0" i="0" u="none" strike="noStrike" baseline="0" dirty="0">
                <a:latin typeface="+mn-lt"/>
              </a:rPr>
              <a:t>Should be:</a:t>
            </a:r>
          </a:p>
          <a:p>
            <a:r>
              <a:rPr lang="en-GB" sz="2800" b="0" i="0" u="none" strike="noStrike" baseline="0" dirty="0">
                <a:latin typeface="+mn-lt"/>
              </a:rPr>
              <a:t>Portable/workable in diverse computing environments</a:t>
            </a:r>
            <a:r>
              <a:rPr lang="en-GB" sz="2800" dirty="0">
                <a:latin typeface="+mn-lt"/>
              </a:rPr>
              <a:t>,</a:t>
            </a:r>
            <a:endParaRPr lang="en-GB" sz="2800" b="0" i="0" u="none" strike="noStrike" baseline="0" dirty="0">
              <a:latin typeface="+mn-lt"/>
            </a:endParaRPr>
          </a:p>
          <a:p>
            <a:pPr algn="l"/>
            <a:r>
              <a:rPr lang="en-GB" sz="2800" b="0" i="0" u="none" strike="noStrike" baseline="0" dirty="0">
                <a:latin typeface="+mn-lt"/>
              </a:rPr>
              <a:t>As faithful as </a:t>
            </a:r>
            <a:r>
              <a:rPr lang="en-GB" sz="2800" dirty="0">
                <a:latin typeface="+mn-lt"/>
              </a:rPr>
              <a:t>necessary for useful </a:t>
            </a:r>
            <a:r>
              <a:rPr lang="en-GB" sz="2800" b="0" i="0" u="none" strike="noStrike" baseline="0" dirty="0">
                <a:latin typeface="+mn-lt"/>
              </a:rPr>
              <a:t>analysis</a:t>
            </a:r>
          </a:p>
          <a:p>
            <a:pPr algn="l"/>
            <a:r>
              <a:rPr lang="en-GB" sz="2800" dirty="0">
                <a:latin typeface="+mn-lt"/>
              </a:rPr>
              <a:t>Clearly useful for </a:t>
            </a:r>
            <a:r>
              <a:rPr lang="en-GB" sz="2800" b="0" i="0" u="none" strike="noStrike" baseline="0" dirty="0">
                <a:latin typeface="+mn-lt"/>
              </a:rPr>
              <a:t>reproducing results</a:t>
            </a:r>
          </a:p>
          <a:p>
            <a:pPr algn="l"/>
            <a:r>
              <a:rPr lang="en-GB" sz="2800" b="0" i="0" u="none" strike="noStrike" baseline="0" dirty="0">
                <a:latin typeface="+mn-lt"/>
              </a:rPr>
              <a:t>Communicated accurately.</a:t>
            </a:r>
            <a:endParaRPr lang="en-GB" sz="280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44</a:t>
            </a:fld>
            <a:endParaRPr lang="en-US"/>
          </a:p>
        </p:txBody>
      </p:sp>
    </p:spTree>
    <p:extLst>
      <p:ext uri="{BB962C8B-B14F-4D97-AF65-F5344CB8AC3E}">
        <p14:creationId xmlns:p14="http://schemas.microsoft.com/office/powerpoint/2010/main" val="89216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8290B-CFB5-2D5D-BAA8-FD72888BA5B5}"/>
              </a:ext>
            </a:extLst>
          </p:cNvPr>
          <p:cNvSpPr>
            <a:spLocks noGrp="1"/>
          </p:cNvSpPr>
          <p:nvPr>
            <p:ph type="title"/>
          </p:nvPr>
        </p:nvSpPr>
        <p:spPr/>
        <p:txBody>
          <a:bodyPr/>
          <a:lstStyle/>
          <a:p>
            <a:r>
              <a:rPr lang="en-GB" dirty="0"/>
              <a:t>Have you ever used data for code dev or remote work purposes?</a:t>
            </a:r>
          </a:p>
        </p:txBody>
      </p:sp>
      <p:pic>
        <p:nvPicPr>
          <p:cNvPr id="4" name="Picture 3" descr="A mentimeter poll with 32 respondents shows that 13 had used synthetic data only for code dev purposes, that non had had used it for only remote work  purposes, that 4 had used it for both code dev and remote work purposes, that 15 had not used it for either of these purposes and that none were not sure. ">
            <a:extLst>
              <a:ext uri="{FF2B5EF4-FFF2-40B4-BE49-F238E27FC236}">
                <a16:creationId xmlns:a16="http://schemas.microsoft.com/office/drawing/2014/main" id="{A2238F10-0F2A-3509-33BE-F85772332B0C}"/>
              </a:ext>
            </a:extLst>
          </p:cNvPr>
          <p:cNvPicPr>
            <a:picLocks noChangeAspect="1"/>
          </p:cNvPicPr>
          <p:nvPr/>
        </p:nvPicPr>
        <p:blipFill rotWithShape="1">
          <a:blip r:embed="rId2">
            <a:extLst>
              <a:ext uri="{28A0092B-C50C-407E-A947-70E740481C1C}">
                <a14:useLocalDpi xmlns:a14="http://schemas.microsoft.com/office/drawing/2010/main" val="0"/>
              </a:ext>
            </a:extLst>
          </a:blip>
          <a:srcRect t="32150"/>
          <a:stretch/>
        </p:blipFill>
        <p:spPr>
          <a:xfrm>
            <a:off x="0" y="2204864"/>
            <a:ext cx="12192000" cy="4653136"/>
          </a:xfrm>
          <a:prstGeom prst="rect">
            <a:avLst/>
          </a:prstGeom>
        </p:spPr>
      </p:pic>
      <p:pic>
        <p:nvPicPr>
          <p:cNvPr id="8194" name="Picture 2">
            <a:extLst>
              <a:ext uri="{FF2B5EF4-FFF2-40B4-BE49-F238E27FC236}">
                <a16:creationId xmlns:a16="http://schemas.microsoft.com/office/drawing/2014/main" id="{38D279F9-1C18-1204-E469-D58A8B5F49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750"/>
          <a:stretch/>
        </p:blipFill>
        <p:spPr bwMode="auto">
          <a:xfrm>
            <a:off x="0" y="1628800"/>
            <a:ext cx="12192000" cy="5229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A91FE55-86CB-A43F-6E86-0E5235652059}"/>
              </a:ext>
              <a:ext uri="{C183D7F6-B498-43B3-948B-1728B52AA6E4}">
                <adec:decorative xmlns:adec="http://schemas.microsoft.com/office/drawing/2017/decorative" val="1"/>
              </a:ext>
            </a:extLst>
          </p:cNvPr>
          <p:cNvSpPr/>
          <p:nvPr/>
        </p:nvSpPr>
        <p:spPr>
          <a:xfrm>
            <a:off x="191344" y="1628800"/>
            <a:ext cx="11881320" cy="51125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85319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3600" dirty="0"/>
              <a:t>How to generate synthetic data</a:t>
            </a:r>
          </a:p>
        </p:txBody>
      </p:sp>
      <p:sp>
        <p:nvSpPr>
          <p:cNvPr id="2" name="Slide Number Placeholder 1"/>
          <p:cNvSpPr>
            <a:spLocks noGrp="1"/>
          </p:cNvSpPr>
          <p:nvPr>
            <p:ph type="sldNum" sz="quarter" idx="12"/>
          </p:nvPr>
        </p:nvSpPr>
        <p:spPr/>
        <p:txBody>
          <a:bodyPr/>
          <a:lstStyle/>
          <a:p>
            <a:fld id="{016687C5-7511-7743-B429-3BDBE272F28B}" type="slidenum">
              <a:rPr lang="en-US" smtClean="0"/>
              <a:t>46</a:t>
            </a:fld>
            <a:endParaRPr lang="en-US"/>
          </a:p>
        </p:txBody>
      </p:sp>
    </p:spTree>
    <p:extLst>
      <p:ext uri="{BB962C8B-B14F-4D97-AF65-F5344CB8AC3E}">
        <p14:creationId xmlns:p14="http://schemas.microsoft.com/office/powerpoint/2010/main" val="3079083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Handmade</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dirty="0">
                <a:latin typeface="+mn-lt"/>
              </a:rPr>
              <a:t>If few </a:t>
            </a:r>
            <a:r>
              <a:rPr lang="en-GB" sz="2800" b="0" i="0" u="none" strike="noStrike" baseline="0" dirty="0">
                <a:latin typeface="+mn-lt"/>
              </a:rPr>
              <a:t>examples needed, synthetic data can be “made up” from imagination</a:t>
            </a:r>
          </a:p>
          <a:p>
            <a:r>
              <a:rPr lang="en-GB" sz="2800" b="1" i="0" u="none" strike="noStrike" baseline="0" dirty="0">
                <a:latin typeface="+mn-lt"/>
              </a:rPr>
              <a:t>Obviously synthetic </a:t>
            </a:r>
            <a:r>
              <a:rPr lang="en-GB" sz="2800" b="0" i="0" u="none" strike="noStrike" baseline="0" dirty="0">
                <a:latin typeface="+mn-lt"/>
              </a:rPr>
              <a:t>or not</a:t>
            </a:r>
          </a:p>
          <a:p>
            <a:r>
              <a:rPr lang="en-GB" sz="2800" b="1" dirty="0">
                <a:latin typeface="+mn-lt"/>
              </a:rPr>
              <a:t>Representative</a:t>
            </a:r>
            <a:r>
              <a:rPr lang="en-GB" sz="2800" dirty="0">
                <a:latin typeface="+mn-lt"/>
              </a:rPr>
              <a:t> or not</a:t>
            </a:r>
          </a:p>
          <a:p>
            <a:r>
              <a:rPr lang="en-GB" sz="2800" b="1" i="0" u="none" strike="noStrike" baseline="0" dirty="0">
                <a:latin typeface="+mn-lt"/>
              </a:rPr>
              <a:t>Other</a:t>
            </a:r>
          </a:p>
        </p:txBody>
      </p:sp>
      <p:sp>
        <p:nvSpPr>
          <p:cNvPr id="4" name="Slide Number Placeholder 3"/>
          <p:cNvSpPr>
            <a:spLocks noGrp="1"/>
          </p:cNvSpPr>
          <p:nvPr>
            <p:ph type="sldNum" sz="quarter" idx="12"/>
          </p:nvPr>
        </p:nvSpPr>
        <p:spPr/>
        <p:txBody>
          <a:bodyPr/>
          <a:lstStyle/>
          <a:p>
            <a:fld id="{016687C5-7511-7743-B429-3BDBE272F28B}" type="slidenum">
              <a:rPr lang="en-US" smtClean="0"/>
              <a:t>47</a:t>
            </a:fld>
            <a:endParaRPr lang="en-US"/>
          </a:p>
        </p:txBody>
      </p:sp>
    </p:spTree>
    <p:extLst>
      <p:ext uri="{BB962C8B-B14F-4D97-AF65-F5344CB8AC3E}">
        <p14:creationId xmlns:p14="http://schemas.microsoft.com/office/powerpoint/2010/main" val="2975436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Random/Nonsense</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Output generated by random generators</a:t>
            </a:r>
          </a:p>
          <a:p>
            <a:r>
              <a:rPr lang="en-GB" sz="2800" b="1" dirty="0">
                <a:latin typeface="+mn-lt"/>
              </a:rPr>
              <a:t>Number(s)</a:t>
            </a:r>
            <a:r>
              <a:rPr lang="en-GB" sz="2800" dirty="0">
                <a:latin typeface="+mn-lt"/>
              </a:rPr>
              <a:t> - most programming packages have multiple options</a:t>
            </a:r>
          </a:p>
          <a:p>
            <a:r>
              <a:rPr lang="en-GB" sz="2800" b="1" dirty="0">
                <a:latin typeface="+mn-lt"/>
              </a:rPr>
              <a:t>Strings </a:t>
            </a:r>
            <a:r>
              <a:rPr lang="en-GB" sz="2800" dirty="0">
                <a:latin typeface="+mn-lt"/>
              </a:rPr>
              <a:t>– import some basic packages and write basic loops</a:t>
            </a:r>
          </a:p>
          <a:p>
            <a:r>
              <a:rPr lang="en-GB" sz="2800" b="1" dirty="0">
                <a:latin typeface="+mn-lt"/>
              </a:rPr>
              <a:t>Combination/structured</a:t>
            </a:r>
            <a:r>
              <a:rPr lang="en-GB" sz="2800" dirty="0">
                <a:latin typeface="+mn-lt"/>
              </a:rPr>
              <a:t> – may need to import multiple packages and write mini-programmes or scripts to generate the right combinations or structures that you need</a:t>
            </a:r>
          </a:p>
        </p:txBody>
      </p:sp>
      <p:sp>
        <p:nvSpPr>
          <p:cNvPr id="4" name="Slide Number Placeholder 3"/>
          <p:cNvSpPr>
            <a:spLocks noGrp="1"/>
          </p:cNvSpPr>
          <p:nvPr>
            <p:ph type="sldNum" sz="quarter" idx="12"/>
          </p:nvPr>
        </p:nvSpPr>
        <p:spPr/>
        <p:txBody>
          <a:bodyPr/>
          <a:lstStyle/>
          <a:p>
            <a:fld id="{016687C5-7511-7743-B429-3BDBE272F28B}" type="slidenum">
              <a:rPr lang="en-US" smtClean="0"/>
              <a:t>48</a:t>
            </a:fld>
            <a:endParaRPr lang="en-US"/>
          </a:p>
        </p:txBody>
      </p:sp>
    </p:spTree>
    <p:extLst>
      <p:ext uri="{BB962C8B-B14F-4D97-AF65-F5344CB8AC3E}">
        <p14:creationId xmlns:p14="http://schemas.microsoft.com/office/powerpoint/2010/main" val="19117940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Machine learning</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Output generated by trained machine learning models</a:t>
            </a:r>
          </a:p>
          <a:p>
            <a:r>
              <a:rPr lang="en-GB" sz="2800" b="1" dirty="0">
                <a:latin typeface="+mn-lt"/>
              </a:rPr>
              <a:t>Supervised</a:t>
            </a:r>
            <a:r>
              <a:rPr lang="en-GB" sz="2800" dirty="0">
                <a:latin typeface="+mn-lt"/>
              </a:rPr>
              <a:t> methods (linear regression, decision trees, random forest, neural networks, etc.)</a:t>
            </a:r>
          </a:p>
          <a:p>
            <a:r>
              <a:rPr lang="en-GB" sz="2800" b="1" dirty="0">
                <a:latin typeface="+mn-lt"/>
              </a:rPr>
              <a:t>Classification</a:t>
            </a:r>
            <a:r>
              <a:rPr lang="en-GB" sz="2800" dirty="0">
                <a:latin typeface="+mn-lt"/>
              </a:rPr>
              <a:t> methods (logistic regression, support vector machine, naïve bayes, decision trees, random forest, neural networks, etc.)</a:t>
            </a:r>
          </a:p>
          <a:p>
            <a:r>
              <a:rPr lang="en-GB" sz="2800" b="1" dirty="0">
                <a:latin typeface="+mn-lt"/>
              </a:rPr>
              <a:t>Unsupervised</a:t>
            </a:r>
            <a:r>
              <a:rPr lang="en-GB" sz="2800" dirty="0">
                <a:latin typeface="+mn-lt"/>
              </a:rPr>
              <a:t> methods (clustering, dimensionality reduction, principal component analysis, etc.)</a:t>
            </a:r>
          </a:p>
        </p:txBody>
      </p:sp>
      <p:sp>
        <p:nvSpPr>
          <p:cNvPr id="4" name="Slide Number Placeholder 3"/>
          <p:cNvSpPr>
            <a:spLocks noGrp="1"/>
          </p:cNvSpPr>
          <p:nvPr>
            <p:ph type="sldNum" sz="quarter" idx="12"/>
          </p:nvPr>
        </p:nvSpPr>
        <p:spPr/>
        <p:txBody>
          <a:bodyPr/>
          <a:lstStyle/>
          <a:p>
            <a:fld id="{016687C5-7511-7743-B429-3BDBE272F28B}" type="slidenum">
              <a:rPr lang="en-US" smtClean="0"/>
              <a:t>49</a:t>
            </a:fld>
            <a:endParaRPr lang="en-US"/>
          </a:p>
        </p:txBody>
      </p:sp>
    </p:spTree>
    <p:extLst>
      <p:ext uri="{BB962C8B-B14F-4D97-AF65-F5344CB8AC3E}">
        <p14:creationId xmlns:p14="http://schemas.microsoft.com/office/powerpoint/2010/main" val="2218944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Simulation</a:t>
            </a:r>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838200" y="1548713"/>
            <a:ext cx="8843682" cy="4065454"/>
          </a:xfrm>
        </p:spPr>
        <p:txBody>
          <a:bodyPr>
            <a:noAutofit/>
          </a:bodyPr>
          <a:lstStyle/>
          <a:p>
            <a:pPr marL="0" indent="0" algn="l">
              <a:buNone/>
            </a:pPr>
            <a:r>
              <a:rPr lang="en-GB" sz="2800" b="0" i="0" u="none" strike="noStrike" baseline="0" dirty="0">
                <a:latin typeface="+mn-lt"/>
              </a:rPr>
              <a:t>Output generated by generative simulation models</a:t>
            </a:r>
          </a:p>
          <a:p>
            <a:r>
              <a:rPr lang="en-GB" sz="2800" b="1" dirty="0">
                <a:latin typeface="+mn-lt"/>
              </a:rPr>
              <a:t>Artificial environments</a:t>
            </a:r>
            <a:r>
              <a:rPr lang="en-GB" sz="2800" dirty="0">
                <a:latin typeface="+mn-lt"/>
              </a:rPr>
              <a:t> like wind tunnels, wave pools, vacuum tanks, etc. in which inputs and outputs are measured in a controlled environment meant to mimic the real-world</a:t>
            </a:r>
          </a:p>
          <a:p>
            <a:r>
              <a:rPr lang="en-GB" sz="2800" b="1" dirty="0">
                <a:latin typeface="+mn-lt"/>
              </a:rPr>
              <a:t>Computer simulations</a:t>
            </a:r>
            <a:r>
              <a:rPr lang="en-GB" sz="2800" dirty="0">
                <a:latin typeface="+mn-lt"/>
              </a:rPr>
              <a:t> in which real and/or simulated actors/forces/situations are applied within simulated environments with inputs and outputs can be measured as needed</a:t>
            </a:r>
          </a:p>
          <a:p>
            <a:endParaRPr lang="en-GB" sz="2800" dirty="0">
              <a:latin typeface="+mn-lt"/>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50</a:t>
            </a:fld>
            <a:endParaRPr lang="en-US"/>
          </a:p>
        </p:txBody>
      </p:sp>
    </p:spTree>
    <p:extLst>
      <p:ext uri="{BB962C8B-B14F-4D97-AF65-F5344CB8AC3E}">
        <p14:creationId xmlns:p14="http://schemas.microsoft.com/office/powerpoint/2010/main" val="2471584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134" y="1097280"/>
            <a:ext cx="12028516" cy="689956"/>
          </a:xfrm>
        </p:spPr>
        <p:txBody>
          <a:bodyPr>
            <a:normAutofit fontScale="90000"/>
          </a:bodyPr>
          <a:lstStyle/>
          <a:p>
            <a:r>
              <a:rPr lang="en-GB" sz="4400" dirty="0">
                <a:latin typeface="Arial"/>
                <a:cs typeface="Arial"/>
              </a:rPr>
              <a:t>Synthetic data conclusions</a:t>
            </a:r>
            <a:endParaRPr lang="en-GB" dirty="0"/>
          </a:p>
        </p:txBody>
      </p:sp>
      <p:sp>
        <p:nvSpPr>
          <p:cNvPr id="5" name="Text Placeholder 2">
            <a:extLst>
              <a:ext uri="{FF2B5EF4-FFF2-40B4-BE49-F238E27FC236}">
                <a16:creationId xmlns:a16="http://schemas.microsoft.com/office/drawing/2014/main" id="{90F46DF4-7E96-16DE-5EE1-EA7A71E4D54B}"/>
              </a:ext>
            </a:extLst>
          </p:cNvPr>
          <p:cNvSpPr txBox="1">
            <a:spLocks/>
          </p:cNvSpPr>
          <p:nvPr/>
        </p:nvSpPr>
        <p:spPr>
          <a:xfrm>
            <a:off x="911424" y="2015551"/>
            <a:ext cx="8843682" cy="4065454"/>
          </a:xfrm>
          <a:prstGeom prst="rect">
            <a:avLst/>
          </a:prstGeom>
        </p:spPr>
        <p:txBody>
          <a:bodyPr lIns="91440" tIns="45720" rIns="91440" bIns="45720" anchor="t">
            <a:noAutofit/>
          </a:bodyPr>
          <a:lstStyle>
            <a:lvl1pPr marL="257175" indent="-257175" algn="l" defTabSz="685800" rtl="0" eaLnBrk="1" latinLnBrk="0" hangingPunct="1">
              <a:spcBef>
                <a:spcPct val="20000"/>
              </a:spcBef>
              <a:buFont typeface="Arial" pitchFamily="34" charset="0"/>
              <a:buChar char="•"/>
              <a:defRPr sz="3800" kern="1200">
                <a:solidFill>
                  <a:schemeClr val="tx1"/>
                </a:solidFill>
                <a:latin typeface="Arial" panose="020B0604020202020204" pitchFamily="34" charset="0"/>
                <a:ea typeface="+mn-ea"/>
                <a:cs typeface="+mn-cs"/>
              </a:defRPr>
            </a:lvl1pPr>
            <a:lvl2pPr marL="557213" indent="-214313" algn="l" defTabSz="685800" rtl="0" eaLnBrk="1" latinLnBrk="0" hangingPunct="1">
              <a:spcBef>
                <a:spcPct val="20000"/>
              </a:spcBef>
              <a:buFont typeface="Arial" pitchFamily="34" charset="0"/>
              <a:buChar char="–"/>
              <a:defRPr sz="3600" kern="1200">
                <a:solidFill>
                  <a:schemeClr val="tx1"/>
                </a:solidFill>
                <a:latin typeface="Arial" panose="020B0604020202020204" pitchFamily="34" charset="0"/>
                <a:ea typeface="+mn-ea"/>
                <a:cs typeface="+mn-cs"/>
              </a:defRPr>
            </a:lvl2pPr>
            <a:lvl3pPr marL="857250" indent="-171450" algn="l" defTabSz="6858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Arial" pitchFamily="34" charset="0"/>
              <a:buNone/>
            </a:pPr>
            <a:r>
              <a:rPr lang="en-GB" sz="2800" dirty="0">
                <a:latin typeface="+mn-lt"/>
              </a:rPr>
              <a:t>Generated, NOT anonymised. </a:t>
            </a:r>
          </a:p>
          <a:p>
            <a:pPr marL="0" indent="0">
              <a:buFont typeface="Arial" pitchFamily="34" charset="0"/>
              <a:buNone/>
            </a:pPr>
            <a:r>
              <a:rPr lang="en-GB" sz="2800" dirty="0">
                <a:latin typeface="+mn-lt"/>
              </a:rPr>
              <a:t>Fidelity matters but</a:t>
            </a:r>
          </a:p>
          <a:p>
            <a:r>
              <a:rPr lang="en-GB" sz="2800">
                <a:latin typeface="+mn-lt"/>
              </a:rPr>
              <a:t>Truly high fidelity is not feasible.</a:t>
            </a:r>
            <a:endParaRPr lang="en-GB" sz="2800">
              <a:latin typeface="+mn-lt"/>
              <a:cs typeface="Arial"/>
            </a:endParaRPr>
          </a:p>
          <a:p>
            <a:r>
              <a:rPr lang="en-GB" sz="2800" dirty="0">
                <a:latin typeface="+mn-lt"/>
              </a:rPr>
              <a:t>Higher fidelity is not always better. </a:t>
            </a:r>
          </a:p>
          <a:p>
            <a:pPr marL="0" indent="0">
              <a:buNone/>
            </a:pPr>
            <a:r>
              <a:rPr lang="en-GB" sz="2800" dirty="0">
                <a:latin typeface="+mn-lt"/>
              </a:rPr>
              <a:t>Many purposes for synthetic data. </a:t>
            </a:r>
          </a:p>
          <a:p>
            <a:pPr marL="0" indent="0">
              <a:buNone/>
            </a:pPr>
            <a:r>
              <a:rPr lang="en-GB" sz="2800" dirty="0">
                <a:latin typeface="+mn-lt"/>
              </a:rPr>
              <a:t>Many ways to generate synthetic data.</a:t>
            </a:r>
          </a:p>
          <a:p>
            <a:pPr marL="0" indent="0">
              <a:buNone/>
            </a:pPr>
            <a:r>
              <a:rPr lang="en-GB" sz="2800" dirty="0">
                <a:latin typeface="+mn-lt"/>
              </a:rPr>
              <a:t>Key for reproducibility.  </a:t>
            </a:r>
          </a:p>
        </p:txBody>
      </p:sp>
      <p:sp>
        <p:nvSpPr>
          <p:cNvPr id="4" name="Slide Number Placeholder 3"/>
          <p:cNvSpPr>
            <a:spLocks noGrp="1"/>
          </p:cNvSpPr>
          <p:nvPr>
            <p:ph type="sldNum" sz="quarter" idx="12"/>
          </p:nvPr>
        </p:nvSpPr>
        <p:spPr/>
        <p:txBody>
          <a:bodyPr/>
          <a:lstStyle/>
          <a:p>
            <a:fld id="{016687C5-7511-7743-B429-3BDBE272F28B}" type="slidenum">
              <a:rPr lang="en-US" smtClean="0"/>
              <a:t>51</a:t>
            </a:fld>
            <a:endParaRPr lang="en-US"/>
          </a:p>
        </p:txBody>
      </p:sp>
    </p:spTree>
    <p:extLst>
      <p:ext uri="{BB962C8B-B14F-4D97-AF65-F5344CB8AC3E}">
        <p14:creationId xmlns:p14="http://schemas.microsoft.com/office/powerpoint/2010/main" val="1351761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CC9FA0-6AB1-E977-A011-9C4183349C63}"/>
              </a:ext>
            </a:extLst>
          </p:cNvPr>
          <p:cNvSpPr>
            <a:spLocks noGrp="1"/>
          </p:cNvSpPr>
          <p:nvPr>
            <p:ph type="title"/>
          </p:nvPr>
        </p:nvSpPr>
        <p:spPr>
          <a:xfrm>
            <a:off x="838200" y="365125"/>
            <a:ext cx="9977271" cy="548819"/>
          </a:xfrm>
        </p:spPr>
        <p:txBody>
          <a:bodyPr>
            <a:noAutofit/>
          </a:bodyPr>
          <a:lstStyle/>
          <a:p>
            <a:r>
              <a:rPr lang="en-GB" sz="3600" dirty="0"/>
              <a:t>What impediments or knowledge gaps still prevent you from using synthetic data? 1</a:t>
            </a:r>
          </a:p>
        </p:txBody>
      </p:sp>
    </p:spTree>
    <p:extLst>
      <p:ext uri="{BB962C8B-B14F-4D97-AF65-F5344CB8AC3E}">
        <p14:creationId xmlns:p14="http://schemas.microsoft.com/office/powerpoint/2010/main" val="1826120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Further reading/listening</a:t>
            </a:r>
          </a:p>
        </p:txBody>
      </p:sp>
      <p:sp>
        <p:nvSpPr>
          <p:cNvPr id="4" name="Slide Number Placeholder 3"/>
          <p:cNvSpPr>
            <a:spLocks noGrp="1"/>
          </p:cNvSpPr>
          <p:nvPr>
            <p:ph type="sldNum" sz="quarter" idx="12"/>
          </p:nvPr>
        </p:nvSpPr>
        <p:spPr/>
        <p:txBody>
          <a:bodyPr/>
          <a:lstStyle/>
          <a:p>
            <a:fld id="{016687C5-7511-7743-B429-3BDBE272F28B}" type="slidenum">
              <a:rPr lang="en-US" smtClean="0"/>
              <a:t>53</a:t>
            </a:fld>
            <a:endParaRPr lang="en-US"/>
          </a:p>
        </p:txBody>
      </p:sp>
      <p:sp>
        <p:nvSpPr>
          <p:cNvPr id="3" name="Text Placeholder 2">
            <a:extLst>
              <a:ext uri="{FF2B5EF4-FFF2-40B4-BE49-F238E27FC236}">
                <a16:creationId xmlns:a16="http://schemas.microsoft.com/office/drawing/2014/main" id="{6F7C45BB-E7B7-775C-1C55-7461F152F793}"/>
              </a:ext>
            </a:extLst>
          </p:cNvPr>
          <p:cNvSpPr>
            <a:spLocks noGrp="1"/>
          </p:cNvSpPr>
          <p:nvPr>
            <p:ph type="body" sz="quarter" idx="13"/>
          </p:nvPr>
        </p:nvSpPr>
        <p:spPr>
          <a:xfrm>
            <a:off x="767408" y="1268760"/>
            <a:ext cx="10729192" cy="4201391"/>
          </a:xfrm>
        </p:spPr>
        <p:txBody>
          <a:bodyPr>
            <a:noAutofit/>
          </a:bodyPr>
          <a:lstStyle/>
          <a:p>
            <a:pPr marL="0" indent="0">
              <a:buNone/>
            </a:pPr>
            <a:r>
              <a:rPr lang="en-GB" sz="2800" dirty="0">
                <a:latin typeface="+mn-lt"/>
              </a:rPr>
              <a:t>Data in Government Blog </a:t>
            </a:r>
            <a:r>
              <a:rPr lang="en-GB" sz="2800" u="sng" dirty="0">
                <a:solidFill>
                  <a:schemeClr val="hlink"/>
                </a:solidFill>
                <a:latin typeface="+mn-lt"/>
                <a:hlinkClick r:id="rId3"/>
              </a:rPr>
              <a:t>tinyurl.com/Synth-</a:t>
            </a:r>
            <a:r>
              <a:rPr lang="en-GB" sz="2800" u="sng" dirty="0" err="1">
                <a:solidFill>
                  <a:schemeClr val="hlink"/>
                </a:solidFill>
                <a:latin typeface="+mn-lt"/>
                <a:hlinkClick r:id="rId3"/>
              </a:rPr>
              <a:t>DataInGov</a:t>
            </a:r>
            <a:endParaRPr lang="en-GB" sz="2800" dirty="0">
              <a:latin typeface="+mn-lt"/>
            </a:endParaRPr>
          </a:p>
          <a:p>
            <a:pPr marL="0" indent="0">
              <a:spcBef>
                <a:spcPts val="2133"/>
              </a:spcBef>
              <a:buNone/>
            </a:pPr>
            <a:r>
              <a:rPr lang="en-GB" sz="2800" dirty="0">
                <a:latin typeface="+mn-lt"/>
              </a:rPr>
              <a:t>The unreasonable effectiveness of synthetic data with </a:t>
            </a:r>
            <a:r>
              <a:rPr lang="en-GB" sz="2800" dirty="0" err="1">
                <a:latin typeface="+mn-lt"/>
              </a:rPr>
              <a:t>Daeil</a:t>
            </a:r>
            <a:r>
              <a:rPr lang="en-GB" sz="2800" dirty="0">
                <a:latin typeface="+mn-lt"/>
              </a:rPr>
              <a:t> Kim </a:t>
            </a:r>
            <a:r>
              <a:rPr lang="en-GB" sz="2800" u="sng" dirty="0">
                <a:solidFill>
                  <a:schemeClr val="hlink"/>
                </a:solidFill>
                <a:latin typeface="+mn-lt"/>
                <a:hlinkClick r:id="rId4"/>
              </a:rPr>
              <a:t>tinyurl.com/Synth-Podcast</a:t>
            </a:r>
            <a:endParaRPr lang="en-GB" sz="2800" dirty="0">
              <a:latin typeface="+mn-lt"/>
            </a:endParaRPr>
          </a:p>
          <a:p>
            <a:pPr marL="0" indent="0">
              <a:spcBef>
                <a:spcPts val="2133"/>
              </a:spcBef>
              <a:spcAft>
                <a:spcPts val="2133"/>
              </a:spcAft>
              <a:buNone/>
            </a:pPr>
            <a:r>
              <a:rPr lang="en-GB" sz="2800" dirty="0">
                <a:latin typeface="+mn-lt"/>
              </a:rPr>
              <a:t>Former UKDS team Medium article </a:t>
            </a:r>
            <a:r>
              <a:rPr lang="en-GB" sz="2800" u="sng" dirty="0">
                <a:solidFill>
                  <a:schemeClr val="hlink"/>
                </a:solidFill>
                <a:latin typeface="+mn-lt"/>
                <a:hlinkClick r:id="rId5"/>
              </a:rPr>
              <a:t>tinyurl.com/Synth-Blogpost</a:t>
            </a:r>
            <a:endParaRPr lang="en-GB" sz="2800" u="sng" dirty="0">
              <a:solidFill>
                <a:schemeClr val="hlink"/>
              </a:solidFill>
              <a:latin typeface="+mn-lt"/>
            </a:endParaRPr>
          </a:p>
          <a:p>
            <a:pPr marL="0" indent="0">
              <a:spcBef>
                <a:spcPts val="2133"/>
              </a:spcBef>
              <a:spcAft>
                <a:spcPts val="2133"/>
              </a:spcAft>
              <a:buNone/>
            </a:pPr>
            <a:r>
              <a:rPr lang="en-GB" sz="2800" dirty="0">
                <a:latin typeface="+mn-lt"/>
              </a:rPr>
              <a:t>Synthetic data estimation for the UK longitudinal studies </a:t>
            </a:r>
            <a:r>
              <a:rPr lang="en-GB" sz="2800" dirty="0">
                <a:latin typeface="+mn-lt"/>
                <a:hlinkClick r:id="rId6"/>
              </a:rPr>
              <a:t>https://tinyurl.com/5hc96ukr</a:t>
            </a:r>
            <a:r>
              <a:rPr lang="en-GB" sz="2800" dirty="0">
                <a:latin typeface="+mn-lt"/>
              </a:rPr>
              <a:t> </a:t>
            </a:r>
          </a:p>
          <a:p>
            <a:pPr marL="0" indent="0">
              <a:spcBef>
                <a:spcPts val="2133"/>
              </a:spcBef>
              <a:spcAft>
                <a:spcPts val="2133"/>
              </a:spcAft>
              <a:buNone/>
            </a:pPr>
            <a:r>
              <a:rPr lang="en-GB" sz="2800" dirty="0"/>
              <a:t>Synthetic Datasets for Statistical Disclosure Control: Theory and Implementation </a:t>
            </a:r>
            <a:r>
              <a:rPr lang="en-GB" sz="2800" dirty="0">
                <a:hlinkClick r:id="rId7"/>
              </a:rPr>
              <a:t>https://tinyurl.com/2sdjz8zv</a:t>
            </a:r>
            <a:r>
              <a:rPr lang="en-GB" sz="2800" dirty="0"/>
              <a:t> </a:t>
            </a:r>
            <a:endParaRPr lang="en-IE" sz="2800" dirty="0"/>
          </a:p>
          <a:p>
            <a:pPr marL="0" indent="0">
              <a:spcBef>
                <a:spcPts val="2133"/>
              </a:spcBef>
              <a:spcAft>
                <a:spcPts val="2133"/>
              </a:spcAft>
              <a:buNone/>
            </a:pPr>
            <a:endParaRPr lang="en-GB" sz="2800" dirty="0">
              <a:latin typeface="+mn-lt"/>
            </a:endParaRPr>
          </a:p>
        </p:txBody>
      </p:sp>
    </p:spTree>
    <p:extLst>
      <p:ext uri="{BB962C8B-B14F-4D97-AF65-F5344CB8AC3E}">
        <p14:creationId xmlns:p14="http://schemas.microsoft.com/office/powerpoint/2010/main" val="1789989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Thank you.</a:t>
            </a:r>
            <a:endParaRPr lang="en-GB"/>
          </a:p>
        </p:txBody>
      </p:sp>
      <p:sp>
        <p:nvSpPr>
          <p:cNvPr id="3" name="Text Placeholder 2"/>
          <p:cNvSpPr>
            <a:spLocks noGrp="1"/>
          </p:cNvSpPr>
          <p:nvPr>
            <p:ph type="body" idx="1"/>
          </p:nvPr>
        </p:nvSpPr>
        <p:spPr/>
        <p:txBody>
          <a:bodyPr vert="horz" lIns="91440" tIns="45720" rIns="91440" bIns="45720" rtlCol="0" anchor="t">
            <a:noAutofit/>
          </a:bodyPr>
          <a:lstStyle/>
          <a:p>
            <a:r>
              <a:rPr lang="en-GB" sz="2000" dirty="0"/>
              <a:t>Dr. </a:t>
            </a:r>
            <a:r>
              <a:rPr lang="en-GB" sz="2000"/>
              <a:t>Jools </a:t>
            </a:r>
            <a:r>
              <a:rPr lang="en-GB" sz="2000" dirty="0"/>
              <a:t>Kasmire</a:t>
            </a:r>
          </a:p>
          <a:p>
            <a:r>
              <a:rPr lang="en-GB" sz="2000" dirty="0"/>
              <a:t>Email </a:t>
            </a:r>
            <a:r>
              <a:rPr lang="en-GB" sz="2000" u="sng" dirty="0">
                <a:solidFill>
                  <a:srgbClr val="0000FF"/>
                </a:solidFill>
                <a:hlinkClick r:id="rId2">
                  <a:extLst>
                    <a:ext uri="{A12FA001-AC4F-418D-AE19-62706E023703}">
                      <ahyp:hlinkClr xmlns:ahyp="http://schemas.microsoft.com/office/drawing/2018/hyperlinkcolor" val="tx"/>
                    </a:ext>
                  </a:extLst>
                </a:hlinkClick>
              </a:rPr>
              <a:t>j.kasmire@manchester.ac.uk</a:t>
            </a:r>
            <a:endParaRPr lang="en-GB" sz="2000" u="sng" dirty="0">
              <a:solidFill>
                <a:srgbClr val="0000FF"/>
              </a:solidFill>
            </a:endParaRPr>
          </a:p>
          <a:p>
            <a:endParaRPr lang="en-GB" sz="2000" dirty="0">
              <a:latin typeface="Arial"/>
              <a:cs typeface="Arial"/>
            </a:endParaRPr>
          </a:p>
        </p:txBody>
      </p:sp>
      <p:sp>
        <p:nvSpPr>
          <p:cNvPr id="4" name="Slide Number Placeholder 3"/>
          <p:cNvSpPr>
            <a:spLocks noGrp="1"/>
          </p:cNvSpPr>
          <p:nvPr>
            <p:ph type="sldNum" sz="quarter" idx="12"/>
          </p:nvPr>
        </p:nvSpPr>
        <p:spPr/>
        <p:txBody>
          <a:bodyPr/>
          <a:lstStyle/>
          <a:p>
            <a:fld id="{016687C5-7511-7743-B429-3BDBE272F28B}" type="slidenum">
              <a:rPr lang="en-US" smtClean="0"/>
              <a:t>54</a:t>
            </a:fld>
            <a:endParaRPr lang="en-US"/>
          </a:p>
        </p:txBody>
      </p:sp>
    </p:spTree>
    <p:extLst>
      <p:ext uri="{BB962C8B-B14F-4D97-AF65-F5344CB8AC3E}">
        <p14:creationId xmlns:p14="http://schemas.microsoft.com/office/powerpoint/2010/main" val="1812847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GB" sz="3600" dirty="0"/>
              <a:t>Break! </a:t>
            </a:r>
          </a:p>
        </p:txBody>
      </p:sp>
      <p:sp>
        <p:nvSpPr>
          <p:cNvPr id="4" name="Text Placeholder 2">
            <a:extLst>
              <a:ext uri="{FF2B5EF4-FFF2-40B4-BE49-F238E27FC236}">
                <a16:creationId xmlns:a16="http://schemas.microsoft.com/office/drawing/2014/main" id="{4BACDD6E-03F6-E481-CC0F-65ECF4CB572A}"/>
              </a:ext>
            </a:extLst>
          </p:cNvPr>
          <p:cNvSpPr txBox="1">
            <a:spLocks/>
          </p:cNvSpPr>
          <p:nvPr/>
        </p:nvSpPr>
        <p:spPr>
          <a:xfrm>
            <a:off x="838200" y="1548713"/>
            <a:ext cx="8843682" cy="4065454"/>
          </a:xfrm>
          <a:prstGeom prst="rect">
            <a:avLst/>
          </a:prstGeom>
        </p:spPr>
        <p:txBody>
          <a:bodyPr>
            <a:normAutofit/>
          </a:bodyPr>
          <a:lstStyle>
            <a:lvl1pPr marL="257175" indent="-257175" algn="l" defTabSz="685800" rtl="0" eaLnBrk="1" latinLnBrk="0" hangingPunct="1">
              <a:spcBef>
                <a:spcPct val="20000"/>
              </a:spcBef>
              <a:buFont typeface="Arial" pitchFamily="34" charset="0"/>
              <a:buChar char="•"/>
              <a:defRPr sz="3800" kern="1200">
                <a:solidFill>
                  <a:schemeClr val="tx1"/>
                </a:solidFill>
                <a:latin typeface="Arial" panose="020B0604020202020204" pitchFamily="34" charset="0"/>
                <a:ea typeface="+mn-ea"/>
                <a:cs typeface="+mn-cs"/>
              </a:defRPr>
            </a:lvl1pPr>
            <a:lvl2pPr marL="557213" indent="-214313" algn="l" defTabSz="685800" rtl="0" eaLnBrk="1" latinLnBrk="0" hangingPunct="1">
              <a:spcBef>
                <a:spcPct val="20000"/>
              </a:spcBef>
              <a:buFont typeface="Arial" pitchFamily="34" charset="0"/>
              <a:buChar char="–"/>
              <a:defRPr sz="3600" kern="1200">
                <a:solidFill>
                  <a:schemeClr val="tx1"/>
                </a:solidFill>
                <a:latin typeface="Arial" panose="020B0604020202020204" pitchFamily="34" charset="0"/>
                <a:ea typeface="+mn-ea"/>
                <a:cs typeface="+mn-cs"/>
              </a:defRPr>
            </a:lvl2pPr>
            <a:lvl3pPr marL="857250" indent="-171450" algn="l" defTabSz="6858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Arial" pitchFamily="34" charset="0"/>
              <a:buNone/>
            </a:pPr>
            <a:r>
              <a:rPr lang="en-GB" sz="2800" dirty="0"/>
              <a:t>After the break we will wrap up a few things and then move over to a live coding demonstration with opportunities for you to code along with me!</a:t>
            </a:r>
          </a:p>
        </p:txBody>
      </p:sp>
      <p:sp>
        <p:nvSpPr>
          <p:cNvPr id="2" name="Slide Number Placeholder 1"/>
          <p:cNvSpPr>
            <a:spLocks noGrp="1"/>
          </p:cNvSpPr>
          <p:nvPr>
            <p:ph type="sldNum" sz="quarter" idx="12"/>
          </p:nvPr>
        </p:nvSpPr>
        <p:spPr/>
        <p:txBody>
          <a:bodyPr/>
          <a:lstStyle/>
          <a:p>
            <a:fld id="{016687C5-7511-7743-B429-3BDBE272F28B}" type="slidenum">
              <a:rPr lang="en-US" smtClean="0"/>
              <a:t>55</a:t>
            </a:fld>
            <a:endParaRPr lang="en-US"/>
          </a:p>
        </p:txBody>
      </p:sp>
    </p:spTree>
    <p:extLst>
      <p:ext uri="{BB962C8B-B14F-4D97-AF65-F5344CB8AC3E}">
        <p14:creationId xmlns:p14="http://schemas.microsoft.com/office/powerpoint/2010/main" val="2496600172"/>
      </p:ext>
    </p:extLst>
  </p:cSld>
  <p:clrMapOvr>
    <a:masterClrMapping/>
  </p:clrMapOvr>
</p:sld>
</file>

<file path=ppt/theme/theme1.xml><?xml version="1.0" encoding="utf-8"?>
<a:theme xmlns:a="http://schemas.openxmlformats.org/drawingml/2006/main" name="UKDS_UKD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CCESSIBLE_UKDS_Widescreen_with_poll" id="{F0DC0350-6D59-4049-B35A-495E3A5D45EC}" vid="{EBF5D685-EB84-4D00-AB55-000CFD294E6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D5F373B85FCF47AAFC80BC7D80700A" ma:contentTypeVersion="18" ma:contentTypeDescription="Create a new document." ma:contentTypeScope="" ma:versionID="4480f59b7f5a5928d875405d8d321680">
  <xsd:schema xmlns:xsd="http://www.w3.org/2001/XMLSchema" xmlns:xs="http://www.w3.org/2001/XMLSchema" xmlns:p="http://schemas.microsoft.com/office/2006/metadata/properties" xmlns:ns2="28b91107-4a81-451c-84f7-f52706813e27" xmlns:ns3="1d2e6339-9963-4444-b0f2-be5dad007de0" targetNamespace="http://schemas.microsoft.com/office/2006/metadata/properties" ma:root="true" ma:fieldsID="8213c90de73b087a7978367bec066b61" ns2:_="" ns3:_="">
    <xsd:import namespace="28b91107-4a81-451c-84f7-f52706813e27"/>
    <xsd:import namespace="1d2e6339-9963-4444-b0f2-be5dad007de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b91107-4a81-451c-84f7-f52706813e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d2e6339-9963-4444-b0f2-be5dad007de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89bc31f-51e0-4109-a170-5affb3c8abc1}" ma:internalName="TaxCatchAll" ma:showField="CatchAllData" ma:web="1d2e6339-9963-4444-b0f2-be5dad007d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d2e6339-9963-4444-b0f2-be5dad007de0" xsi:nil="true"/>
    <lcf76f155ced4ddcb4097134ff3c332f xmlns="28b91107-4a81-451c-84f7-f52706813e2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B374E2-D90D-4D66-B398-0AE1EB47C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b91107-4a81-451c-84f7-f52706813e27"/>
    <ds:schemaRef ds:uri="1d2e6339-9963-4444-b0f2-be5dad007d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989689-63BA-4961-801F-6259F6A34C01}">
  <ds:schemaRefs>
    <ds:schemaRef ds:uri="http://schemas.microsoft.com/office/2006/documentManagement/types"/>
    <ds:schemaRef ds:uri="http://schemas.microsoft.com/office/infopath/2007/PartnerControls"/>
    <ds:schemaRef ds:uri="1d2e6339-9963-4444-b0f2-be5dad007de0"/>
    <ds:schemaRef ds:uri="http://purl.org/dc/elements/1.1/"/>
    <ds:schemaRef ds:uri="http://schemas.microsoft.com/office/2006/metadata/properties"/>
    <ds:schemaRef ds:uri="http://purl.org/dc/terms/"/>
    <ds:schemaRef ds:uri="http://schemas.openxmlformats.org/package/2006/metadata/core-properties"/>
    <ds:schemaRef ds:uri="28b91107-4a81-451c-84f7-f52706813e27"/>
    <ds:schemaRef ds:uri="http://www.w3.org/XML/1998/namespace"/>
    <ds:schemaRef ds:uri="http://purl.org/dc/dcmitype/"/>
  </ds:schemaRefs>
</ds:datastoreItem>
</file>

<file path=customXml/itemProps3.xml><?xml version="1.0" encoding="utf-8"?>
<ds:datastoreItem xmlns:ds="http://schemas.openxmlformats.org/officeDocument/2006/customXml" ds:itemID="{9579E2D9-2976-4F02-A7CF-FC754F84BB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ACCESSIBLE_UKDS_Widescreen_with_poll</Template>
  <TotalTime>1249</TotalTime>
  <Words>5971</Words>
  <Application>Microsoft Office PowerPoint</Application>
  <PresentationFormat>Widescreen</PresentationFormat>
  <Paragraphs>493</Paragraphs>
  <Slides>55</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Helvetica</vt:lpstr>
      <vt:lpstr>Calibri</vt:lpstr>
      <vt:lpstr>Arial</vt:lpstr>
      <vt:lpstr>UKDS_UKDA</vt:lpstr>
      <vt:lpstr>Synthetic Data:  An introductory workshop</vt:lpstr>
      <vt:lpstr>Interaction in this workshop</vt:lpstr>
      <vt:lpstr>Q&amp;A Interaction in this workshop</vt:lpstr>
      <vt:lpstr>Mentimeter interaction in this workshop</vt:lpstr>
      <vt:lpstr>Can you hear me now?</vt:lpstr>
      <vt:lpstr>Troubleshooting audio problems</vt:lpstr>
      <vt:lpstr>Table of Contents for this workshop</vt:lpstr>
      <vt:lpstr>Synthetic data</vt:lpstr>
      <vt:lpstr>What is synthetic data?</vt:lpstr>
      <vt:lpstr>Examples of synthetic data</vt:lpstr>
      <vt:lpstr>Examples of synthetic data 2</vt:lpstr>
      <vt:lpstr>Examples of synthetic data 3</vt:lpstr>
      <vt:lpstr>Examples of synthetic data 4</vt:lpstr>
      <vt:lpstr>What is not synthetic data?</vt:lpstr>
      <vt:lpstr>Terminology is important</vt:lpstr>
      <vt:lpstr>Is data from a cycle lane sensor synthetic?</vt:lpstr>
      <vt:lpstr>Are the predictions from weather forecasts synthetic data?</vt:lpstr>
      <vt:lpstr>Is census microdata synthetic?</vt:lpstr>
      <vt:lpstr>Is the output from Chat GPT synthetic?</vt:lpstr>
      <vt:lpstr>Is stuff you just made up in your head synthetic?</vt:lpstr>
      <vt:lpstr>Fidelity</vt:lpstr>
      <vt:lpstr>What is fidelity? </vt:lpstr>
      <vt:lpstr>Synthetic data can be faithful on:</vt:lpstr>
      <vt:lpstr>Example</vt:lpstr>
      <vt:lpstr>Relationships between variables</vt:lpstr>
      <vt:lpstr>Relationships between variables and outliers</vt:lpstr>
      <vt:lpstr>Risk?</vt:lpstr>
      <vt:lpstr>High-fidelity synthetic data</vt:lpstr>
      <vt:lpstr>Greater fidelity is not always better</vt:lpstr>
      <vt:lpstr>Purposes for synthetic data</vt:lpstr>
      <vt:lpstr>Preview</vt:lpstr>
      <vt:lpstr>1- Preview</vt:lpstr>
      <vt:lpstr>Proof of concept</vt:lpstr>
      <vt:lpstr>2 - Proof of concept</vt:lpstr>
      <vt:lpstr>Have you ever used data for preview or proof of concept purposes?</vt:lpstr>
      <vt:lpstr>Availability</vt:lpstr>
      <vt:lpstr>3 - Availability</vt:lpstr>
      <vt:lpstr>Presentation</vt:lpstr>
      <vt:lpstr>4 - Presentation</vt:lpstr>
      <vt:lpstr>Have you ever used data for availability or presentation purposes?</vt:lpstr>
      <vt:lpstr>Code Development</vt:lpstr>
      <vt:lpstr>5 - Code development</vt:lpstr>
      <vt:lpstr>Remote work</vt:lpstr>
      <vt:lpstr>6- Remote work</vt:lpstr>
      <vt:lpstr>Have you ever used data for code dev or remote work purposes?</vt:lpstr>
      <vt:lpstr>How to generate synthetic data</vt:lpstr>
      <vt:lpstr>Handmade</vt:lpstr>
      <vt:lpstr>Random/Nonsense</vt:lpstr>
      <vt:lpstr>Machine learning</vt:lpstr>
      <vt:lpstr>Simulation</vt:lpstr>
      <vt:lpstr>Synthetic data conclusions</vt:lpstr>
      <vt:lpstr>What impediments or knowledge gaps still prevent you from using synthetic data? 1</vt:lpstr>
      <vt:lpstr>Further reading/listening</vt:lpstr>
      <vt:lpstr>Thank you.</vt:lpstr>
      <vt:lpstr>Break!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Synthetic Data?</dc:title>
  <dc:creator>Joseph Allen</dc:creator>
  <cp:lastModifiedBy>Jools Kasmire</cp:lastModifiedBy>
  <cp:revision>672</cp:revision>
  <dcterms:created xsi:type="dcterms:W3CDTF">2021-05-20T15:30:47Z</dcterms:created>
  <dcterms:modified xsi:type="dcterms:W3CDTF">2026-03-10T10:45:16Z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0x01010082D5F373B85FCF47AAFC80BC7D80700A</vt:lpwstr>
  </property>
  <property fmtid="{D5CDD505-2E9C-101B-9397-08002B2CF9AE}" pid="3" name="MediaServiceImageTags">
    <vt:lpwstr/>
  </property>
</Properties>
</file>